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bdc8b67da6f4f4b" /><Relationship Type="http://schemas.openxmlformats.org/officeDocument/2006/relationships/extended-properties" Target="/docProps/app.xml" Id="R761dc58dfe2c408d" /><Relationship Type="http://schemas.openxmlformats.org/officeDocument/2006/relationships/officeDocument" Target="/ppt/presentation.xml" Id="R6059f8c887eb454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e056561f8d47d5"/>
  </p:sldMasterIdLst>
  <p:notesMasterIdLst>
    <p:notesMasterId xmlns:r="http://schemas.openxmlformats.org/officeDocument/2006/relationships" r:id="R0f6598530e7e4250"/>
  </p:notesMasterIdLst>
  <p:sldIdLst>
    <p:sldId xmlns:r="http://schemas.openxmlformats.org/officeDocument/2006/relationships" id="256" r:id="R647ddcdf42494560"/>
    <p:sldId xmlns:r="http://schemas.openxmlformats.org/officeDocument/2006/relationships" id="257" r:id="Ra1fb7341959f4fc3"/>
    <p:sldId xmlns:r="http://schemas.openxmlformats.org/officeDocument/2006/relationships" id="258" r:id="R5ad380be495442c1"/>
    <p:sldId xmlns:r="http://schemas.openxmlformats.org/officeDocument/2006/relationships" id="259" r:id="R239ca7b60ebc4985"/>
    <p:sldId xmlns:r="http://schemas.openxmlformats.org/officeDocument/2006/relationships" id="260" r:id="R01d1d09f6ff84f37"/>
    <p:sldId xmlns:r="http://schemas.openxmlformats.org/officeDocument/2006/relationships" id="261" r:id="R387f0c63bb9644b9"/>
    <p:sldId xmlns:r="http://schemas.openxmlformats.org/officeDocument/2006/relationships" id="262" r:id="Re75d9bd905974f5b"/>
    <p:sldId xmlns:r="http://schemas.openxmlformats.org/officeDocument/2006/relationships" id="263" r:id="R0d52f88ee21041f6"/>
    <p:sldId xmlns:r="http://schemas.openxmlformats.org/officeDocument/2006/relationships" id="264" r:id="R4f086e7650114168"/>
    <p:sldId xmlns:r="http://schemas.openxmlformats.org/officeDocument/2006/relationships" id="265" r:id="Rd87965b515dd40d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ea08f28d8b4c8c" /><Relationship Type="http://schemas.openxmlformats.org/officeDocument/2006/relationships/slideMaster" Target="/ppt/slideMasters/slideMaster1.xml" Id="Re2e056561f8d47d5" /><Relationship Type="http://schemas.openxmlformats.org/officeDocument/2006/relationships/notesMaster" Target="/ppt/notesMasters/notesMaster1.xml" Id="R0f6598530e7e4250" /><Relationship Type="http://schemas.openxmlformats.org/officeDocument/2006/relationships/presProps" Target="/ppt/presProps.xml" Id="R5f5400b37f4d47e1" /><Relationship Type="http://schemas.openxmlformats.org/officeDocument/2006/relationships/tableStyles" Target="/ppt/tableStyles.xml" Id="R6e6f7697fc2d43b5" /><Relationship Type="http://schemas.openxmlformats.org/officeDocument/2006/relationships/slide" Target="/ppt/slides/slide1.xml" Id="R647ddcdf42494560" /><Relationship Type="http://schemas.openxmlformats.org/officeDocument/2006/relationships/slide" Target="/ppt/slides/slide2.xml" Id="Ra1fb7341959f4fc3" /><Relationship Type="http://schemas.openxmlformats.org/officeDocument/2006/relationships/slide" Target="/ppt/slides/slide3.xml" Id="R5ad380be495442c1" /><Relationship Type="http://schemas.openxmlformats.org/officeDocument/2006/relationships/slide" Target="/ppt/slides/slide4.xml" Id="R239ca7b60ebc4985" /><Relationship Type="http://schemas.openxmlformats.org/officeDocument/2006/relationships/slide" Target="/ppt/slides/slide5.xml" Id="R01d1d09f6ff84f37" /><Relationship Type="http://schemas.openxmlformats.org/officeDocument/2006/relationships/slide" Target="/ppt/slides/slide6.xml" Id="R387f0c63bb9644b9" /><Relationship Type="http://schemas.openxmlformats.org/officeDocument/2006/relationships/slide" Target="/ppt/slides/slide7.xml" Id="Re75d9bd905974f5b" /><Relationship Type="http://schemas.openxmlformats.org/officeDocument/2006/relationships/slide" Target="/ppt/slides/slide8.xml" Id="R0d52f88ee21041f6" /><Relationship Type="http://schemas.openxmlformats.org/officeDocument/2006/relationships/slide" Target="/ppt/slides/slide9.xml" Id="R4f086e7650114168" /><Relationship Type="http://schemas.openxmlformats.org/officeDocument/2006/relationships/slide" Target="/ppt/slides/slide10.xml" Id="Rd87965b515dd40d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2d5d18986941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7491da3a194cd4" /><Relationship Type="http://schemas.openxmlformats.org/officeDocument/2006/relationships/notesMaster" Target="/ppt/notesMasters/notesMaster1.xml" Id="Rabf8138e8e42478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f3c72f078d4d9f" /><Relationship Type="http://schemas.openxmlformats.org/officeDocument/2006/relationships/notesMaster" Target="/ppt/notesMasters/notesMaster1.xml" Id="R7a2d777598b54eb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1b643ceb52f4cd6" /><Relationship Type="http://schemas.openxmlformats.org/officeDocument/2006/relationships/notesMaster" Target="/ppt/notesMasters/notesMaster1.xml" Id="R60611b564b6343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600d1644845445e" /><Relationship Type="http://schemas.openxmlformats.org/officeDocument/2006/relationships/notesMaster" Target="/ppt/notesMasters/notesMaster1.xml" Id="Re4a9cf4fc0ae461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218f89cea36404b" /><Relationship Type="http://schemas.openxmlformats.org/officeDocument/2006/relationships/notesMaster" Target="/ppt/notesMasters/notesMaster1.xml" Id="Rfd57e68ca77b4e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d5e7c964fa7402a" /><Relationship Type="http://schemas.openxmlformats.org/officeDocument/2006/relationships/notesMaster" Target="/ppt/notesMasters/notesMaster1.xml" Id="R867f251abfcf4b1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0e710783df1482b" /><Relationship Type="http://schemas.openxmlformats.org/officeDocument/2006/relationships/notesMaster" Target="/ppt/notesMasters/notesMaster1.xml" Id="R3d20353e6179445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069a4c526824133" /><Relationship Type="http://schemas.openxmlformats.org/officeDocument/2006/relationships/notesMaster" Target="/ppt/notesMasters/notesMaster1.xml" Id="Re0aca6f03c6641d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930e1446cb84a54" /><Relationship Type="http://schemas.openxmlformats.org/officeDocument/2006/relationships/notesMaster" Target="/ppt/notesMasters/notesMaster1.xml" Id="R6195d71340a84d4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4127be111c74aaa" /><Relationship Type="http://schemas.openxmlformats.org/officeDocument/2006/relationships/notesMaster" Target="/ppt/notesMasters/notesMaster1.xml" Id="Rb86aea66c54c40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saying that today is a practical first workflow, not a full SDM theory course.</a:t>
            </a:r>
          </a:p>
          <a:p xmlns:a="http://schemas.openxmlformats.org/drawingml/2006/main">
            <a:r>
              <a:t>Name the important boundary: suitability for the mosquito is not the same as dengue risk.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to anchor people who are not modelers.</a:t>
            </a:r>
          </a:p>
          <a:p xmlns:a="http://schemas.openxmlformats.org/drawingml/2006/main">
            <a:r>
              <a:t>The map is a decision-support conversation starter, not a final operational risk product.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Tell participants the code is split by these steps.</a:t>
            </a:r>
          </a:p>
          <a:p xmlns:a="http://schemas.openxmlformats.org/drawingml/2006/main">
            <a:r>
              <a:t>Reassure beginners that they are not expected to memorize every command.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where you can invite participants to be skeptical in a constructive way.</a:t>
            </a:r>
          </a:p>
          <a:p xmlns:a="http://schemas.openxmlformats.org/drawingml/2006/main">
            <a:r>
              <a:t>Emphasize that public records often reflect where people looked.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predictor choice should be biologically motivated.</a:t>
            </a:r>
          </a:p>
          <a:p xmlns:a="http://schemas.openxmlformats.org/drawingml/2006/main">
            <a:r>
              <a:t>For 90 minutes, we keep the variable set deliberately small.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avoids turning biomod2 into a black box.</a:t>
            </a:r>
          </a:p>
          <a:p xmlns:a="http://schemas.openxmlformats.org/drawingml/2006/main">
            <a:r>
              <a:t>Mention that GLM, GBM, and RF are examples, not automatic recommendations.</a:t>
            </a:r>
          </a:p>
          <a:p xmlns:a="http://schemas.openxmlformats.org/drawingml/2006/main">
            <a:r>
              <a:t>Preview that the ensemble combines predictions from the individual models.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conceptual heart of the hands-on model.</a:t>
            </a:r>
          </a:p>
          <a:p xmlns:a="http://schemas.openxmlformats.org/drawingml/2006/main">
            <a:r>
              <a:t>Keep it short, but make sure people do not hear pseudo-absence as true absence.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transition into the live exercise.</a:t>
            </a:r>
          </a:p>
          <a:p xmlns:a="http://schemas.openxmlformats.org/drawingml/2006/main">
            <a:r>
              <a:t>Do not over-interpret specific regions in the intro; participants will do that later.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protects the interpretation from overclaiming.</a:t>
            </a:r>
          </a:p>
          <a:p xmlns:a="http://schemas.openxmlformats.org/drawingml/2006/main">
            <a:r>
              <a:t>For infectious disease audiences, this framing usually lands well.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the intro quickly and move into RStudio.</a:t>
            </a:r>
          </a:p>
          <a:p xmlns:a="http://schemas.openxmlformats.org/drawingml/2006/main">
            <a:r>
              <a:t>Encourage participants to ask for help early if RStudio or paths look different.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7b83ee0b5f4d0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59866be4af4698" /><Relationship Type="http://schemas.openxmlformats.org/officeDocument/2006/relationships/slideLayout" Target="/ppt/slideLayouts/slideLayout1.xml" Id="R98096d28a66848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8096d28a66848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9f09bbb51541a5" /><Relationship Type="http://schemas.openxmlformats.org/officeDocument/2006/relationships/image" Target="/ppt/media/image.png" Id="Rb383b3904c054f45" /><Relationship Type="http://schemas.openxmlformats.org/officeDocument/2006/relationships/notesSlide" Target="/ppt/notesSlides/notesSlide1.xml" Id="Rac747c54c13f4d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8bc28957b840b0" /><Relationship Type="http://schemas.openxmlformats.org/officeDocument/2006/relationships/notesSlide" Target="/ppt/notesSlides/notesSlide2.xml" Id="Recde70d33eca43a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f266ee537e4735" /><Relationship Type="http://schemas.openxmlformats.org/officeDocument/2006/relationships/notesSlide" Target="/ppt/notesSlides/notesSlide3.xml" Id="Rfa047d94257e47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36590b5c5f428e" /><Relationship Type="http://schemas.openxmlformats.org/officeDocument/2006/relationships/image" Target="/ppt/media/image2.png" Id="Rb5d3b92949ec4b64" /><Relationship Type="http://schemas.openxmlformats.org/officeDocument/2006/relationships/notesSlide" Target="/ppt/notesSlides/notesSlide4.xml" Id="R8a07c398ee054f3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550af51a5146d2" /><Relationship Type="http://schemas.openxmlformats.org/officeDocument/2006/relationships/image" Target="/ppt/media/image3.png" Id="Rd2236f8232494b45" /><Relationship Type="http://schemas.openxmlformats.org/officeDocument/2006/relationships/notesSlide" Target="/ppt/notesSlides/notesSlide5.xml" Id="R67daaea5c197486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64377b3b074a77" /><Relationship Type="http://schemas.openxmlformats.org/officeDocument/2006/relationships/notesSlide" Target="/ppt/notesSlides/notesSlide6.xml" Id="R0ccdbf11e3f84b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b4f04103d34b41" /><Relationship Type="http://schemas.openxmlformats.org/officeDocument/2006/relationships/notesSlide" Target="/ppt/notesSlides/notesSlide7.xml" Id="R0992ca13b40144a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eba516db654a9b" /><Relationship Type="http://schemas.openxmlformats.org/officeDocument/2006/relationships/image" Target="/ppt/media/image4.png" Id="R7b97f0fb7a614341" /><Relationship Type="http://schemas.openxmlformats.org/officeDocument/2006/relationships/notesSlide" Target="/ppt/notesSlides/notesSlide8.xml" Id="Re4c3ba91648a42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c1214625d7433d" /><Relationship Type="http://schemas.openxmlformats.org/officeDocument/2006/relationships/notesSlide" Target="/ppt/notesSlides/notesSlide9.xml" Id="R980060838e2a4b8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f2e072cd104252" /><Relationship Type="http://schemas.openxmlformats.org/officeDocument/2006/relationships/notesSlide" Target="/ppt/notesSlides/notesSlide10.xml" Id="Re71e98577aa0416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83b3904c054f45"/>
          <a:stretch xmlns:a="http://schemas.openxmlformats.org/drawingml/2006/main"/>
        </p:blipFill>
        <p:spPr>
          <a:xfrm xmlns:a="http://schemas.openxmlformats.org/drawingml/2006/main">
            <a:off x="6096000" y="885825"/>
            <a:ext cx="5334000" cy="46672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E94CCF-AB47-47AE-AFFF-50B61C77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858000" cy="6858000"/>
          </a:xfrm>
          <a:prstGeom xmlns:a="http://schemas.openxmlformats.org/drawingml/2006/main" prst="roundRect">
            <a:avLst>
              <a:gd name="adj" fmla="val 1111"/>
            </a:avLst>
          </a:prstGeom>
          <a:solidFill xmlns:a="http://schemas.openxmlformats.org/drawingml/2006/main">
            <a:srgbClr val="F7FAF8"/>
          </a:solidFill>
          <a:ln xmlns:a="http://schemas.openxmlformats.org/drawingml/2006/main" w="0">
            <a:solidFill>
              <a:srgbClr val="F7FAF8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A6406-7640-41B6-9F0A-FCCB421F6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54909F-44BB-40B9-9CD9-F68224501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5334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0B3D3A"/>
                </a:solidFill>
              </a:defRPr>
            </a:pPr>
            <a:r>
              <a:rPr sz="4200" b="1">
                <a:solidFill>
                  <a:srgbClr val="0B3D3A"/>
                </a:solidFill>
              </a:rPr>
              <a:t>Mapping dengue vector suitability in Brazil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F51604-C906-4CD4-B6D5-23E091A8A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B7F72"/>
                </a:solidFill>
              </a:defRPr>
            </a:pPr>
            <a:r>
              <a:rPr sz="1875" b="0">
                <a:solidFill>
                  <a:srgbClr val="1B7F72"/>
                </a:solidFill>
              </a:rPr>
              <a:t>A beginner-friendly species distribution modeling workshop in 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BB7160-51E2-41F3-9063-1F01C65E7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1495B"/>
                </a:solidFill>
              </a:defRPr>
            </a:pPr>
            <a:r>
              <a:rPr sz="1500" b="1">
                <a:solidFill>
                  <a:srgbClr val="D1495B"/>
                </a:solidFill>
              </a:rPr>
              <a:t>Aedes aegypti + GBIF + WorldClim + biomod2</a:t>
            </a:r>
          </a:p>
        </p:txBody>
      </p:sp>
    </p:spTree>
    <p:extLst>
      <p:ext uri="{BB962C8B-B14F-4D97-AF65-F5344CB8AC3E}">
        <p14:creationId xmlns:p14="http://schemas.microsoft.com/office/powerpoint/2010/main" val="17852590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585706-A029-4D0B-AA0F-A38C6D1F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3D3A"/>
                </a:solidFill>
              </a:defRPr>
            </a:pPr>
            <a:r>
              <a:rPr sz="2850" b="1">
                <a:solidFill>
                  <a:srgbClr val="0B3D3A"/>
                </a:solidFill>
              </a:rPr>
              <a:t>The public health question starts simple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D06458-F796-4248-AF6D-01EFA695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F6A"/>
                </a:solidFill>
              </a:defRPr>
            </a:pPr>
            <a:r>
              <a:rPr sz="1500" b="0">
                <a:solidFill>
                  <a:srgbClr val="5F6F6A"/>
                </a:solidFill>
              </a:rPr>
              <a:t>Where could the environment support the vector?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DF14C6-E0FB-4BE7-8B41-5DD2F059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571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6312E"/>
                </a:solidFill>
              </a:defRPr>
            </a:pPr>
            <a:r>
              <a:rPr sz="2175" b="0">
                <a:solidFill>
                  <a:srgbClr val="16312E"/>
                </a:solidFill>
              </a:rPr>
              <a:t>For dengue, vector ecology is one layer of transmission risk. SDMs help us turn scattered observations into a map of environmental suitability.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87E6EA-40BE-4971-BFEE-3667CF019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485900"/>
            <a:ext cx="3619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solidFill>
              <a:srgbClr val="DDF3E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81F155-39CF-44C7-9095-856ECEB42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6954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3D3A"/>
                </a:solidFill>
              </a:defRPr>
            </a:pPr>
            <a:r>
              <a:rPr sz="1875" b="1">
                <a:solidFill>
                  <a:srgbClr val="0B3D3A"/>
                </a:solidFill>
              </a:rPr>
              <a:t>Presence records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9AC36-59E9-4772-A474-8DD2F4754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076450"/>
            <a:ext cx="2762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F6A"/>
                </a:solidFill>
              </a:defRPr>
            </a:pPr>
            <a:r>
              <a:rPr sz="1350" b="0">
                <a:solidFill>
                  <a:srgbClr val="5F6F6A"/>
                </a:solidFill>
              </a:rPr>
              <a:t>Where the mosquito has been observed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A89945-5796-496F-9FEE-3B00D79C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876550"/>
            <a:ext cx="3619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FF3D8"/>
          </a:solidFill>
          <a:ln xmlns:a="http://schemas.openxmlformats.org/drawingml/2006/main" w="0">
            <a:solidFill>
              <a:srgbClr val="FFF3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E722DE-1015-423E-8A3A-2446ED8F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0861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3D3A"/>
                </a:solidFill>
              </a:defRPr>
            </a:pPr>
            <a:r>
              <a:rPr sz="1875" b="1">
                <a:solidFill>
                  <a:srgbClr val="0B3D3A"/>
                </a:solidFill>
              </a:rPr>
              <a:t>Environmental predictors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27F5BB-7AA6-463F-8C21-52922C15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46710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F6A"/>
                </a:solidFill>
              </a:defRPr>
            </a:pPr>
            <a:r>
              <a:rPr sz="1350" b="0">
                <a:solidFill>
                  <a:srgbClr val="5F6F6A"/>
                </a:solidFill>
              </a:rPr>
              <a:t>Climate layers across the study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4B90C6-2776-4E26-B1C8-0ACB0F0E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267200"/>
            <a:ext cx="361950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CE6EA"/>
          </a:solidFill>
          <a:ln xmlns:a="http://schemas.openxmlformats.org/drawingml/2006/main" w="0">
            <a:solidFill>
              <a:srgbClr val="FCE6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75B6E-C086-4B51-8B4E-12DA8E66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4767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3D3A"/>
                </a:solidFill>
              </a:defRPr>
            </a:pPr>
            <a:r>
              <a:rPr sz="1875" b="1">
                <a:solidFill>
                  <a:srgbClr val="0B3D3A"/>
                </a:solidFill>
              </a:rPr>
              <a:t>Suitability map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8A6CB3-7D89-44A1-A657-86F1EBC7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8577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F6A"/>
                </a:solidFill>
              </a:defRPr>
            </a:pPr>
            <a:r>
              <a:rPr sz="1350" b="0">
                <a:solidFill>
                  <a:srgbClr val="5F6F6A"/>
                </a:solidFill>
              </a:rPr>
              <a:t>A hypothesis about where conditions fit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D5A4C5-DE85-4176-A29D-59ED0070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Dengue vector SDM workshop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FE0336-BD5C-408F-8050-FCBCF0493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304916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98B463-4EA6-421B-BFC9-51B3F70B6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3D3A"/>
                </a:solidFill>
              </a:defRPr>
            </a:pPr>
            <a:r>
              <a:rPr sz="2850" b="1">
                <a:solidFill>
                  <a:srgbClr val="0B3D3A"/>
                </a:solidFill>
              </a:rPr>
              <a:t>Today’s model follows one clear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90A3C1-42B0-48D1-B4C6-F51513E2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F6A"/>
                </a:solidFill>
              </a:defRPr>
            </a:pPr>
            <a:r>
              <a:rPr sz="1500" b="0">
                <a:solidFill>
                  <a:srgbClr val="5F6F6A"/>
                </a:solidFill>
              </a:rPr>
              <a:t>The workshop scripts keep each step visible.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D39FBE-58FD-4243-B058-83D35917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81250"/>
            <a:ext cx="14287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9B4A1C-9CD9-4075-93A3-14F556DA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71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495B"/>
                </a:solidFill>
              </a:defRPr>
            </a:pPr>
            <a:r>
              <a:rPr sz="1950" b="1">
                <a:solidFill>
                  <a:srgbClr val="D1495B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F9E014-095E-464B-8C94-FC0F8C9DD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00375"/>
            <a:ext cx="1085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Download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9C985B-E21F-46A9-AB07-55ED31040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5280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F6A"/>
                </a:solidFill>
              </a:defRPr>
            </a:pPr>
            <a:r>
              <a:rPr sz="1275" b="0">
                <a:solidFill>
                  <a:srgbClr val="5F6F6A"/>
                </a:solidFill>
              </a:rPr>
              <a:t>GBIF records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5C276E-0BB9-4139-B4B8-03785427B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8765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48C1B9-D2DE-4114-948E-4B1CF0C5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381250"/>
            <a:ext cx="14287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solidFill>
              <a:srgbClr val="DDF3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7C4FDE-7F38-4CFD-A2A6-89D50D85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571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495B"/>
                </a:solidFill>
              </a:defRPr>
            </a:pPr>
            <a:r>
              <a:rPr sz="1950" b="1">
                <a:solidFill>
                  <a:srgbClr val="D1495B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D5F18D-7EFA-4DDB-9BFE-4216F6B08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00375"/>
            <a:ext cx="1085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Clean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59FAA0-696D-4475-A215-C8526B8B8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5280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F6A"/>
                </a:solidFill>
              </a:defRPr>
            </a:pPr>
            <a:r>
              <a:rPr sz="1275" b="0">
                <a:solidFill>
                  <a:srgbClr val="5F6F6A"/>
                </a:solidFill>
              </a:rPr>
              <a:t>coordinates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38122C-FA09-41DE-90AB-B26B6CF6E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8765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0FB49F-D724-4B2E-AF89-4B0AF216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381250"/>
            <a:ext cx="14287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62415E-76D8-4951-81DF-57CC3B37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71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495B"/>
                </a:solidFill>
              </a:defRPr>
            </a:pPr>
            <a:r>
              <a:rPr sz="1950" b="1">
                <a:solidFill>
                  <a:srgbClr val="D1495B"/>
                </a:solidFill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2F37D1-8180-4FF1-BF79-480F171C2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00375"/>
            <a:ext cx="1085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Load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492FE1-FA02-4D69-97E2-9E2A2222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5280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F6A"/>
                </a:solidFill>
              </a:defRPr>
            </a:pPr>
            <a:r>
              <a:rPr sz="1275" b="0">
                <a:solidFill>
                  <a:srgbClr val="5F6F6A"/>
                </a:solidFill>
              </a:rPr>
              <a:t>predictors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A966D6-435B-4226-8C6B-1B044D65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8765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A15262-DAD6-41C5-AE7B-88BDF913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81250"/>
            <a:ext cx="14287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solidFill>
              <a:srgbClr val="DDF3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B58A0D-AFE4-4F7C-89E6-E6BEB2952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571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495B"/>
                </a:solidFill>
              </a:defRPr>
            </a:pPr>
            <a:r>
              <a:rPr sz="1950" b="1">
                <a:solidFill>
                  <a:srgbClr val="D1495B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6102E6-BD7A-4C32-8D29-27A18D6F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1085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Fit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8DA490-B759-4B8A-B692-8809A32A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5280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F6A"/>
                </a:solidFill>
              </a:defRPr>
            </a:pPr>
            <a:r>
              <a:rPr sz="1275" b="0">
                <a:solidFill>
                  <a:srgbClr val="5F6F6A"/>
                </a:solidFill>
              </a:rPr>
              <a:t>biomod2 model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2508ED-E4DB-4336-9E8C-39316EFF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8765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84C16C-592A-4D2A-AD4A-F948D7446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81250"/>
            <a:ext cx="14287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AA8E7F-6C13-4DA4-A5D2-179086A3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71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495B"/>
                </a:solidFill>
              </a:defRPr>
            </a:pPr>
            <a:r>
              <a:rPr sz="1950" b="1">
                <a:solidFill>
                  <a:srgbClr val="D1495B"/>
                </a:solidFill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E005B0-39F9-406F-AC9F-3A27D936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000375"/>
            <a:ext cx="1085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Map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787558-A306-497A-854F-103D27DF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35280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F6A"/>
                </a:solidFill>
              </a:defRPr>
            </a:pPr>
            <a:r>
              <a:rPr sz="1275" b="0">
                <a:solidFill>
                  <a:srgbClr val="5F6F6A"/>
                </a:solidFill>
              </a:rPr>
              <a:t>suitability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283BE3-DACD-4B85-B80F-B2D3C403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876550"/>
            <a:ext cx="266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8EC9D8-033F-4D1C-90FB-958D038C0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81250"/>
            <a:ext cx="142875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solidFill>
              <a:srgbClr val="DDF3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721C9A-3AD9-498B-9AA7-FE408DAFD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5717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1495B"/>
                </a:solidFill>
              </a:defRPr>
            </a:pPr>
            <a:r>
              <a:rPr sz="1950" b="1">
                <a:solidFill>
                  <a:srgbClr val="D1495B"/>
                </a:solidFill>
              </a:rPr>
              <a:t>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5244BCA-8E5D-43C1-8FF6-3559437E0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000375"/>
            <a:ext cx="1085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Discuss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8354915-27D5-4704-974B-7875776A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352800"/>
            <a:ext cx="10858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F6A"/>
                </a:solidFill>
              </a:defRPr>
            </a:pPr>
            <a:r>
              <a:rPr sz="1275" b="0">
                <a:solidFill>
                  <a:srgbClr val="5F6F6A"/>
                </a:solidFill>
              </a:rPr>
              <a:t>limits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755756F-3D57-4C6C-9238-AB7D690CD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648200"/>
            <a:ext cx="847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B7F72"/>
                </a:solidFill>
              </a:defRPr>
            </a:pPr>
            <a:r>
              <a:rPr sz="2250" b="1">
                <a:solidFill>
                  <a:srgbClr val="1B7F72"/>
                </a:solidFill>
              </a:rPr>
              <a:t>The important habit: inspect before you model, and interpret before you act.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6EB25A5-566B-4003-AA11-DA2E21DF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Dengue vector SDM workshop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BEAA22-1DF2-4CC6-B22F-BAD209DCE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822656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85458D-8F07-4DFF-93E5-C8BF9B50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3D3A"/>
                </a:solidFill>
              </a:defRPr>
            </a:pPr>
            <a:r>
              <a:rPr sz="2850" b="1">
                <a:solidFill>
                  <a:srgbClr val="0B3D3A"/>
                </a:solidFill>
              </a:rPr>
              <a:t>GBIF gives us a starting point, not a perfect truth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2FFF73-A5C0-4A1B-A320-58963CEA4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F6A"/>
                </a:solidFill>
              </a:defRPr>
            </a:pPr>
            <a:r>
              <a:rPr sz="1500" b="0">
                <a:solidFill>
                  <a:srgbClr val="5F6F6A"/>
                </a:solidFill>
              </a:rPr>
              <a:t>Open biodiversity data are powerful, but they carry collection bias.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d3b92949ec4b64"/>
          <a:stretch xmlns:a="http://schemas.openxmlformats.org/drawingml/2006/main"/>
        </p:blipFill>
        <p:spPr>
          <a:xfrm xmlns:a="http://schemas.openxmlformats.org/drawingml/2006/main">
            <a:off x="6610350" y="1352550"/>
            <a:ext cx="409575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6807D1-3C9B-4A69-B597-32FCF1C8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28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72"/>
          </a:solidFill>
          <a:ln xmlns:a="http://schemas.openxmlformats.org/drawingml/2006/main" w="0">
            <a:solidFill>
              <a:srgbClr val="1B7F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2BE20B-E595-4613-B0CA-1023C0F61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7526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3D3A"/>
                </a:solidFill>
              </a:defRPr>
            </a:pPr>
            <a:r>
              <a:rPr sz="1875" b="1">
                <a:solidFill>
                  <a:srgbClr val="0B3D3A"/>
                </a:solidFill>
              </a:rPr>
              <a:t>Useful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A907B7-3E59-4FEB-8F4D-2AD3B6ACF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1145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F6A"/>
                </a:solidFill>
              </a:defRPr>
            </a:pPr>
            <a:r>
              <a:rPr sz="1425" b="0">
                <a:solidFill>
                  <a:srgbClr val="5F6F6A"/>
                </a:solidFill>
              </a:rPr>
              <a:t>Thousands of public records can be queried from 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B9C565-F74A-4D2A-9313-242DC071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5FFCDD-2804-4C54-8B49-27A08522F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194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3D3A"/>
                </a:solidFill>
              </a:defRPr>
            </a:pPr>
            <a:r>
              <a:rPr sz="1875" b="1">
                <a:solidFill>
                  <a:srgbClr val="0B3D3A"/>
                </a:solidFill>
              </a:rPr>
              <a:t>Messy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B129C3-800C-44EF-8F25-8FDEDA63B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1813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F6A"/>
                </a:solidFill>
              </a:defRPr>
            </a:pPr>
            <a:r>
              <a:rPr sz="1425" b="0">
                <a:solidFill>
                  <a:srgbClr val="5F6F6A"/>
                </a:solidFill>
              </a:rPr>
              <a:t>Coordinates may be duplicated, incomplete, or biased toward sampled places.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156086-A922-48B9-993B-D6ADBA4B9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solidFill>
              <a:srgbClr val="D149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936421-D7C3-423D-925E-F6B2A7AF1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862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3D3A"/>
                </a:solidFill>
              </a:defRPr>
            </a:pPr>
            <a:r>
              <a:rPr sz="1875" b="1">
                <a:solidFill>
                  <a:srgbClr val="0B3D3A"/>
                </a:solidFill>
              </a:rPr>
              <a:t>Teachable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B8A97E-5819-4521-8E8E-79145E40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4815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F6A"/>
                </a:solidFill>
              </a:defRPr>
            </a:pPr>
            <a:r>
              <a:rPr sz="1425" b="0">
                <a:solidFill>
                  <a:srgbClr val="5F6F6A"/>
                </a:solidFill>
              </a:rPr>
              <a:t>Cleaning is part of the model, not a boring prelude.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3231CD-782B-4D01-B107-A37DD3D9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Dengue vector SDM workshop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80E374-75ED-4677-AC87-C3AECA533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344303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3F5A47-F438-4D9F-9997-97B511D7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3D3A"/>
                </a:solidFill>
              </a:defRPr>
            </a:pPr>
            <a:r>
              <a:rPr sz="2850" b="1">
                <a:solidFill>
                  <a:srgbClr val="0B3D3A"/>
                </a:solidFill>
              </a:rPr>
              <a:t>Predictors describe the stage where the vector could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8C725C-AF94-409E-B9D9-AD028661D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F6A"/>
                </a:solidFill>
              </a:defRPr>
            </a:pPr>
            <a:r>
              <a:rPr sz="1500" b="0">
                <a:solidFill>
                  <a:srgbClr val="5F6F6A"/>
                </a:solidFill>
              </a:rPr>
              <a:t>We use a small set of climate variables so the first model stays readable.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36f8232494b45"/>
          <a:stretch xmlns:a="http://schemas.openxmlformats.org/drawingml/2006/main"/>
        </p:blipFill>
        <p:spPr>
          <a:xfrm xmlns:a="http://schemas.openxmlformats.org/drawingml/2006/main">
            <a:off x="685800" y="1562100"/>
            <a:ext cx="4286250" cy="4286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036C32-3602-4579-858F-67CCFB193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676400"/>
            <a:ext cx="4381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DA7500-6CA0-47E8-A67A-670C3FAD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669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Annual mean temperature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D8051-807F-4910-AD23-EBFFCF818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609850"/>
            <a:ext cx="4381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0C795B-2FBD-44CA-BC7D-4B07D48B6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003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Temperature seasonality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2AA18F-9383-4F57-8FBA-55C0C6CE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3543300"/>
            <a:ext cx="4381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4DA05A-F7B0-4FB6-8900-6161A586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7338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Annual precipitation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F5DE07-F29A-437B-91BD-39F18F9AA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76750"/>
            <a:ext cx="438150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4B3149-21C0-4144-BE39-303E026A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66725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Precipitation seasonality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F844D2-85CF-4389-9137-1F0EAA007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5435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B7F72"/>
                </a:solidFill>
              </a:defRPr>
            </a:pPr>
            <a:r>
              <a:rPr sz="1500" b="1">
                <a:solidFill>
                  <a:srgbClr val="1B7F72"/>
                </a:solidFill>
              </a:rPr>
              <a:t>Simple does not mean final. It means we can see what the workflow is doing.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6388AB-71E8-4856-B503-B93CFE6A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Dengue vector SDM workshop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549100-EAD1-47C2-8765-34B12FFB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5485646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107BE8-6FF8-43F6-8C59-30D7B7BB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3D3A"/>
                </a:solidFill>
              </a:defRPr>
            </a:pPr>
            <a:r>
              <a:rPr sz="2850" b="1">
                <a:solidFill>
                  <a:srgbClr val="0B3D3A"/>
                </a:solidFill>
              </a:rPr>
              <a:t>biomod2 handles the modeling mechanics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A26D10-5D88-460A-9654-A42AEE9E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F6A"/>
                </a:solidFill>
              </a:defRPr>
            </a:pPr>
            <a:r>
              <a:rPr sz="1500" b="0">
                <a:solidFill>
                  <a:srgbClr val="5F6F6A"/>
                </a:solidFill>
              </a:rPr>
              <a:t>Our job is to understand the assumptions we feed into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C0FF8A-A3EC-43EA-A6E8-24EB75B9C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619250"/>
            <a:ext cx="128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1495B"/>
                </a:solidFill>
              </a:defRPr>
            </a:pPr>
            <a:r>
              <a:rPr sz="1875" b="1">
                <a:solidFill>
                  <a:srgbClr val="D1495B"/>
                </a:solidFill>
              </a:rPr>
              <a:t>Format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8D564-E3F8-4F51-B0CB-9EFCBA86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6383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12E"/>
                </a:solidFill>
              </a:defRPr>
            </a:pPr>
            <a:r>
              <a:rPr sz="1800" b="0">
                <a:solidFill>
                  <a:srgbClr val="16312E"/>
                </a:solidFill>
              </a:rPr>
              <a:t>presence points + environmental raster layers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3A93C-D3C3-4DDF-895A-0ACDFB83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076450"/>
            <a:ext cx="742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2"/>
          </a:solidFill>
          <a:ln xmlns:a="http://schemas.openxmlformats.org/drawingml/2006/main" w="0">
            <a:solidFill>
              <a:srgbClr val="EEF5F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F1D40A-486A-4831-BD03-5C1E4001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362200"/>
            <a:ext cx="128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1495B"/>
                </a:solidFill>
              </a:defRPr>
            </a:pPr>
            <a:r>
              <a:rPr sz="1875" b="1">
                <a:solidFill>
                  <a:srgbClr val="D1495B"/>
                </a:solidFill>
              </a:rPr>
              <a:t>Create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4F010B-26BF-4B4C-AFEC-47537C774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3812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12E"/>
                </a:solidFill>
              </a:defRPr>
            </a:pPr>
            <a:r>
              <a:rPr sz="1800" b="0">
                <a:solidFill>
                  <a:srgbClr val="16312E"/>
                </a:solidFill>
              </a:rPr>
              <a:t>pseudo-absences for comparison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656082-9A85-4606-ACBA-9A1EF0DC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819400"/>
            <a:ext cx="742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2"/>
          </a:solidFill>
          <a:ln xmlns:a="http://schemas.openxmlformats.org/drawingml/2006/main" w="0">
            <a:solidFill>
              <a:srgbClr val="EEF5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B9D605-23E8-4006-BA13-A4246106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105150"/>
            <a:ext cx="128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1495B"/>
                </a:solidFill>
              </a:defRPr>
            </a:pPr>
            <a:r>
              <a:rPr sz="1875" b="1">
                <a:solidFill>
                  <a:srgbClr val="D1495B"/>
                </a:solidFill>
              </a:rPr>
              <a:t>Fit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D1691-98B1-4D48-B3DD-C9AA0C8AB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242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12E"/>
                </a:solidFill>
              </a:defRPr>
            </a:pPr>
            <a:r>
              <a:rPr sz="1800" b="0">
                <a:solidFill>
                  <a:srgbClr val="16312E"/>
                </a:solidFill>
              </a:rPr>
              <a:t>GLM, GBM, and RF examples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AEF079-61F4-42CD-A041-AAA32EDD9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62350"/>
            <a:ext cx="742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2"/>
          </a:solidFill>
          <a:ln xmlns:a="http://schemas.openxmlformats.org/drawingml/2006/main" w="0">
            <a:solidFill>
              <a:srgbClr val="EEF5F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25CB74-24B6-49AB-80DD-DA62B2D0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48100"/>
            <a:ext cx="128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1495B"/>
                </a:solidFill>
              </a:defRPr>
            </a:pPr>
            <a:r>
              <a:rPr sz="1875" b="1">
                <a:solidFill>
                  <a:srgbClr val="D1495B"/>
                </a:solidFill>
              </a:rPr>
              <a:t>Evaluate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24F9C2-43F9-4D5C-A561-7F890630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86715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12E"/>
                </a:solidFill>
              </a:defRPr>
            </a:pPr>
            <a:r>
              <a:rPr sz="1800" b="0">
                <a:solidFill>
                  <a:srgbClr val="16312E"/>
                </a:solidFill>
              </a:rPr>
              <a:t>AUC and TSS as quick diagnostics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BEDFB0-F679-4496-B78D-20440C33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305300"/>
            <a:ext cx="742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2"/>
          </a:solidFill>
          <a:ln xmlns:a="http://schemas.openxmlformats.org/drawingml/2006/main" w="0">
            <a:solidFill>
              <a:srgbClr val="EEF5F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42627B-C418-4D23-AE6B-EDF651F3B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91050"/>
            <a:ext cx="128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D1495B"/>
                </a:solidFill>
              </a:defRPr>
            </a:pPr>
            <a:r>
              <a:rPr sz="1875" b="1">
                <a:solidFill>
                  <a:srgbClr val="D1495B"/>
                </a:solidFill>
              </a:rPr>
              <a:t>Project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08DC5E-A020-4303-B973-16321C5F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6101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12E"/>
                </a:solidFill>
              </a:defRPr>
            </a:pPr>
            <a:r>
              <a:rPr sz="1800" b="0">
                <a:solidFill>
                  <a:srgbClr val="16312E"/>
                </a:solidFill>
              </a:rPr>
              <a:t>suitability across Brazil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B123C8-F78F-4EEA-9391-461B258D5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48250"/>
            <a:ext cx="7429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2"/>
          </a:solidFill>
          <a:ln xmlns:a="http://schemas.openxmlformats.org/drawingml/2006/main" w="0">
            <a:solidFill>
              <a:srgbClr val="EEF5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59B4AF-1EEC-409A-8031-74DB2A36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447800"/>
            <a:ext cx="2190750" cy="31432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solidFill>
              <a:srgbClr val="DDF3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088C81-C046-44FE-A48C-B55ECEEF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52600"/>
            <a:ext cx="1504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B3D3A"/>
                </a:solidFill>
              </a:defRPr>
            </a:pPr>
            <a:r>
              <a:rPr sz="1800" b="1">
                <a:solidFill>
                  <a:srgbClr val="0B3D3A"/>
                </a:solidFill>
              </a:rPr>
              <a:t>Live models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2E277A-D17F-445E-931D-593843F9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3241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B7F72"/>
                </a:solidFill>
              </a:defRPr>
            </a:pPr>
            <a:r>
              <a:rPr sz="2550" b="1">
                <a:solidFill>
                  <a:srgbClr val="1B7F72"/>
                </a:solidFill>
              </a:rPr>
              <a:t>GLM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BC3D7C-63B2-48A7-ACED-72944B709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956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B7F72"/>
                </a:solidFill>
              </a:defRPr>
            </a:pPr>
            <a:r>
              <a:rPr sz="2550" b="1">
                <a:solidFill>
                  <a:srgbClr val="1B7F72"/>
                </a:solidFill>
              </a:rPr>
              <a:t>GBM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593A61-F2E9-446E-85D7-0A57C6F6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67100"/>
            <a:ext cx="133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B7F72"/>
                </a:solidFill>
              </a:defRPr>
            </a:pPr>
            <a:r>
              <a:rPr sz="2550" b="1">
                <a:solidFill>
                  <a:srgbClr val="1B7F72"/>
                </a:solidFill>
              </a:rPr>
              <a:t>RF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36FA0A-4A6B-4741-8287-5C42078D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03860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D1495B"/>
                </a:solidFill>
              </a:defRPr>
            </a:pPr>
            <a:r>
              <a:rPr sz="1725" b="1">
                <a:solidFill>
                  <a:srgbClr val="D1495B"/>
                </a:solidFill>
              </a:rPr>
              <a:t>+ ensemble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85783A-1478-429C-A864-D1C8BE31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Dengue vector SDM workshop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8E0AA6-2562-4F4C-A25E-A4321A969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1738668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7B58CE-F0F0-42CF-853E-B3BB2E0CB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3D3A"/>
                </a:solidFill>
              </a:defRPr>
            </a:pPr>
            <a:r>
              <a:rPr sz="2850" b="1">
                <a:solidFill>
                  <a:srgbClr val="0B3D3A"/>
                </a:solidFill>
              </a:rPr>
              <a:t>Pseudo-absences are a choice, not a fact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741DFF-5E77-49F5-ABF5-9BEC85F61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F6A"/>
                </a:solidFill>
              </a:defRPr>
            </a:pPr>
            <a:r>
              <a:rPr sz="1500" b="0">
                <a:solidFill>
                  <a:srgbClr val="5F6F6A"/>
                </a:solidFill>
              </a:rPr>
              <a:t>Presence-only data need comparison points, and that choice shapes the model.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D228FB-D050-4E20-9FFB-6170F6A6C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90700"/>
            <a:ext cx="41719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A73BC9-822B-40F6-B452-EBB91A29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0980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3D3A"/>
                </a:solidFill>
              </a:defRPr>
            </a:pPr>
            <a:r>
              <a:rPr sz="2250" b="1">
                <a:solidFill>
                  <a:srgbClr val="0B3D3A"/>
                </a:solidFill>
              </a:rPr>
              <a:t>What we know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A287D9-B548-4034-9888-3F2C75A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781300"/>
            <a:ext cx="304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12E"/>
                </a:solidFill>
              </a:defRPr>
            </a:pPr>
            <a:r>
              <a:rPr sz="1800" b="0">
                <a:solidFill>
                  <a:srgbClr val="16312E"/>
                </a:solidFill>
              </a:rPr>
              <a:t>These places have recorded Aedes aegypti.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1D3EB1-60E8-4C99-9DE1-301C2C238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657600"/>
            <a:ext cx="304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F6A"/>
                </a:solidFill>
              </a:defRPr>
            </a:pPr>
            <a:r>
              <a:rPr sz="1425" b="0">
                <a:solidFill>
                  <a:srgbClr val="5F6F6A"/>
                </a:solidFill>
              </a:rPr>
              <a:t>They are presences, not a complete survey of Brazil.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0F7895-7E08-4571-B547-99AD2E99D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90700"/>
            <a:ext cx="417195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3D8"/>
          </a:solidFill>
          <a:ln xmlns:a="http://schemas.openxmlformats.org/drawingml/2006/main" w="0">
            <a:solidFill>
              <a:srgbClr val="FFF3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FDBB1C-CA0F-417A-B321-98B97276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098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3D3A"/>
                </a:solidFill>
              </a:defRPr>
            </a:pPr>
            <a:r>
              <a:rPr sz="2250" b="1">
                <a:solidFill>
                  <a:srgbClr val="0B3D3A"/>
                </a:solidFill>
              </a:rPr>
              <a:t>What we compare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C5CEE7-CA39-4A7C-AF84-8E39BA3D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781300"/>
            <a:ext cx="3143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6312E"/>
                </a:solidFill>
              </a:defRPr>
            </a:pPr>
            <a:r>
              <a:rPr sz="1800" b="0">
                <a:solidFill>
                  <a:srgbClr val="16312E"/>
                </a:solidFill>
              </a:rPr>
              <a:t>Pseudo-absences describe available environments.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97DAA1-DA7D-4E55-864D-EAECCF71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7528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F6A"/>
                </a:solidFill>
              </a:defRPr>
            </a:pPr>
            <a:r>
              <a:rPr sz="1425" b="0">
                <a:solidFill>
                  <a:srgbClr val="5F6F6A"/>
                </a:solidFill>
              </a:rPr>
              <a:t>Different strategies can change the map.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ED8205-B69B-4465-8CC6-8D70DB60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9115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B7F72"/>
                </a:solidFill>
              </a:defRPr>
            </a:pPr>
            <a:r>
              <a:rPr sz="2175" b="1">
                <a:solidFill>
                  <a:srgbClr val="1B7F72"/>
                </a:solidFill>
              </a:rPr>
              <a:t>This is why SDMs are scientific arguments, not map-making buttons.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281370-BE22-4602-89F4-4FBB8E1D1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Dengue vector SDM workshop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168361-395F-4DF9-BE09-0A56B2B5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7165891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9353A1-AFCA-43EB-B95C-2BA278444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3D3A"/>
                </a:solidFill>
              </a:defRPr>
            </a:pPr>
            <a:r>
              <a:rPr sz="2850" b="1">
                <a:solidFill>
                  <a:srgbClr val="0B3D3A"/>
                </a:solidFill>
              </a:rPr>
              <a:t>Read the suitability map as a hypothesis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3D2A2-33C7-48C4-B3EE-8A4143BC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F6A"/>
                </a:solidFill>
              </a:defRPr>
            </a:pPr>
            <a:r>
              <a:rPr sz="1500" b="0">
                <a:solidFill>
                  <a:srgbClr val="5F6F6A"/>
                </a:solidFill>
              </a:rPr>
              <a:t>It suggests where conditions look similar to known vector environments.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97f0fb7a614341"/>
          <a:stretch xmlns:a="http://schemas.openxmlformats.org/drawingml/2006/main"/>
        </p:blipFill>
        <p:spPr>
          <a:xfrm xmlns:a="http://schemas.openxmlformats.org/drawingml/2006/main">
            <a:off x="685800" y="1462088"/>
            <a:ext cx="4953000" cy="43338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D5E25D-992E-4A74-AEFF-15AFED6C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811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72"/>
          </a:solidFill>
          <a:ln xmlns:a="http://schemas.openxmlformats.org/drawingml/2006/main" w="0">
            <a:solidFill>
              <a:srgbClr val="1B7F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8F7841-4616-4600-85EA-6611E76E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954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3D3A"/>
                </a:solidFill>
              </a:defRPr>
            </a:pPr>
            <a:r>
              <a:rPr sz="1875" b="1">
                <a:solidFill>
                  <a:srgbClr val="0B3D3A"/>
                </a:solidFill>
              </a:rPr>
              <a:t>Where is suitability high?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BE1DD7-92FF-42B6-8BB4-8D843175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574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6358D7-5E46-4AF8-9DA7-C9B7E8E9E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717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12E"/>
                </a:solidFill>
              </a:defRPr>
            </a:pPr>
            <a:r>
              <a:rPr sz="1875" b="0">
                <a:solidFill>
                  <a:srgbClr val="16312E"/>
                </a:solidFill>
              </a:rPr>
              <a:t>Where are occurrence records sparse?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E1EEC9-5217-4B29-976F-F6E5C176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337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solidFill>
              <a:srgbClr val="D1495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29AE3-424C-4107-A4C1-693C2F76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480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12E"/>
                </a:solidFill>
              </a:defRPr>
            </a:pPr>
            <a:r>
              <a:rPr sz="1875" b="0">
                <a:solidFill>
                  <a:srgbClr val="16312E"/>
                </a:solidFill>
              </a:rPr>
              <a:t>What could be climate signal?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96230-961E-4671-A03E-2D2C0078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100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6CB0"/>
          </a:solidFill>
          <a:ln xmlns:a="http://schemas.openxmlformats.org/drawingml/2006/main" w="0">
            <a:solidFill>
              <a:srgbClr val="2B6CB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C131BD-10E4-4A06-9247-38678FD8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3243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6312E"/>
                </a:solidFill>
              </a:defRPr>
            </a:pPr>
            <a:r>
              <a:rPr sz="1875" b="0">
                <a:solidFill>
                  <a:srgbClr val="16312E"/>
                </a:solidFill>
              </a:rPr>
              <a:t>What could be sampling bias?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9FF2E5-FA59-452B-A95F-980A1F638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334000"/>
            <a:ext cx="432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B7F72"/>
                </a:solidFill>
              </a:defRPr>
            </a:pPr>
            <a:r>
              <a:rPr sz="1875" b="1">
                <a:solidFill>
                  <a:srgbClr val="1B7F72"/>
                </a:solidFill>
              </a:rPr>
              <a:t>A good SDM result should start a better conversation.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1D58AD-0296-4075-BA1D-76E4F6C6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Dengue vector SDM workshop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2D9503-7BF2-458A-A394-D59945236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56004129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8A8E78-AF5E-4B04-9C08-52AABA88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8001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3D3A"/>
                </a:solidFill>
              </a:defRPr>
            </a:pPr>
            <a:r>
              <a:rPr sz="2850" b="1">
                <a:solidFill>
                  <a:srgbClr val="0B3D3A"/>
                </a:solidFill>
              </a:rPr>
              <a:t>A vector SDM answers only part of the dengue question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8A1450-387C-49A0-B50D-4E8BB6D6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81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F6A"/>
                </a:solidFill>
              </a:defRPr>
            </a:pPr>
            <a:r>
              <a:rPr sz="1500" b="0">
                <a:solidFill>
                  <a:srgbClr val="5F6F6A"/>
                </a:solidFill>
              </a:rPr>
              <a:t>That is a strength when we name the boundary clearly.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62CA5C-2FA7-4789-A999-AC39752DD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38300"/>
            <a:ext cx="42862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F67B5D-EEDA-49C3-860F-56B46C43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0002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3D3A"/>
                </a:solidFill>
              </a:defRPr>
            </a:pPr>
            <a:r>
              <a:rPr sz="2250" b="1">
                <a:solidFill>
                  <a:srgbClr val="0B3D3A"/>
                </a:solidFill>
              </a:rPr>
              <a:t>It can help with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C35573-A274-427A-A271-9E42C3B4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86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72"/>
          </a:solidFill>
          <a:ln xmlns:a="http://schemas.openxmlformats.org/drawingml/2006/main" w="0">
            <a:solidFill>
              <a:srgbClr val="1B7F7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A9531A-A346-4EBE-A024-AE52E3B7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6193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12E"/>
                </a:solidFill>
              </a:defRPr>
            </a:pPr>
            <a:r>
              <a:rPr sz="1650" b="0">
                <a:solidFill>
                  <a:srgbClr val="16312E"/>
                </a:solidFill>
              </a:rPr>
              <a:t>Vector suitability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EA2603-D532-4BD4-AD75-B34C209A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1432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72"/>
          </a:solidFill>
          <a:ln xmlns:a="http://schemas.openxmlformats.org/drawingml/2006/main" w="0">
            <a:solidFill>
              <a:srgbClr val="1B7F7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E726EF-D0E0-4B3E-867D-D6A28BECB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0765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12E"/>
                </a:solidFill>
              </a:defRPr>
            </a:pPr>
            <a:r>
              <a:rPr sz="1650" b="0">
                <a:solidFill>
                  <a:srgbClr val="16312E"/>
                </a:solidFill>
              </a:rPr>
              <a:t>Surveillance prioritization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1D7D3F-58B0-4B6F-B8C4-EDB9A4898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004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72"/>
          </a:solidFill>
          <a:ln xmlns:a="http://schemas.openxmlformats.org/drawingml/2006/main" w="0">
            <a:solidFill>
              <a:srgbClr val="1B7F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93D682-9C60-4F13-A407-3A1EA730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5337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12E"/>
                </a:solidFill>
              </a:defRPr>
            </a:pPr>
            <a:r>
              <a:rPr sz="1650" b="0">
                <a:solidFill>
                  <a:srgbClr val="16312E"/>
                </a:solidFill>
              </a:rPr>
              <a:t>Field sampling hypotheses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14DA8F-7A42-4832-A5E2-8E969CBB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7F72"/>
          </a:solidFill>
          <a:ln xmlns:a="http://schemas.openxmlformats.org/drawingml/2006/main" w="0">
            <a:solidFill>
              <a:srgbClr val="1B7F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BA8D2-1529-4F53-B916-BE488448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9909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12E"/>
                </a:solidFill>
              </a:defRPr>
            </a:pPr>
            <a:r>
              <a:rPr sz="1650" b="0">
                <a:solidFill>
                  <a:srgbClr val="16312E"/>
                </a:solidFill>
              </a:rPr>
              <a:t>Environmental comparison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5332B1-9C42-4CE7-8AF4-2D98466B1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638300"/>
            <a:ext cx="42862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CE6EA"/>
          </a:solidFill>
          <a:ln xmlns:a="http://schemas.openxmlformats.org/drawingml/2006/main" w="0">
            <a:solidFill>
              <a:srgbClr val="FCE6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848198-6ECB-432E-8F68-42BDF683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002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3D3A"/>
                </a:solidFill>
              </a:defRPr>
            </a:pPr>
            <a:r>
              <a:rPr sz="2250" b="1">
                <a:solidFill>
                  <a:srgbClr val="0B3D3A"/>
                </a:solidFill>
              </a:rPr>
              <a:t>It does not replace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3BD3BF-1D6B-4FF9-894A-B7AFB15C2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86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solidFill>
              <a:srgbClr val="D149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F7222F-C3B3-4A43-A8DC-09D5C7DCF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6193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12E"/>
                </a:solidFill>
              </a:defRPr>
            </a:pPr>
            <a:r>
              <a:rPr sz="1650" b="0">
                <a:solidFill>
                  <a:srgbClr val="16312E"/>
                </a:solidFill>
              </a:rPr>
              <a:t>Case surveillance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C1CC19-986D-466C-8D53-8EF4B585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432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solidFill>
              <a:srgbClr val="D149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DC8743-39ED-429F-9C0C-218311D08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0765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12E"/>
                </a:solidFill>
              </a:defRPr>
            </a:pPr>
            <a:r>
              <a:rPr sz="1650" b="0">
                <a:solidFill>
                  <a:srgbClr val="16312E"/>
                </a:solidFill>
              </a:rPr>
              <a:t>Vector abundance data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B80951-958A-4639-A35E-325D8324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004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solidFill>
              <a:srgbClr val="D149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E62999-B142-487A-AE48-8E2DD15C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337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12E"/>
                </a:solidFill>
              </a:defRPr>
            </a:pPr>
            <a:r>
              <a:rPr sz="1650" b="0">
                <a:solidFill>
                  <a:srgbClr val="16312E"/>
                </a:solidFill>
              </a:rPr>
              <a:t>Local control knowledge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B8756C-BF3F-4678-BA97-FEFBDAB1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1495B"/>
          </a:solidFill>
          <a:ln xmlns:a="http://schemas.openxmlformats.org/drawingml/2006/main" w="0">
            <a:solidFill>
              <a:srgbClr val="D149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631100-E273-42E9-9DB4-C8C3F5614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909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6312E"/>
                </a:solidFill>
              </a:defRPr>
            </a:pPr>
            <a:r>
              <a:rPr sz="1650" b="0">
                <a:solidFill>
                  <a:srgbClr val="16312E"/>
                </a:solidFill>
              </a:rPr>
              <a:t>Transmission modeling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ADBA49C-24E1-4E41-B798-E8CDAD08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Dengue vector SDM workshop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109199-0D1B-4183-8141-A7AB27D9A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96050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F6A"/>
                </a:solidFill>
              </a:defRPr>
            </a:pPr>
            <a:r>
              <a:rPr sz="975" b="0">
                <a:solidFill>
                  <a:srgbClr val="5F6F6A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170846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3D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B5FA7B-EA15-4082-B48A-C9C74755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76300"/>
            <a:ext cx="8096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Your job today is not to become an SDM expert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BEB852-B362-4B5E-BAE4-63750529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33550"/>
            <a:ext cx="8096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DDF3EA"/>
                </a:solidFill>
              </a:defRPr>
            </a:pPr>
            <a:r>
              <a:rPr sz="2400" b="0">
                <a:solidFill>
                  <a:srgbClr val="DDF3EA"/>
                </a:solidFill>
              </a:rPr>
              <a:t>It is to leave with a working map, a reusable R workflow, and better questions.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3C2CB5-A765-4A1B-AA2B-7727799E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33750"/>
            <a:ext cx="27813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DF3EA"/>
          </a:solidFill>
          <a:ln xmlns:a="http://schemas.openxmlformats.org/drawingml/2006/main" w="0">
            <a:solidFill>
              <a:srgbClr val="DDF3EA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3088D6-3344-4799-9BD7-E3A7B6620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5814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3D3A"/>
                </a:solidFill>
              </a:defRPr>
            </a:pPr>
            <a:r>
              <a:rPr sz="2250" b="1">
                <a:solidFill>
                  <a:srgbClr val="0B3D3A"/>
                </a:solidFill>
              </a:rPr>
              <a:t>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B0759F-42B8-4F39-A4ED-E3BC8073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0005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B3D3A"/>
                </a:solidFill>
              </a:defRPr>
            </a:pPr>
            <a:r>
              <a:rPr sz="1500" b="0">
                <a:solidFill>
                  <a:srgbClr val="0B3D3A"/>
                </a:solidFill>
              </a:rPr>
              <a:t>the scripts line by 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788452-438B-419C-8B6D-701D74904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333750"/>
            <a:ext cx="27813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3D8"/>
          </a:solidFill>
          <a:ln xmlns:a="http://schemas.openxmlformats.org/drawingml/2006/main" w="0">
            <a:solidFill>
              <a:srgbClr val="FFF3D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8FC5DA-D38A-4211-8AE6-826FBBBEE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5814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3D3A"/>
                </a:solidFill>
              </a:defRPr>
            </a:pPr>
            <a:r>
              <a:rPr sz="2250" b="1">
                <a:solidFill>
                  <a:srgbClr val="0B3D3A"/>
                </a:solidFill>
              </a:rPr>
              <a:t>Look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ED8C9B-3516-4A1D-B18C-A9BAA2A4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0005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0B3D3A"/>
                </a:solidFill>
              </a:defRPr>
            </a:pPr>
            <a:r>
              <a:rPr sz="1500" b="0">
                <a:solidFill>
                  <a:srgbClr val="0B3D3A"/>
                </a:solidFill>
              </a:rPr>
              <a:t>at the data before modeling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810706-C08E-4CF4-A702-A16A84D06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333750"/>
            <a:ext cx="27813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CE6EA"/>
          </a:solidFill>
          <a:ln xmlns:a="http://schemas.openxmlformats.org/drawingml/2006/main" w="0">
            <a:solidFill>
              <a:srgbClr val="FCE6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EEB950-7B76-4D60-9936-ED978901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5814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3D3A"/>
                </a:solidFill>
              </a:defRPr>
            </a:pPr>
            <a:r>
              <a:rPr sz="2250" b="1">
                <a:solidFill>
                  <a:srgbClr val="0B3D3A"/>
                </a:solidFill>
              </a:rPr>
              <a:t>Ask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01EF54-2AFF-4A33-897F-394AF4A2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000500"/>
            <a:ext cx="219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0B3D3A"/>
                </a:solidFill>
              </a:defRPr>
            </a:pPr>
            <a:r>
              <a:rPr sz="1425" b="0">
                <a:solidFill>
                  <a:srgbClr val="0B3D3A"/>
                </a:solidFill>
              </a:rPr>
              <a:t>what the map can and cannot say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064792-03E1-43BE-AF7B-44F447BB6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543550"/>
            <a:ext cx="4572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2B84B"/>
                </a:solidFill>
              </a:defRPr>
            </a:pPr>
            <a:r>
              <a:rPr sz="3150" b="1">
                <a:solidFill>
                  <a:srgbClr val="F2B84B"/>
                </a:solidFill>
              </a:rPr>
              <a:t>Let’s build the model.</a:t>
            </a:r>
          </a:p>
        </p:txBody>
      </p:sp>
    </p:spTree>
    <p:extLst>
      <p:ext uri="{BB962C8B-B14F-4D97-AF65-F5344CB8AC3E}">
        <p14:creationId xmlns:p14="http://schemas.microsoft.com/office/powerpoint/2010/main" val="20313128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2026-07-16T12:34:38.1420000Z</dcterms:created>
  <dcterms:modified xsi:type="dcterms:W3CDTF">2026-07-16T12:34:38.1420000Z</dcterms:modified>
</coreProperties>
</file>