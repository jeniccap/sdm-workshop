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46785966754345" /><Relationship Type="http://schemas.openxmlformats.org/officeDocument/2006/relationships/extended-properties" Target="/docProps/app.xml" Id="R0292d8ab568f4173" /><Relationship Type="http://schemas.openxmlformats.org/officeDocument/2006/relationships/officeDocument" Target="/ppt/presentation.xml" Id="R8a6be1c079e745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06f66909a94957"/>
  </p:sldMasterIdLst>
  <p:notesMasterIdLst>
    <p:notesMasterId xmlns:r="http://schemas.openxmlformats.org/officeDocument/2006/relationships" r:id="R987e506a1b254012"/>
  </p:notesMasterIdLst>
  <p:sldIdLst>
    <p:sldId xmlns:r="http://schemas.openxmlformats.org/officeDocument/2006/relationships" id="256" r:id="Rdeeb74de1bb04ebd"/>
    <p:sldId xmlns:r="http://schemas.openxmlformats.org/officeDocument/2006/relationships" id="257" r:id="R769f9ae7030245df"/>
    <p:sldId xmlns:r="http://schemas.openxmlformats.org/officeDocument/2006/relationships" id="258" r:id="Re84508016f79478f"/>
    <p:sldId xmlns:r="http://schemas.openxmlformats.org/officeDocument/2006/relationships" id="259" r:id="R030ec5105d0b4675"/>
    <p:sldId xmlns:r="http://schemas.openxmlformats.org/officeDocument/2006/relationships" id="260" r:id="R7f7ba24a60fa4ffc"/>
    <p:sldId xmlns:r="http://schemas.openxmlformats.org/officeDocument/2006/relationships" id="261" r:id="R6a52d9d3e3d7448f"/>
    <p:sldId xmlns:r="http://schemas.openxmlformats.org/officeDocument/2006/relationships" id="262" r:id="R27758ede17b34698"/>
    <p:sldId xmlns:r="http://schemas.openxmlformats.org/officeDocument/2006/relationships" id="263" r:id="R70d7119735114959"/>
    <p:sldId xmlns:r="http://schemas.openxmlformats.org/officeDocument/2006/relationships" id="264" r:id="R720bcb7401634e21"/>
    <p:sldId xmlns:r="http://schemas.openxmlformats.org/officeDocument/2006/relationships" id="265" r:id="Rdaa122435f3c4e4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cfe0cbe0394389" /><Relationship Type="http://schemas.openxmlformats.org/officeDocument/2006/relationships/slideMaster" Target="/ppt/slideMasters/slideMaster1.xml" Id="R6606f66909a94957" /><Relationship Type="http://schemas.openxmlformats.org/officeDocument/2006/relationships/notesMaster" Target="/ppt/notesMasters/notesMaster1.xml" Id="R987e506a1b254012" /><Relationship Type="http://schemas.openxmlformats.org/officeDocument/2006/relationships/presProps" Target="/ppt/presProps.xml" Id="R2e02a76c55d54091" /><Relationship Type="http://schemas.openxmlformats.org/officeDocument/2006/relationships/tableStyles" Target="/ppt/tableStyles.xml" Id="R1d05689812c843cf" /><Relationship Type="http://schemas.openxmlformats.org/officeDocument/2006/relationships/slide" Target="/ppt/slides/slide1.xml" Id="Rdeeb74de1bb04ebd" /><Relationship Type="http://schemas.openxmlformats.org/officeDocument/2006/relationships/slide" Target="/ppt/slides/slide2.xml" Id="R769f9ae7030245df" /><Relationship Type="http://schemas.openxmlformats.org/officeDocument/2006/relationships/slide" Target="/ppt/slides/slide3.xml" Id="Re84508016f79478f" /><Relationship Type="http://schemas.openxmlformats.org/officeDocument/2006/relationships/slide" Target="/ppt/slides/slide4.xml" Id="R030ec5105d0b4675" /><Relationship Type="http://schemas.openxmlformats.org/officeDocument/2006/relationships/slide" Target="/ppt/slides/slide5.xml" Id="R7f7ba24a60fa4ffc" /><Relationship Type="http://schemas.openxmlformats.org/officeDocument/2006/relationships/slide" Target="/ppt/slides/slide6.xml" Id="R6a52d9d3e3d7448f" /><Relationship Type="http://schemas.openxmlformats.org/officeDocument/2006/relationships/slide" Target="/ppt/slides/slide7.xml" Id="R27758ede17b34698" /><Relationship Type="http://schemas.openxmlformats.org/officeDocument/2006/relationships/slide" Target="/ppt/slides/slide8.xml" Id="R70d7119735114959" /><Relationship Type="http://schemas.openxmlformats.org/officeDocument/2006/relationships/slide" Target="/ppt/slides/slide9.xml" Id="R720bcb7401634e21" /><Relationship Type="http://schemas.openxmlformats.org/officeDocument/2006/relationships/slide" Target="/ppt/slides/slide10.xml" Id="Rdaa122435f3c4e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154a856e3449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a6270f094143c7" /><Relationship Type="http://schemas.openxmlformats.org/officeDocument/2006/relationships/notesMaster" Target="/ppt/notesMasters/notesMaster1.xml" Id="Rdce7f31124034c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42ce85d93746f3" /><Relationship Type="http://schemas.openxmlformats.org/officeDocument/2006/relationships/notesMaster" Target="/ppt/notesMasters/notesMaster1.xml" Id="R0f41b2f7bea446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629291c3c04bab" /><Relationship Type="http://schemas.openxmlformats.org/officeDocument/2006/relationships/notesMaster" Target="/ppt/notesMasters/notesMaster1.xml" Id="Rce4861dca07842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19126d1a984234" /><Relationship Type="http://schemas.openxmlformats.org/officeDocument/2006/relationships/notesMaster" Target="/ppt/notesMasters/notesMaster1.xml" Id="R4f553a922d5949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c91b67ff104689" /><Relationship Type="http://schemas.openxmlformats.org/officeDocument/2006/relationships/notesMaster" Target="/ppt/notesMasters/notesMaster1.xml" Id="R96d35050a0594a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30382d497a4e2f" /><Relationship Type="http://schemas.openxmlformats.org/officeDocument/2006/relationships/notesMaster" Target="/ppt/notesMasters/notesMaster1.xml" Id="R6d8b588d3f9049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bc934c2c55408d" /><Relationship Type="http://schemas.openxmlformats.org/officeDocument/2006/relationships/notesMaster" Target="/ppt/notesMasters/notesMaster1.xml" Id="Rd1164543ec8e41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95bc5f8b3b4c90" /><Relationship Type="http://schemas.openxmlformats.org/officeDocument/2006/relationships/notesMaster" Target="/ppt/notesMasters/notesMaster1.xml" Id="Rd3f7659dd4654f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379d266eb3442a" /><Relationship Type="http://schemas.openxmlformats.org/officeDocument/2006/relationships/notesMaster" Target="/ppt/notesMasters/notesMaster1.xml" Id="R202b1de5507f42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3de839e0ea42c5" /><Relationship Type="http://schemas.openxmlformats.org/officeDocument/2006/relationships/notesMaster" Target="/ppt/notesMasters/notesMaster1.xml" Id="Rf121672f9fae42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saying that today is a practical first workflow, not a full SDM theory course.</a:t>
            </a:r>
          </a:p>
          <a:p xmlns:a="http://schemas.openxmlformats.org/drawingml/2006/main">
            <a:r>
              <a:t>Name the important boundary: suitability for the mosquito is not the same as dengue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to anchor people who are not modelers.</a:t>
            </a:r>
          </a:p>
          <a:p xmlns:a="http://schemas.openxmlformats.org/drawingml/2006/main">
            <a:r>
              <a:t>The map is a decision-support conversation starter, not a final operational risk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participants the code is split by these steps.</a:t>
            </a:r>
          </a:p>
          <a:p xmlns:a="http://schemas.openxmlformats.org/drawingml/2006/main">
            <a:r>
              <a:t>Reassure beginners that they are not expected to memorize every command.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can invite participants to be skeptical in a constructive way.</a:t>
            </a:r>
          </a:p>
          <a:p xmlns:a="http://schemas.openxmlformats.org/drawingml/2006/main">
            <a:r>
              <a:t>Emphasize that public records often reflect where people looked.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predictor choice should be biologically motivated.</a:t>
            </a:r>
          </a:p>
          <a:p xmlns:a="http://schemas.openxmlformats.org/drawingml/2006/main">
            <a:r>
              <a:t>For 90 minutes, we keep the variable set deliberately small.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avoids turning biomod2 into a black box.</a:t>
            </a:r>
          </a:p>
          <a:p xmlns:a="http://schemas.openxmlformats.org/drawingml/2006/main">
            <a:r>
              <a:t>Mention that RF/ensembles are useful extensions once the first workflow is 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conceptual heart of the hands-on model.</a:t>
            </a:r>
          </a:p>
          <a:p xmlns:a="http://schemas.openxmlformats.org/drawingml/2006/main">
            <a:r>
              <a:t>Keep it short, but make sure people do not hear pseudo-absence as true absence.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transition into the live exercise.</a:t>
            </a:r>
          </a:p>
          <a:p xmlns:a="http://schemas.openxmlformats.org/drawingml/2006/main">
            <a:r>
              <a:t>Do not over-interpret specific regions in the intro; participants will do that later.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protects the interpretation from overclaiming.</a:t>
            </a:r>
          </a:p>
          <a:p xmlns:a="http://schemas.openxmlformats.org/drawingml/2006/main">
            <a:r>
              <a:t>For infectious disease audiences, this framing usually lands well.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intro quickly and move into RStudio.</a:t>
            </a:r>
          </a:p>
          <a:p xmlns:a="http://schemas.openxmlformats.org/drawingml/2006/main">
            <a:r>
              <a:t>Encourage participants to ask for help early if RStudio or paths look different.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9f98c5be544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fde80185ed4e9d" /><Relationship Type="http://schemas.openxmlformats.org/officeDocument/2006/relationships/slideLayout" Target="/ppt/slideLayouts/slideLayout1.xml" Id="R9f4bddd36b3e4c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4bddd36b3e4c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a3d8e5050447f" /><Relationship Type="http://schemas.openxmlformats.org/officeDocument/2006/relationships/image" Target="/ppt/media/image.png" Id="R35b13379eb564748" /><Relationship Type="http://schemas.openxmlformats.org/officeDocument/2006/relationships/notesSlide" Target="/ppt/notesSlides/notesSlide1.xml" Id="Rc902d24202a644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1be769345428e" /><Relationship Type="http://schemas.openxmlformats.org/officeDocument/2006/relationships/notesSlide" Target="/ppt/notesSlides/notesSlide2.xml" Id="R2dadb7b30c1744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a6c6926e1496e" /><Relationship Type="http://schemas.openxmlformats.org/officeDocument/2006/relationships/notesSlide" Target="/ppt/notesSlides/notesSlide3.xml" Id="R762bc7d6440849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12b1e6cf547f0" /><Relationship Type="http://schemas.openxmlformats.org/officeDocument/2006/relationships/image" Target="/ppt/media/image2.png" Id="Rb81c92b7f28a4f7f" /><Relationship Type="http://schemas.openxmlformats.org/officeDocument/2006/relationships/notesSlide" Target="/ppt/notesSlides/notesSlide4.xml" Id="R17da88c0199f4e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d0d7579054c9d" /><Relationship Type="http://schemas.openxmlformats.org/officeDocument/2006/relationships/image" Target="/ppt/media/image3.png" Id="Rb45dcfd3fc5d4536" /><Relationship Type="http://schemas.openxmlformats.org/officeDocument/2006/relationships/notesSlide" Target="/ppt/notesSlides/notesSlide5.xml" Id="Rc97e19c05bf944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71b6f413e4cdb" /><Relationship Type="http://schemas.openxmlformats.org/officeDocument/2006/relationships/notesSlide" Target="/ppt/notesSlides/notesSlide6.xml" Id="Rb811a117c4ca4b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2e3b9a9264203" /><Relationship Type="http://schemas.openxmlformats.org/officeDocument/2006/relationships/notesSlide" Target="/ppt/notesSlides/notesSlide7.xml" Id="Ra1416e5ccdf04d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7305978104495" /><Relationship Type="http://schemas.openxmlformats.org/officeDocument/2006/relationships/image" Target="/ppt/media/image4.png" Id="Rfac4820e363248e6" /><Relationship Type="http://schemas.openxmlformats.org/officeDocument/2006/relationships/notesSlide" Target="/ppt/notesSlides/notesSlide8.xml" Id="Rce32e038a5b84e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7276cfceb4094" /><Relationship Type="http://schemas.openxmlformats.org/officeDocument/2006/relationships/notesSlide" Target="/ppt/notesSlides/notesSlide9.xml" Id="R900d0363c56742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14eec171b4c53" /><Relationship Type="http://schemas.openxmlformats.org/officeDocument/2006/relationships/notesSlide" Target="/ppt/notesSlides/notesSlide10.xml" Id="R78e01ed22dca4d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13379eb564748"/>
          <a:stretch xmlns:a="http://schemas.openxmlformats.org/drawingml/2006/main"/>
        </p:blipFill>
        <p:spPr>
          <a:xfrm xmlns:a="http://schemas.openxmlformats.org/drawingml/2006/main">
            <a:off x="6096000" y="885825"/>
            <a:ext cx="5334000" cy="4667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3B7D8-F87F-446C-99F2-BF398848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F7FA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1A495-7A10-4F31-90DC-08253809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A8437-82B4-4EC0-A141-1B64E241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0B3D3A"/>
                </a:solidFill>
              </a:defRPr>
            </a:pPr>
            <a:r>
              <a:rPr sz="4200" b="1">
                <a:solidFill>
                  <a:srgbClr val="0B3D3A"/>
                </a:solidFill>
              </a:rPr>
              <a:t>Mapping dengue vector suitability in Brazil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B34D0-39CC-418C-9434-2731608E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7F72"/>
                </a:solidFill>
              </a:defRPr>
            </a:pPr>
            <a:r>
              <a:rPr sz="1875" b="0">
                <a:solidFill>
                  <a:srgbClr val="1B7F72"/>
                </a:solidFill>
              </a:rPr>
              <a:t>A beginner-friendly species distribution modeling workshop in 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C09E6-21C6-4B88-B15E-6E29E8C6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1495B"/>
                </a:solidFill>
              </a:defRPr>
            </a:pPr>
            <a:r>
              <a:rPr sz="1500" b="1">
                <a:solidFill>
                  <a:srgbClr val="D1495B"/>
                </a:solidFill>
              </a:rPr>
              <a:t>Aedes aegypti + GBIF + WorldClim + biomod2</a:t>
            </a:r>
          </a:p>
        </p:txBody>
      </p:sp>
    </p:spTree>
    <p:extLst>
      <p:ext uri="{BB962C8B-B14F-4D97-AF65-F5344CB8AC3E}">
        <p14:creationId xmlns:p14="http://schemas.microsoft.com/office/powerpoint/2010/main" val="8830395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0BE5E9-3C24-4A62-B589-D6DE7178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The public health question starts simple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9D6E6-9ED8-4115-91FE-9852E0F2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Where could the environment support the vector?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ECC56-2300-4BC4-9502-E21E2BF5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571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12E"/>
                </a:solidFill>
              </a:defRPr>
            </a:pPr>
            <a:r>
              <a:rPr sz="2175" b="0">
                <a:solidFill>
                  <a:srgbClr val="16312E"/>
                </a:solidFill>
              </a:rPr>
              <a:t>For dengue, vector ecology is one layer of transmission risk. SDMs help us turn scattered observations into a map of environmental suitability.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6A2DD-B3F1-418B-A856-9B453600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8590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D4664-6925-4585-924B-321F90ED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954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Presence records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18DFC-2EEA-4661-9988-B9F8A9B4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764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Where the mosquito has been observed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21130-85E4-4EA9-85E6-D7CCD067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7655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39F0-0B17-417D-B0A7-6CF1240B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Environmental predictors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C8D05-7D23-4626-88F9-D98E6838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671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Climate layers across the study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582FC-03AE-4678-85F2-124F2187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26720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BE1BA-F19D-49D1-858F-A4414619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7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Suitability 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9A96F-3CC7-458C-9ADD-3487166C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A hypothesis about where conditions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2053B-EC43-43EC-93BE-F8640455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5130E-3D45-4B9A-BAB4-6C0C0330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454618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A43108-529E-457D-BA8D-5ACE4F89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Today’s model follows one clear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374E5-38C0-41E2-99E6-2BE01528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The workshop scripts keep each step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40F6C-D4A9-440E-B98B-26E0A014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4D98A-CC26-41FC-9A29-165682D2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EDA3B-5BC9-4EE1-ADEA-1174A9E1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Download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6325F-76BF-4ADC-A7FD-30A4E12B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GBIF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473ED-998D-4D94-8FEB-134CA0BF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7CBF94-B7A4-431D-919C-A57DE225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A043B-F778-4CA0-9B1F-AE95783E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9CA51-A349-4E90-B054-B8497DAE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Clean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FE4F0-5EF9-4FC2-8769-AA198F33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coordinates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964F0-3ED9-41BF-9C07-867A754B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F62F0-8D04-4C3B-AAAC-97AE925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571603-E309-46FF-A053-A0FB6F64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0D83E-CD71-4820-B1CE-6A608527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80931-C428-4DB1-BF0E-22D81221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predictors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FC98D-B18C-4937-96E6-80467AFD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32B97B-B56E-4832-B8AA-096C37F3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56E5F-58A7-4D7F-98ED-43E2A195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13E71F-E766-4B8C-BFFC-72563AFC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0BBD82-BB49-4524-9453-1DB8D0DB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biomod2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2A40FA-1B35-4E5A-B6CB-143443E2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B5EBD4-5DEF-4B5D-8AFA-B5BFD33C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14302C-E6A5-4370-A94A-C74F4C7F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1D7AC5-9F28-4CF6-A731-A0C009F9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Map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A376D4-FA14-4FB8-9917-650AF6DE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suitability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B143E1-52D2-4008-94A7-8A717248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1B537F-A48A-4FD7-9C4B-B8DB8512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2670E0-2E04-4998-B941-22596A11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FB376F-9066-48E7-9554-093FAD67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Discuss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EA44E3-26D0-4306-91BD-F6AE96B3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limits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BBD1AE-F8D5-434A-93C8-A8DF95C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48200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B7F72"/>
                </a:solidFill>
              </a:defRPr>
            </a:pPr>
            <a:r>
              <a:rPr sz="2250" b="1">
                <a:solidFill>
                  <a:srgbClr val="1B7F72"/>
                </a:solidFill>
              </a:rPr>
              <a:t>The important habit: inspect before you model, and interpret before you act.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5A96A8-D780-4C52-8F72-8AF35860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015A55-5588-4C22-A83E-804FF032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457818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6E5433-F960-4454-8E93-94BD216F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GBIF gives us a starting point, not a perfect truth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CFB4C-207D-4EB0-A094-9231FD5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Open biodiversity data are powerful, but they carry collection bias.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c92b7f28a4f7f"/>
          <a:stretch xmlns:a="http://schemas.openxmlformats.org/drawingml/2006/main"/>
        </p:blipFill>
        <p:spPr>
          <a:xfrm xmlns:a="http://schemas.openxmlformats.org/drawingml/2006/main">
            <a:off x="6610350" y="1352550"/>
            <a:ext cx="409575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123F1-9B6B-4AB2-8120-AAC2C792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36BDA-E4CD-4470-BF96-F4995D91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526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Useful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F5669-B814-4A39-9F63-52E5F148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145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Thousands of public records can be queried from 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71FDD-35B6-48E5-B760-2D767D58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91CC9-5B73-4D96-AA9B-DACABCFD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194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Messy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109AF-1129-4C17-B0C9-76CCBCC4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81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Coordinates may be duplicated, incomplete, or biased toward sampled places.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BFD0A-EC35-41B1-B343-B559CE83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FCB4F-3EF4-46C6-AFF3-B53E5279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862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Teachable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9928C2-1B23-4BC7-B4B6-94857844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Cleaning is part of the model, not a boring prelude.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9DBB0A-644E-4855-9F4D-ECA7956B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239887-B126-469F-B882-272DD9D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54031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BB2D32-E200-4874-9507-795AD2CF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Predictors describe the stage where the vector could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D1D0F-5220-44A5-8B06-7328E9B6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We use a small set of climate variables so the first model stays readable.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dcfd3fc5d4536"/>
          <a:stretch xmlns:a="http://schemas.openxmlformats.org/drawingml/2006/main"/>
        </p:blipFill>
        <p:spPr>
          <a:xfrm xmlns:a="http://schemas.openxmlformats.org/drawingml/2006/main">
            <a:off x="685800" y="1562100"/>
            <a:ext cx="4286250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A54E6-AB3D-41EE-AF50-9DF028BB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8A9C2-78BD-4609-B246-A9C587C6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Annual mean temperature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B0ABD-7406-4078-9140-7DFD8507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0985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24F76-5E90-4BC4-A1BC-A44F3920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003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Temperature seasonality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AA9D3-F110-42C2-9CF0-B7F905FE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4330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A5B2E-3A68-49DD-9424-654E32E0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338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Annual precipitation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57876-5FA2-487F-A8DD-CF0E2C29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9C03FC-C643-4786-89C4-FB5A0679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67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Precipitation 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1127B-5EFC-40DB-A844-62E0364F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5435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7F72"/>
                </a:solidFill>
              </a:defRPr>
            </a:pPr>
            <a:r>
              <a:rPr sz="1500" b="1">
                <a:solidFill>
                  <a:srgbClr val="1B7F72"/>
                </a:solidFill>
              </a:rPr>
              <a:t>Simple does not mean final. It means we can see what the workflow is doing.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961BF-D416-4543-A32D-D664BA42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E6A3A3-E2C2-4449-A337-D8CF102C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7319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4C88A7-8A61-4CBB-974B-3827993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biomod2 handles the modeling mechanics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1AA6D-9DDF-451C-87FA-C1220A57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Our job is to understand the assumptions we feed into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09356-7F5E-410D-A7E6-D0A78B1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192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Format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41BED-E887-4AED-A3D7-2A65F2AB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6383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presence points + environmental raster layers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4FF03-B52F-4A0E-AE56-D6851A15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764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4DB9D-DADD-4ACA-9702-D3B2C4B0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6220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Create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54725-F700-4A3D-A474-5AA37F53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81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pseudo-absences for comparison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4B02A-0EE4-4A7E-8332-E52C4EAD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194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0F264-7255-487E-8132-5A67AEEE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D8745-C2C1-4346-8981-CEEC5EDC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24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a simple GLM for the live workshop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801FB-35F1-4DB1-AF25-5BDB64CF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623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FB733-80D5-4B7D-BF9E-8A9664EF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Evaluate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58CB-EC7B-45E1-A89E-7EF045D2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67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AUC and TSS as quick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17109-89CE-4941-AD80-412C4CD4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053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8EF3C9-F306-41B7-9743-76A0D57A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910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Project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C4745-1DF8-47AE-B3F8-356F34DB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101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suitability across Brazil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F43657-AC6C-4B7A-91E9-D18668B1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41A3AA-AE68-44D1-9524-FBBD3288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752600"/>
            <a:ext cx="1828800" cy="24765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DA065A-3EB3-4476-A8D4-215F8139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Live model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3A34F-EC2B-4E3E-8C4B-C40B38A5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B7F72"/>
                </a:solidFill>
              </a:defRPr>
            </a:pPr>
            <a:r>
              <a:rPr sz="3900" b="1">
                <a:solidFill>
                  <a:srgbClr val="1B7F72"/>
                </a:solidFill>
              </a:rPr>
              <a:t>GLM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278608-3343-4551-8B5D-3F11375F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290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Fast enough for beginner laptops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C2E58A-7A6A-42BF-BC29-D8B8B6B8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20771-406C-40F2-8431-C2EA161E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47734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211F02-D19C-4F9B-A6C7-DF44C106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Pseudo-absences are a choice, not a fact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1D1BA-844F-4325-8721-CBC63093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Presence-only data need comparison points, and that choice shapes the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8913D-8912-4900-B1F1-314206F4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90700"/>
            <a:ext cx="4171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E4200-4855-4590-B303-00C7BAE7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09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What we know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2088D-ACEB-4FDD-B90E-EAA7E3D5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8130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These places have recorded Aedes aegypti.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7C086-A884-4627-8C52-57F517CF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They are presences, not a complete survey of Brazil.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FBA4C-CBB4-4B69-830B-BE23000C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4171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C73D7-2C29-40D6-BE7B-50B29BA5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098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What we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085D4-9E4E-45A9-80E9-B2B0D462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813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Pseudo-absences describe available environments.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2E1AB-4A66-425C-AD9B-19EE6111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Different strategies can change the map.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4DFBD8-0403-4166-8A05-ED6D0289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B7F72"/>
                </a:solidFill>
              </a:defRPr>
            </a:pPr>
            <a:r>
              <a:rPr sz="2175" b="1">
                <a:solidFill>
                  <a:srgbClr val="1B7F72"/>
                </a:solidFill>
              </a:rPr>
              <a:t>This is why SDMs are scientific arguments, not map-making buttons.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B50FD-A031-403E-BC78-693ACC2E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598B0D-3840-42A0-B6F2-6791422F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949831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B61E03-5134-4892-82BA-BE682924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Read the suitability map as a hypothesis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30FC7-3F5F-41AE-A172-E486D00B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It suggests where conditions look similar to known vector environments.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4820e363248e6"/>
          <a:stretch xmlns:a="http://schemas.openxmlformats.org/drawingml/2006/main"/>
        </p:blipFill>
        <p:spPr>
          <a:xfrm xmlns:a="http://schemas.openxmlformats.org/drawingml/2006/main">
            <a:off x="685800" y="1462088"/>
            <a:ext cx="4953000" cy="43338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6167D-A125-4B34-9CF3-0925A387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AF2520-0D9F-4B90-ABB7-3D09B5BF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954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Where is suitability high?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A2B87-E10D-4CE3-A0DC-1ED9D6B5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9BE94-BC90-46AB-9D92-E88439EA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717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Where are occurrence records sparse?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A58A11-6905-43B2-B3BC-77F4E913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74833B-3B69-4815-871B-9E7756DB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480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What could be climate signal?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31FDA-34FD-413B-9F82-CD817C24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2B6C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804AA-EE9E-4A08-A7BE-A60C26EE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24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What could be sampling bias?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7EFD7-91DC-44D4-89C4-CB3C6127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34000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7F72"/>
                </a:solidFill>
              </a:defRPr>
            </a:pPr>
            <a:r>
              <a:rPr sz="1875" b="1">
                <a:solidFill>
                  <a:srgbClr val="1B7F72"/>
                </a:solidFill>
              </a:rPr>
              <a:t>A good SDM result should start a better conversation.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F4FC5-FC2F-4D12-8DEA-9E38FE2A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83663-B3D7-49EA-BE58-C53DF91E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78412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45A341-C303-45B0-AC96-25FF5BD9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A vector SDM answers only part of the dengue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29D8C-73E4-47B6-997D-8016F798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That is a strength when we name the boundary clearly.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CEF86-F0DE-4C7F-8E7F-96B94BA4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38300"/>
            <a:ext cx="4286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BFB4E-150E-4A4E-BC63-A78E7A88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It can help with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187AA-73BA-4706-B30C-A243F48A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BBE38-3979-4048-9E88-C1E76333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6193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Vector suitability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61EE7-C759-435D-A264-21E1D317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D4258-FD14-456C-A1C9-9B94051B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765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Surveillance prioritization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C555D-4379-4953-93E4-EB9670E1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0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47162-81C4-4C92-B9DB-16402596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5337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Field sampling hypotheses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C99FE-F663-49D1-807B-88606D64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5AF22-7479-4E7A-96A4-F7B6FD04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90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Environmental comparison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7515E-FE26-4AA0-99AB-24427741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38300"/>
            <a:ext cx="4286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131A3-2DB4-436B-842E-42F7E537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It does not replace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18925-DF30-4EDF-9B7E-D97B94C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86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FE952F-C5B7-4948-90F6-C1DE8614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193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Case surveillance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2F60C-6CA4-4378-A176-CB78111C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A4FE26-6A8A-46C3-955F-8D15ECC3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765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Vector abundance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270D4-0101-4642-976D-9674BE84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549D90-99D4-400F-AAF5-433807FD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337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Local control knowledge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CFD41-9410-4034-8CBC-01C8E197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D75148-89FC-4FDF-B88C-45885EF4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90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Transmission modeling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6BE055-D298-49B3-B601-A2EAC121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1E75BB-1C11-4584-8DEB-A5286948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71165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3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E830F8-2F22-4783-AFCA-47554010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Your job today is not to become an SDM expert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0C4E8-1C73-4552-B70F-9D3A3E89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DDF3EA"/>
                </a:solidFill>
              </a:defRPr>
            </a:pPr>
            <a:r>
              <a:rPr sz="2400" b="0">
                <a:solidFill>
                  <a:srgbClr val="DDF3EA"/>
                </a:solidFill>
              </a:rPr>
              <a:t>It is to leave with a working map, a reusable R workflow, and better questions.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2680E-EF5D-4F3D-AD0D-C8883FDA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E6433-C5A4-43E9-85DA-C6F19F78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B97E1-F024-44A4-87CD-1CE94FA7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B3D3A"/>
                </a:solidFill>
              </a:defRPr>
            </a:pPr>
            <a:r>
              <a:rPr sz="1500" b="0">
                <a:solidFill>
                  <a:srgbClr val="0B3D3A"/>
                </a:solidFill>
              </a:rPr>
              <a:t>the scripts line by 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F8057-7153-4470-9244-0E6B9659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C4C11-34B8-4373-8A9C-1186A89D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Look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A3081-1021-4A8F-B91F-103CA219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00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B3D3A"/>
                </a:solidFill>
              </a:defRPr>
            </a:pPr>
            <a:r>
              <a:rPr sz="1500" b="0">
                <a:solidFill>
                  <a:srgbClr val="0B3D3A"/>
                </a:solidFill>
              </a:rPr>
              <a:t>at the data before modeling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093AE-30A4-4680-A311-F82C2B45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EDB1F-15EE-495E-B1EA-F2E1ECC2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6112D-07EA-453C-892F-4672480D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00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3D3A"/>
                </a:solidFill>
              </a:defRPr>
            </a:pPr>
            <a:r>
              <a:rPr sz="1425" b="0">
                <a:solidFill>
                  <a:srgbClr val="0B3D3A"/>
                </a:solidFill>
              </a:rPr>
              <a:t>what the map can and cannot say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B6AF5-BC70-4E6B-ABB4-EA03A264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5435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2B84B"/>
                </a:solidFill>
              </a:defRPr>
            </a:pPr>
            <a:r>
              <a:rPr sz="3150" b="1">
                <a:solidFill>
                  <a:srgbClr val="F2B84B"/>
                </a:solidFill>
              </a:rPr>
              <a:t>Let’s build the model.</a:t>
            </a:r>
          </a:p>
        </p:txBody>
      </p:sp>
    </p:spTree>
    <p:extLst>
      <p:ext uri="{BB962C8B-B14F-4D97-AF65-F5344CB8AC3E}">
        <p14:creationId xmlns:p14="http://schemas.microsoft.com/office/powerpoint/2010/main" val="5840846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2026-07-16T06:04:06.8000000Z</dcterms:created>
  <dcterms:modified xsi:type="dcterms:W3CDTF">2026-07-16T06:04:06.8000000Z</dcterms:modified>
</coreProperties>
</file>