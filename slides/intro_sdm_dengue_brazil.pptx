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601282321f4ea3" /><Relationship Type="http://schemas.openxmlformats.org/officeDocument/2006/relationships/extended-properties" Target="/docProps/app.xml" Id="Re64227b65d974f84" /><Relationship Type="http://schemas.openxmlformats.org/officeDocument/2006/relationships/officeDocument" Target="/ppt/presentation.xml" Id="R38a561938b9542f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71a843fa16f4dd7"/>
  </p:sldMasterIdLst>
  <p:notesMasterIdLst>
    <p:notesMasterId xmlns:r="http://schemas.openxmlformats.org/officeDocument/2006/relationships" r:id="Rc7599ac579a14ba5"/>
  </p:notesMasterIdLst>
  <p:sldIdLst>
    <p:sldId xmlns:r="http://schemas.openxmlformats.org/officeDocument/2006/relationships" id="256" r:id="Rb5afbde976de4a3d"/>
    <p:sldId xmlns:r="http://schemas.openxmlformats.org/officeDocument/2006/relationships" id="257" r:id="R57824d8e407e4ee4"/>
    <p:sldId xmlns:r="http://schemas.openxmlformats.org/officeDocument/2006/relationships" id="258" r:id="R7699c39123a9432b"/>
    <p:sldId xmlns:r="http://schemas.openxmlformats.org/officeDocument/2006/relationships" id="259" r:id="R37d257c6d0bb46ea"/>
    <p:sldId xmlns:r="http://schemas.openxmlformats.org/officeDocument/2006/relationships" id="260" r:id="R09ccfb7eed1e45f1"/>
    <p:sldId xmlns:r="http://schemas.openxmlformats.org/officeDocument/2006/relationships" id="261" r:id="R37eac961230243f8"/>
    <p:sldId xmlns:r="http://schemas.openxmlformats.org/officeDocument/2006/relationships" id="262" r:id="R6b07d70fad7d45be"/>
    <p:sldId xmlns:r="http://schemas.openxmlformats.org/officeDocument/2006/relationships" id="263" r:id="R6b83799b7baa417e"/>
    <p:sldId xmlns:r="http://schemas.openxmlformats.org/officeDocument/2006/relationships" id="264" r:id="R0c261b54a0184c5a"/>
    <p:sldId xmlns:r="http://schemas.openxmlformats.org/officeDocument/2006/relationships" id="265" r:id="Rda2b5ae8d0b64a11"/>
    <p:sldId xmlns:r="http://schemas.openxmlformats.org/officeDocument/2006/relationships" id="266" r:id="R98d0ef0bf184448c"/>
    <p:sldId xmlns:r="http://schemas.openxmlformats.org/officeDocument/2006/relationships" id="267" r:id="R6f33da91cf014df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b1b2a755634db7" /><Relationship Type="http://schemas.openxmlformats.org/officeDocument/2006/relationships/slideMaster" Target="/ppt/slideMasters/slideMaster1.xml" Id="R971a843fa16f4dd7" /><Relationship Type="http://schemas.openxmlformats.org/officeDocument/2006/relationships/notesMaster" Target="/ppt/notesMasters/notesMaster1.xml" Id="Rc7599ac579a14ba5" /><Relationship Type="http://schemas.openxmlformats.org/officeDocument/2006/relationships/presProps" Target="/ppt/presProps.xml" Id="Rd5c837bca6814d62" /><Relationship Type="http://schemas.openxmlformats.org/officeDocument/2006/relationships/tableStyles" Target="/ppt/tableStyles.xml" Id="R0f9b16d74ec14b2c" /><Relationship Type="http://schemas.openxmlformats.org/officeDocument/2006/relationships/slide" Target="/ppt/slides/slide1.xml" Id="Rb5afbde976de4a3d" /><Relationship Type="http://schemas.openxmlformats.org/officeDocument/2006/relationships/slide" Target="/ppt/slides/slide2.xml" Id="R57824d8e407e4ee4" /><Relationship Type="http://schemas.openxmlformats.org/officeDocument/2006/relationships/slide" Target="/ppt/slides/slide3.xml" Id="R7699c39123a9432b" /><Relationship Type="http://schemas.openxmlformats.org/officeDocument/2006/relationships/slide" Target="/ppt/slides/slide4.xml" Id="R37d257c6d0bb46ea" /><Relationship Type="http://schemas.openxmlformats.org/officeDocument/2006/relationships/slide" Target="/ppt/slides/slide5.xml" Id="R09ccfb7eed1e45f1" /><Relationship Type="http://schemas.openxmlformats.org/officeDocument/2006/relationships/slide" Target="/ppt/slides/slide6.xml" Id="R37eac961230243f8" /><Relationship Type="http://schemas.openxmlformats.org/officeDocument/2006/relationships/slide" Target="/ppt/slides/slide7.xml" Id="R6b07d70fad7d45be" /><Relationship Type="http://schemas.openxmlformats.org/officeDocument/2006/relationships/slide" Target="/ppt/slides/slide8.xml" Id="R6b83799b7baa417e" /><Relationship Type="http://schemas.openxmlformats.org/officeDocument/2006/relationships/slide" Target="/ppt/slides/slide9.xml" Id="R0c261b54a0184c5a" /><Relationship Type="http://schemas.openxmlformats.org/officeDocument/2006/relationships/slide" Target="/ppt/slides/slide10.xml" Id="Rda2b5ae8d0b64a11" /><Relationship Type="http://schemas.openxmlformats.org/officeDocument/2006/relationships/slide" Target="/ppt/slides/slide11.xml" Id="R98d0ef0bf184448c" /><Relationship Type="http://schemas.openxmlformats.org/officeDocument/2006/relationships/slide" Target="/ppt/slides/slide12.xml" Id="R6f33da91cf014df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29cc44d5b74f3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95761d47d184f9e" /><Relationship Type="http://schemas.openxmlformats.org/officeDocument/2006/relationships/notesMaster" Target="/ppt/notesMasters/notesMaster1.xml" Id="Rdf0e9d9ad3d945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bfa30230fc4095" /><Relationship Type="http://schemas.openxmlformats.org/officeDocument/2006/relationships/notesMaster" Target="/ppt/notesMasters/notesMaster1.xml" Id="Ra87ef8dc673241c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1adafee56324ba4" /><Relationship Type="http://schemas.openxmlformats.org/officeDocument/2006/relationships/notesMaster" Target="/ppt/notesMasters/notesMaster1.xml" Id="R530fd7c428904f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d56165370864053" /><Relationship Type="http://schemas.openxmlformats.org/officeDocument/2006/relationships/notesMaster" Target="/ppt/notesMasters/notesMaster1.xml" Id="Rd34332c0f97e41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747981fc9c9499e" /><Relationship Type="http://schemas.openxmlformats.org/officeDocument/2006/relationships/notesMaster" Target="/ppt/notesMasters/notesMaster1.xml" Id="Re6cbff3e88d745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a6bab4c9b5b4b44" /><Relationship Type="http://schemas.openxmlformats.org/officeDocument/2006/relationships/notesMaster" Target="/ppt/notesMasters/notesMaster1.xml" Id="R22363c91fda8422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49d5f9c5064dae" /><Relationship Type="http://schemas.openxmlformats.org/officeDocument/2006/relationships/notesMaster" Target="/ppt/notesMasters/notesMaster1.xml" Id="R41f16ae20ba441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0daa877f36481b" /><Relationship Type="http://schemas.openxmlformats.org/officeDocument/2006/relationships/notesMaster" Target="/ppt/notesMasters/notesMaster1.xml" Id="R846136fbb311449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03e9149e0744728" /><Relationship Type="http://schemas.openxmlformats.org/officeDocument/2006/relationships/notesMaster" Target="/ppt/notesMasters/notesMaster1.xml" Id="Raba48c39173745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c044bf1dbc34ef2" /><Relationship Type="http://schemas.openxmlformats.org/officeDocument/2006/relationships/notesMaster" Target="/ppt/notesMasters/notesMaster1.xml" Id="Rf8b6aebc3ca248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80b174e72464f76" /><Relationship Type="http://schemas.openxmlformats.org/officeDocument/2006/relationships/notesMaster" Target="/ppt/notesMasters/notesMaster1.xml" Id="Rab67fd98b61447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935213efc147f2" /><Relationship Type="http://schemas.openxmlformats.org/officeDocument/2006/relationships/notesMaster" Target="/ppt/notesMasters/notesMaster1.xml" Id="Rb7cde6e957854b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SDM as the method, then signal that Aedes aegypti in Brazil is the practical case study.</a:t>
            </a:r>
          </a:p>
          <a:p xmlns:a="http://schemas.openxmlformats.org/drawingml/2006/main">
            <a:r>
              <a:t>[Sources] Workshop-generated ensemble suitability map; workflow based on workshop R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SDM at the foundation level before naming dengue or Aedes aegypti.</a:t>
            </a:r>
          </a:p>
          <a:p xmlns:a="http://schemas.openxmlformats.org/drawingml/2006/main">
            <a:r>
              <a:t>[Sources] Core SDM framing adapted from Lecture1_12Juin17.pdf pages 3 and 57-58.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difference between suitability and observed distribution explicit.</a:t>
            </a:r>
          </a:p>
          <a:p xmlns:a="http://schemas.openxmlformats.org/drawingml/2006/main">
            <a:r>
              <a:t>[Sources] Concept adapted from Lecture1_12Juin17.pdf pages 7, 13, and 57-58; workshop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applied infectious disease example after the SDM foundation.</a:t>
            </a:r>
          </a:p>
          <a:p xmlns:a="http://schemas.openxmlformats.org/drawingml/2006/main">
            <a:r>
              <a:t>[Sources] Workshop scope and GBIF-based occurrence map.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predictor choice to beginner-friendly modelling and interpretation.</a:t>
            </a:r>
          </a:p>
          <a:p xmlns:a="http://schemas.openxmlformats.org/drawingml/2006/main">
            <a:r>
              <a:t>[Sources] Workshop environmental raster generated from WorldClim-derived cached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prepares participants for BIOMOD_FormatingData arguments.</a:t>
            </a:r>
          </a:p>
          <a:p xmlns:a="http://schemas.openxmlformats.org/drawingml/2006/main">
            <a:r>
              <a:t>[Sources] Pseudo-absence concept adapted from Lecture1_12Juin17.pdf pages 106-109; biomod2 workflow in workshop script.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to explain why the workshop runs GLM, GBM, and RF.</a:t>
            </a:r>
          </a:p>
          <a:p xmlns:a="http://schemas.openxmlformats.org/drawingml/2006/main">
            <a:r>
              <a:t>[Sources] Algorithm framing adapted from Lecture1_12Juin17.pdf pages 45-56; workshop script models_to_run.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evaluation conceptual and directly connected to metric.eval in the R code.</a:t>
            </a:r>
          </a:p>
          <a:p xmlns:a="http://schemas.openxmlformats.org/drawingml/2006/main">
            <a:r>
              <a:t>[Sources] Evaluation concepts adapted from Lecture1_12Juin17.pdf pages 59-74.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bridge from model fitting to interpretation.</a:t>
            </a:r>
          </a:p>
          <a:p xmlns:a="http://schemas.openxmlformats.org/drawingml/2006/main">
            <a:r>
              <a:t>[Sources] Workshop-generated variable importance plot from biomod2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two ensemble algorithms used in the script without getting buried in parameters.</a:t>
            </a:r>
          </a:p>
          <a:p xmlns:a="http://schemas.openxmlformats.org/drawingml/2006/main">
            <a:r>
              <a:t>[Sources] Ensemble modelling concepts adapted from Lecture1_12Juin17.pdf pages 79-84; workshop script BIOMOD_EnsembleModeling.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connect BIOMOD_Projection and BIOMOD_EnsembleForecasting to the exported maps.</a:t>
            </a:r>
          </a:p>
          <a:p xmlns:a="http://schemas.openxmlformats.org/drawingml/2006/main">
            <a:r>
              <a:t>[Sources] Workshop-generated suitability and ensemble suitability maps.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presentation by handing control to the live script.</a:t>
            </a:r>
          </a:p>
          <a:p xmlns:a="http://schemas.openxmlformats.org/drawingml/2006/main">
            <a:r>
              <a:t>[Sources] Workshop model output and interpretation questions.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40d0eb15d942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c67c1a837f43ef" /><Relationship Type="http://schemas.openxmlformats.org/officeDocument/2006/relationships/slideLayout" Target="/ppt/slideLayouts/slideLayout1.xml" Id="Rd5eb5facd1964dd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eb5facd1964dd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12ce00dcf4f8c" /><Relationship Type="http://schemas.openxmlformats.org/officeDocument/2006/relationships/image" Target="/ppt/media/image.png" Id="R451d0b3f15614183" /><Relationship Type="http://schemas.openxmlformats.org/officeDocument/2006/relationships/notesSlide" Target="/ppt/notesSlides/notesSlide1.xml" Id="R4354c61f117a4e4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24bd544db41be" /><Relationship Type="http://schemas.openxmlformats.org/officeDocument/2006/relationships/notesSlide" Target="/ppt/notesSlides/notesSlide2.xml" Id="R2a93ace7192046e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52cb19162142e4" /><Relationship Type="http://schemas.openxmlformats.org/officeDocument/2006/relationships/image" Target="/ppt/media/image2.png" Id="R0b24e68b8fb64687" /><Relationship Type="http://schemas.openxmlformats.org/officeDocument/2006/relationships/image" Target="/ppt/media/image3.png" Id="R14d29cadd371481c" /><Relationship Type="http://schemas.openxmlformats.org/officeDocument/2006/relationships/notesSlide" Target="/ppt/notesSlides/notesSlide3.xml" Id="R2b9cd1ae4b3f4b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d1423854484ac5" /><Relationship Type="http://schemas.openxmlformats.org/officeDocument/2006/relationships/image" Target="/ppt/media/image4.png" Id="Rf19a24ff348b469c" /><Relationship Type="http://schemas.openxmlformats.org/officeDocument/2006/relationships/notesSlide" Target="/ppt/notesSlides/notesSlide4.xml" Id="R998592d5c0ad48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e9c63b2a4f4589" /><Relationship Type="http://schemas.openxmlformats.org/officeDocument/2006/relationships/image" Target="/ppt/media/image5.png" Id="R7166f8a47cf44d42" /><Relationship Type="http://schemas.openxmlformats.org/officeDocument/2006/relationships/notesSlide" Target="/ppt/notesSlides/notesSlide5.xml" Id="Re6812fbbc75f44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85c4218c74da7" /><Relationship Type="http://schemas.openxmlformats.org/officeDocument/2006/relationships/notesSlide" Target="/ppt/notesSlides/notesSlide6.xml" Id="R21c2c6a328a1448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cf446b76d64a9a" /><Relationship Type="http://schemas.openxmlformats.org/officeDocument/2006/relationships/notesSlide" Target="/ppt/notesSlides/notesSlide7.xml" Id="Re379d3fbc90747e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9079985c2446b7" /><Relationship Type="http://schemas.openxmlformats.org/officeDocument/2006/relationships/notesSlide" Target="/ppt/notesSlides/notesSlide8.xml" Id="Rcae24d6f3470490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7cfa9f81914204" /><Relationship Type="http://schemas.openxmlformats.org/officeDocument/2006/relationships/image" Target="/ppt/media/image6.png" Id="Rfa257262d7444daf" /><Relationship Type="http://schemas.openxmlformats.org/officeDocument/2006/relationships/notesSlide" Target="/ppt/notesSlides/notesSlide9.xml" Id="R1fbc212b7a134f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75b1588fce44f5" /><Relationship Type="http://schemas.openxmlformats.org/officeDocument/2006/relationships/notesSlide" Target="/ppt/notesSlides/notesSlide10.xml" Id="R34fa233985a045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75ae629919443f" /><Relationship Type="http://schemas.openxmlformats.org/officeDocument/2006/relationships/image" Target="/ppt/media/image7.png" Id="Ra68b0cf7c9ee4229" /><Relationship Type="http://schemas.openxmlformats.org/officeDocument/2006/relationships/image" Target="/ppt/media/image8.png" Id="R2f9c7d16f25544a0" /><Relationship Type="http://schemas.openxmlformats.org/officeDocument/2006/relationships/notesSlide" Target="/ppt/notesSlides/notesSlide11.xml" Id="Rd93a8299892940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a66ba78a1a4f50" /><Relationship Type="http://schemas.openxmlformats.org/officeDocument/2006/relationships/image" Target="/ppt/media/image9.png" Id="R7379a4409fe44f6d" /><Relationship Type="http://schemas.openxmlformats.org/officeDocument/2006/relationships/notesSlide" Target="/ppt/notesSlides/notesSlide12.xml" Id="R15d6bbb418474e2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1d0b3f15614183"/>
          <a:stretch xmlns:a="http://schemas.openxmlformats.org/drawingml/2006/main"/>
        </p:blipFill>
        <p:spPr>
          <a:xfrm xmlns:a="http://schemas.openxmlformats.org/drawingml/2006/main">
            <a:off x="6134100" y="1033463"/>
            <a:ext cx="4953000" cy="4333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ADF48-153C-41FC-BA89-F648788E3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85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6443A-3E13-4CF3-8ABB-5DECDC0A8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Species</a:t>
            </a:r>
          </a:p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distribution</a:t>
            </a:r>
          </a:p>
          <a:p xmlns:a="http://schemas.openxmlformats.org/drawingml/2006/main">
            <a:pPr algn="l">
              <a:defRPr sz="4050" b="1" i="0">
                <a:solidFill>
                  <a:srgbClr val="FFFFFF"/>
                </a:solidFill>
              </a:defRPr>
            </a:pPr>
            <a:r>
              <a:rPr sz="4050" b="1" i="0">
                <a:solidFill>
                  <a:srgbClr val="FFFFFF"/>
                </a:solidFill>
              </a:rPr>
              <a:t>models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9A5084-422D-4DF5-8805-C7056312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476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Foundations first, then a worked R example using Aedes aegypti suitability in Brazil.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F09332-934C-4E15-92D3-A71CA7A2A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DA6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0CC5AC-4B7E-471D-810D-1247D99F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244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F3D2B3"/>
                </a:solidFill>
              </a:defRPr>
            </a:pPr>
            <a:r>
              <a:rPr sz="1425" b="1" i="0">
                <a:solidFill>
                  <a:srgbClr val="F3D2B3"/>
                </a:solidFill>
              </a:rPr>
              <a:t>niche | occurrence data | predictors | projection</a:t>
            </a:r>
          </a:p>
        </p:txBody>
      </p:sp>
    </p:spTree>
    <p:extLst>
      <p:ext uri="{BB962C8B-B14F-4D97-AF65-F5344CB8AC3E}">
        <p14:creationId xmlns:p14="http://schemas.microsoft.com/office/powerpoint/2010/main" val="435423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A24E57-C78B-44C5-8E69-35CFAAE2C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CBAAD-ECF3-4302-AE28-BE522632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5FDD5-E1CD-4975-9F11-232921CF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6F4AC-B39B-4A75-B8BE-154A1C161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763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An SDM links where a species is observed to the environments it occupies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D8B84E-F59A-498D-9E4A-77B1B4E2F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95500"/>
            <a:ext cx="7429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The basic move is simple: compare occurrence locations with environmental predictors, then project that fitted relationship across space.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B52A18-4DB4-467E-805A-2C84E9B7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64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0A303C-B747-4098-81DD-BC4C8953D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38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E6E73"/>
                </a:solidFill>
              </a:defRPr>
            </a:pPr>
            <a:r>
              <a:rPr sz="2100" b="1" i="0">
                <a:solidFill>
                  <a:srgbClr val="0E6E73"/>
                </a:solidFill>
              </a:rPr>
              <a:t>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396E3-8DEF-4803-9960-6E5DC1E7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576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locations in geographic space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06C655-24F6-4B90-831F-AFB43A17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9052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98FA97-80BC-4D38-96D4-9FB69F2E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486150"/>
            <a:ext cx="2952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D96445"/>
                </a:solidFill>
              </a:defRPr>
            </a:pPr>
            <a:r>
              <a:rPr sz="2100" b="1" i="0">
                <a:solidFill>
                  <a:srgbClr val="D96445"/>
                </a:solidFill>
              </a:rPr>
              <a:t>Environmental</a:t>
            </a:r>
          </a:p>
          <a:p xmlns:a="http://schemas.openxmlformats.org/drawingml/2006/main">
            <a:pPr algn="l">
              <a:defRPr sz="2100" b="1" i="0">
                <a:solidFill>
                  <a:srgbClr val="D96445"/>
                </a:solidFill>
              </a:defRPr>
            </a:pPr>
            <a:r>
              <a:rPr sz="2100" b="1" i="0">
                <a:solidFill>
                  <a:srgbClr val="D96445"/>
                </a:solidFill>
              </a:rPr>
              <a:t>relationship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879CCB-D9F7-4570-B06A-82B5EB7C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267200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association learned by the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D3141B-135F-4048-A686-ADDFDD31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05250"/>
            <a:ext cx="7810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096973-D5A4-4116-AD15-D0FA2C40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6385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0E6E73"/>
                </a:solidFill>
              </a:defRPr>
            </a:pPr>
            <a:r>
              <a:rPr sz="2100" b="1" i="0">
                <a:solidFill>
                  <a:srgbClr val="0E6E73"/>
                </a:solidFill>
              </a:rPr>
              <a:t>Projection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051DC1-56EB-47C8-9FE9-F9ECEA2CB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0576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a suitability surface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C8857-2842-4924-93DC-3848BA83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486925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5E9A9-2B6C-4E69-B936-37D4AD2CC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FOUNDATION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E87CB0-0A8E-4D33-9B98-E07CA829F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81BDF-F999-476D-83FC-B726F2D0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D45B2-1A4E-4345-90F8-0B8C3EE2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81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The output is suitability, not proof of presence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BE772E-21E3-4FEB-8D90-7CAA5524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7429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Most SDMs estimate where environments resemble those associated with known records. Biology, dispersal, interactions, and sampling still matter.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24e68b8fb64687"/>
          <a:stretch xmlns:a="http://schemas.openxmlformats.org/drawingml/2006/main"/>
        </p:blipFill>
        <p:spPr>
          <a:xfrm xmlns:a="http://schemas.openxmlformats.org/drawingml/2006/main">
            <a:off x="1009650" y="289560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2E90B6-D0AB-4DF6-8387-2E915DFE9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197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E6E73"/>
                </a:solidFill>
              </a:defRPr>
            </a:pPr>
            <a:r>
              <a:rPr sz="1350" b="1" i="0">
                <a:solidFill>
                  <a:srgbClr val="0E6E73"/>
                </a:solidFill>
              </a:rPr>
              <a:t>geographic observations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B6D428-BD26-4493-BEB8-F9CFA8EC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0386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C77FF-F579-47E9-B161-6230FCF48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228600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6"/>
          </a:solidFill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7FF2B0-F590-4D4F-857D-0A35C4A25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71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0231F"/>
                </a:solidFill>
              </a:defRPr>
            </a:pPr>
            <a:r>
              <a:rPr sz="1875" b="1" i="0">
                <a:solidFill>
                  <a:srgbClr val="10231F"/>
                </a:solidFill>
              </a:rPr>
              <a:t>predictor values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E973B-E72C-4C17-BECE-49E5C5D3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886200"/>
            <a:ext cx="1428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temperature</a:t>
            </a:r>
          </a:p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rainfall</a:t>
            </a:r>
          </a:p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735E6A-2227-4954-AFD5-5F379EF8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6858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d29cadd371481c"/>
          <a:stretch xmlns:a="http://schemas.openxmlformats.org/drawingml/2006/main"/>
        </p:blipFill>
        <p:spPr>
          <a:xfrm xmlns:a="http://schemas.openxmlformats.org/drawingml/2006/main">
            <a:off x="9029700" y="3139678"/>
            <a:ext cx="2381250" cy="2083594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3E2C9-5DC5-4C97-A229-9DBC6898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197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0E6E73"/>
                </a:solidFill>
              </a:defRPr>
            </a:pPr>
            <a:r>
              <a:rPr sz="1350" b="1" i="0">
                <a:solidFill>
                  <a:srgbClr val="0E6E73"/>
                </a:solidFill>
              </a:rPr>
              <a:t>projected suitability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BF1AD2-92EE-4F8C-952E-981EE41EB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20103175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B8DED-235A-4653-8356-B56A8AA8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WORKED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D3A2C-CA59-4387-AD1F-BB1E49B0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2D0D52-12FC-4D35-88D8-DFF83B58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E70715-C34D-4BEE-B1CE-24C60C89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8102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Case study: Aedes aegypti in Brazil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9a24ff348b469c"/>
          <a:stretch xmlns:a="http://schemas.openxmlformats.org/drawingml/2006/main"/>
        </p:blipFill>
        <p:spPr>
          <a:xfrm xmlns:a="http://schemas.openxmlformats.org/drawingml/2006/main">
            <a:off x="6953250" y="1619250"/>
            <a:ext cx="3714750" cy="3714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608842-86E3-4924-BF16-BBBEA7B10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6445"/>
                </a:solidFill>
              </a:defRPr>
            </a:pPr>
            <a:r>
              <a:rPr sz="2250" b="1" i="0">
                <a:solidFill>
                  <a:srgbClr val="D96445"/>
                </a:solidFill>
              </a:rPr>
              <a:t>Why this example?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B07F6E-A470-42AD-9913-68C03E76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95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7C76C3-A5DB-4092-8C44-C5A21636A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0035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The species is epidemiologically relevant.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654E42-93C1-44E0-8FC6-943C41426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303A4-BF31-4679-9ABA-D5E56D316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7185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GBIF provides reusable occurrence records.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9F161C-ADB7-40F9-9843-21B0F80F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9FA3F8-9D4A-4269-BF71-3E39A1E7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4335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Brazil gives a national-scale projection problem.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CC6BA0-2313-446E-B48E-3A6A6F97C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B0DA0E-C6D4-4F46-903E-CFBBBBC3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1485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The result is vector suitability, not dengue risk.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5A6F20-85C7-4A5C-861D-4C2140E4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2074076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6695A8-E8F4-4C46-9CC8-8EE05637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3CD03-3F33-4989-9850-AB6C831D2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E4F911-9205-4207-9121-F1E4BDA7C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8675F-3D1F-4B68-AFF5-0B2330F0E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Predictors define the environmental lens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6f8a47cf44d42"/>
          <a:stretch xmlns:a="http://schemas.openxmlformats.org/drawingml/2006/main"/>
        </p:blipFill>
        <p:spPr>
          <a:xfrm xmlns:a="http://schemas.openxmlformats.org/drawingml/2006/main">
            <a:off x="1162050" y="1657350"/>
            <a:ext cx="3714750" cy="3714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1152E6-A011-459C-AACE-BF32A828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4000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0231F"/>
                </a:solidFill>
              </a:defRPr>
            </a:pPr>
            <a:r>
              <a:rPr sz="2025" b="1" i="0">
                <a:solidFill>
                  <a:srgbClr val="10231F"/>
                </a:solidFill>
              </a:rPr>
              <a:t>We deliberately use four predictors: enough to demonstrate the workflow, few enough to understand the model behaviour.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7292B-6F2E-41E4-A2A5-D90B71BF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95600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644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8BDD7-8284-45A7-A3F3-099AE4F9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57550"/>
            <a:ext cx="40005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annual mean temperature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temperature seasonality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annual precipitation</a:t>
            </a:r>
          </a:p>
          <a:p xmlns:a="http://schemas.openxmlformats.org/drawingml/2006/main">
            <a:pPr algn="l">
              <a:defRPr sz="1800" b="0" i="0">
                <a:solidFill>
                  <a:srgbClr val="60706B"/>
                </a:solidFill>
              </a:defRPr>
            </a:pPr>
            <a:r>
              <a:rPr sz="1800" b="0" i="0">
                <a:solidFill>
                  <a:srgbClr val="60706B"/>
                </a:solidFill>
              </a:rPr>
              <a:t>precipitation seasonality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8D9624-DB0A-4595-AAD0-343565D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149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1">
                <a:solidFill>
                  <a:srgbClr val="0E6E73"/>
                </a:solidFill>
              </a:defRPr>
            </a:pPr>
            <a:r>
              <a:rPr sz="1425" b="0" i="1">
                <a:solidFill>
                  <a:srgbClr val="0E6E73"/>
                </a:solidFill>
              </a:rPr>
              <a:t>Teaching point: fewer variables make the first model easier to inspect.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26402-E404-4689-9BD9-C8482D74A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13287247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ED5768-FABB-4633-8C67-A1A8C551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DCDC"/>
                </a:solidFill>
              </a:defRPr>
            </a:pPr>
            <a:r>
              <a:rPr sz="825" b="1" i="0">
                <a:solidFill>
                  <a:srgbClr val="B9DCDC"/>
                </a:solidFill>
              </a:rPr>
              <a:t>MODELLING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EF9901-A9D8-4DF6-85AA-614027F7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626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61E391-B9F7-4677-A657-E212755B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A7C8C4"/>
                </a:solidFill>
              </a:defRPr>
            </a:pPr>
            <a:r>
              <a:rPr sz="825" b="0" i="0">
                <a:solidFill>
                  <a:srgbClr val="A7C8C4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7ADA76-2486-45BF-B373-1E15FD05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619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Presence-only data force a modelling choice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986D08-A9FD-496E-AF10-0CC5D2DE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Pseudo-absences are comparison points. They are not confirmed places where Aedes aegypti is absent.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928BD2-328A-4940-8210-311C0754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57550"/>
            <a:ext cx="476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DA67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D6F7C-1DB7-4CE8-BC73-FF6B3742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presence records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175088-ED49-469E-9C60-4B02D87C4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known points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C3F609-C699-471F-A5AE-9A4B3EDD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05250"/>
            <a:ext cx="7620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2A9F31-0C8C-4D8F-8827-A166842F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33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pseudo-absences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C3D38E-EE49-46D0-9E95-9F06F6EB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1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background contrast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290296-B673-4646-8CE2-EB4DF8AF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905250"/>
            <a:ext cx="7620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9B44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729319-95DF-4FA2-BCEB-18D47F6D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7338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biomod2 formatted 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CA8A4D-C68E-4DA5-9194-6D0F6028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1148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B9DCDC"/>
                </a:solidFill>
              </a:defRPr>
            </a:pPr>
            <a:r>
              <a:rPr sz="1425" b="0" i="0">
                <a:solidFill>
                  <a:srgbClr val="B9DCDC"/>
                </a:solidFill>
              </a:rPr>
              <a:t>ready for algorithms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48B5E6-EBA7-4895-A7C0-7C82EB972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87AAA5"/>
                </a:solidFill>
              </a:defRPr>
            </a:pPr>
            <a:r>
              <a:rPr sz="675" b="0" i="0">
                <a:solidFill>
                  <a:srgbClr val="87AAA5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107089754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C62F89-AC74-4B52-9496-1C55213B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ALGORITHMS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51D53-310F-4E48-8E2F-961564D0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63F8AF-31B8-4F9A-A33F-B9FF6D03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2EBC8B-EF70-4CD9-98EC-582E2403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The three example algorithms bring different biases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31D2C2-5325-4359-8409-176840205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05000"/>
            <a:ext cx="723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60706B"/>
                </a:solidFill>
              </a:defRPr>
            </a:pPr>
            <a:r>
              <a:rPr sz="1575" b="0" i="0">
                <a:solidFill>
                  <a:srgbClr val="60706B"/>
                </a:solidFill>
              </a:rPr>
              <a:t>The goal is not to crown a winner. It is to see how modelling assumptions affect predictions.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F191B-403A-437F-8FEA-D3D207C62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10001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993BDD-AF7B-4757-9E72-82FD3F88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0E6E73"/>
                </a:solidFill>
              </a:defRPr>
            </a:pPr>
            <a:r>
              <a:rPr sz="3600" b="1" i="0">
                <a:solidFill>
                  <a:srgbClr val="0E6E73"/>
                </a:solidFill>
              </a:rPr>
              <a:t>GLM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CFE9DC-253F-4046-98B8-DFA9452E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transparent statistical trend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EB94A-F850-4306-B6FF-0C993512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simpler shape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CDCEC-F5C0-4AE8-8D3D-8FE42EC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D96445"/>
                </a:solidFill>
              </a:defRPr>
            </a:pPr>
            <a:r>
              <a:rPr sz="3600" b="1" i="0">
                <a:solidFill>
                  <a:srgbClr val="D96445"/>
                </a:solidFill>
              </a:rPr>
              <a:t>GBM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2804E-BC24-43EA-AF9C-7F7FCE61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boosted sequence of trees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68D552-2B15-4F69-A6D0-F49D822F7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flexible shape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E53BFE-12BF-4D56-B39D-3E3AEC71B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6B8F4E"/>
                </a:solidFill>
              </a:defRPr>
            </a:pPr>
            <a:r>
              <a:rPr sz="3600" b="1" i="0">
                <a:solidFill>
                  <a:srgbClr val="6B8F4E"/>
                </a:solidFill>
              </a:rPr>
              <a:t>RF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787D8E-02CB-4D94-9925-73E8BC1E1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386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231F"/>
                </a:solidFill>
              </a:defRPr>
            </a:pPr>
            <a:r>
              <a:rPr sz="1800" b="1" i="0">
                <a:solidFill>
                  <a:srgbClr val="10231F"/>
                </a:solidFill>
              </a:rPr>
              <a:t>many trees voting together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50FB76-7837-425C-AEAD-E3D45B90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38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60706B"/>
                </a:solidFill>
              </a:defRPr>
            </a:pPr>
            <a:r>
              <a:rPr sz="1425" b="0" i="0">
                <a:solidFill>
                  <a:srgbClr val="60706B"/>
                </a:solidFill>
              </a:rPr>
              <a:t>robust shape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BD5B9A-1100-4346-9A16-8BE1EF28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131191933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AB901-B87F-4DCC-8365-D49FA5A0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B84ECF-E087-4EC5-A8F9-0D1B5CCD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DA6DAB-0E06-4AF7-A72E-984C1F43E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07C459-2055-49CE-BDF4-5B01A7A51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Evaluation is a stress test, not a certificate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3B8019-D553-4E6E-B4EB-D997B2782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E6E73"/>
                </a:solidFill>
              </a:defRPr>
            </a:pPr>
            <a:r>
              <a:rPr sz="1875" b="1" i="0">
                <a:solidFill>
                  <a:srgbClr val="0E6E73"/>
                </a:solidFill>
              </a:rPr>
              <a:t>Training 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99EE0-0E8D-41C7-90DA-F81E93F2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336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644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8FC63-5401-4A6D-93A4-58608F540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10231F"/>
                </a:solidFill>
              </a:defRPr>
            </a:pPr>
            <a:r>
              <a:rPr sz="1875" b="1" i="0">
                <a:solidFill>
                  <a:srgbClr val="10231F"/>
                </a:solidFill>
              </a:rPr>
              <a:t>fitted model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291374-29D0-43CE-9D3C-96BAA3E4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533650"/>
            <a:ext cx="161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9644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ACA50-E6F6-4E9A-A741-65808F5F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03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0E6E73"/>
                </a:solidFill>
              </a:defRPr>
            </a:pPr>
            <a:r>
              <a:rPr sz="1875" b="1" i="0">
                <a:solidFill>
                  <a:srgbClr val="0E6E73"/>
                </a:solidFill>
              </a:rPr>
              <a:t>test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48C1E1-BBC6-4CD5-8C46-6FFEC54F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3905250"/>
            <a:ext cx="123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D96445"/>
                </a:solidFill>
              </a:defRPr>
            </a:pPr>
            <a:r>
              <a:rPr sz="3300" b="1" i="0">
                <a:solidFill>
                  <a:srgbClr val="D96445"/>
                </a:solidFill>
              </a:rPr>
              <a:t>TSS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498C1-C104-4AD6-B566-F46C1772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66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threshold-based balance of sensitivity and specificity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A01D11-FDDB-4D86-84A8-1617F5736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052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 i="0">
                <a:solidFill>
                  <a:srgbClr val="D96445"/>
                </a:solidFill>
              </a:defRPr>
            </a:pPr>
            <a:r>
              <a:rPr sz="3300" b="1" i="0">
                <a:solidFill>
                  <a:srgbClr val="D96445"/>
                </a:solidFill>
              </a:rPr>
              <a:t>AUCroc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AEB522-1E15-4F97-9A91-CB94A90C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148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 i="0">
                <a:solidFill>
                  <a:srgbClr val="60706B"/>
                </a:solidFill>
              </a:defRPr>
            </a:pPr>
            <a:r>
              <a:rPr sz="1650" b="0" i="0">
                <a:solidFill>
                  <a:srgbClr val="60706B"/>
                </a:solidFill>
              </a:rPr>
              <a:t>threshold-independent ranking of presences above absences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E33E6-BD6B-4AF0-8988-94055677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676900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0E6E73"/>
                </a:solidFill>
              </a:defRPr>
            </a:pPr>
            <a:r>
              <a:rPr sz="2100" b="1" i="0">
                <a:solidFill>
                  <a:srgbClr val="0E6E73"/>
                </a:solidFill>
              </a:rPr>
              <a:t>Good scores make a model worth inspecting. They do not make the map true.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240D0D-8DC0-4B55-B2D2-87581C6B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16719577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CA59A8-282A-47F5-A181-55CC2201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INTERPRETATION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76968-B2D0-4533-AA3F-523F164E5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FF7B9-1B8E-4CC6-AFC9-81CE44AD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AE17DC-B845-478E-BCBE-FCCCF12C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Variable importance turns outputs back into questions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257262d7444daf"/>
          <a:stretch xmlns:a="http://schemas.openxmlformats.org/drawingml/2006/main"/>
        </p:blipFill>
        <p:spPr>
          <a:xfrm xmlns:a="http://schemas.openxmlformats.org/drawingml/2006/main">
            <a:off x="723900" y="1482328"/>
            <a:ext cx="6381750" cy="3988594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78072-7C89-4EEF-8183-8B250745F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6445"/>
                </a:solidFill>
              </a:defRPr>
            </a:pPr>
            <a:r>
              <a:rPr sz="2250" b="1" i="0">
                <a:solidFill>
                  <a:srgbClr val="D96445"/>
                </a:solidFill>
              </a:rPr>
              <a:t>Read as sensitivity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AF96F6-0662-4DF5-9231-21CD1AFB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E72B89-A325-447A-B580-272AE839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Which predictors changed predictions most?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2DF97C-BA35-47F2-A5F6-52331F898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3718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78F19E-B71C-4996-AEAA-A9559853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Do GLM, GBM, and RF agree?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197B7-87F4-4F13-847F-2E164388F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114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7FE60-29CA-45E5-93C6-F946C185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19550"/>
            <a:ext cx="320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Could this be ecology, sampling, or correlation among predictors?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ECF09D-8DE2-4BAE-90F2-2366FAA7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9398111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62E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F9DE7-9E88-499A-8693-EF2D8B0B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B9DCDC"/>
                </a:solidFill>
              </a:defRPr>
            </a:pPr>
            <a:r>
              <a:rPr sz="825" b="1" i="0">
                <a:solidFill>
                  <a:srgbClr val="B9DCDC"/>
                </a:solidFill>
              </a:rPr>
              <a:t>ENSEMBLE MODELLING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7D7710-AB34-40E5-B2CA-CAEB544B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A6260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FCD8D5-81B4-4162-98CE-491941A2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A7C8C4"/>
                </a:solidFill>
              </a:defRPr>
            </a:pPr>
            <a:r>
              <a:rPr sz="825" b="0" i="0">
                <a:solidFill>
                  <a:srgbClr val="A7C8C4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D73C20-2D0B-4C93-99EE-D9ED2697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990600"/>
            <a:ext cx="7810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FFFFF"/>
                </a:solidFill>
              </a:defRPr>
            </a:pPr>
            <a:r>
              <a:rPr sz="3000" b="1" i="0">
                <a:solidFill>
                  <a:srgbClr val="FFFFFF"/>
                </a:solidFill>
              </a:rPr>
              <a:t>The ensemble is a disciplined summary of disagreement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F96B9A-E2F9-4CF5-8CA1-1DB3FCB6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33600"/>
            <a:ext cx="704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D7E9E4"/>
                </a:solidFill>
              </a:defRPr>
            </a:pPr>
            <a:r>
              <a:rPr sz="1575" b="0" i="0">
                <a:solidFill>
                  <a:srgbClr val="D7E9E4"/>
                </a:solidFill>
              </a:rPr>
              <a:t>A mean ensemble reduces the map set; a weighted mean lets better-scoring models contribute more.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577D2-76C0-4793-A9E2-C7926E0A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04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7FC7C9"/>
                </a:solidFill>
              </a:defRPr>
            </a:pPr>
            <a:r>
              <a:rPr sz="2250" b="1" i="0">
                <a:solidFill>
                  <a:srgbClr val="7FC7C9"/>
                </a:solidFill>
              </a:rPr>
              <a:t>GLM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35E19-2CF7-4BE9-AC82-7D6144DE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243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2C879"/>
                </a:solidFill>
              </a:defRPr>
            </a:pPr>
            <a:r>
              <a:rPr sz="2250" b="1" i="0">
                <a:solidFill>
                  <a:srgbClr val="F2C879"/>
                </a:solidFill>
              </a:rPr>
              <a:t>GBM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D287F7-17A4-4311-9410-65C4194B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48250"/>
            <a:ext cx="95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B7D57A"/>
                </a:solidFill>
              </a:defRPr>
            </a:pPr>
            <a:r>
              <a:rPr sz="2250" b="1" i="0">
                <a:solidFill>
                  <a:srgbClr val="B7D57A"/>
                </a:solidFill>
              </a:rPr>
              <a:t>RF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EAEB22-B8D2-45CE-B723-7EC726D6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3053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DA67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870CA6-5A56-428A-9BD8-A99624B0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481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EMmean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F3522-1FCB-484E-A2C0-C293B2529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0530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B9DCDC"/>
                </a:solidFill>
              </a:defRPr>
            </a:pPr>
            <a:r>
              <a:rPr sz="1500" b="0" i="0">
                <a:solidFill>
                  <a:srgbClr val="B9DCDC"/>
                </a:solidFill>
              </a:rPr>
              <a:t>average prediction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BE4279-CB46-4EDF-865F-5D2ECCF3D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48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EMwmean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31FF2-B6B8-4C3F-8398-A1BF4829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053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 i="0">
                <a:solidFill>
                  <a:srgbClr val="B9DCDC"/>
                </a:solidFill>
              </a:defRPr>
            </a:pPr>
            <a:r>
              <a:rPr sz="1500" b="0" i="0">
                <a:solidFill>
                  <a:srgbClr val="B9DCDC"/>
                </a:solidFill>
              </a:rPr>
              <a:t>performance-weighted prediction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DDED26-513A-4DA4-84F4-23339250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87AAA5"/>
                </a:solidFill>
              </a:defRPr>
            </a:pPr>
            <a:r>
              <a:rPr sz="675" b="0" i="0">
                <a:solidFill>
                  <a:srgbClr val="87AAA5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5111517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D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34FC8-0AA0-4FBB-AFC5-49E3A0F45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PROJECTION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152504-347B-4248-A23D-26202885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1EB6A-11A8-40A6-83DC-AEF66177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9D40F-575F-451C-8B1D-599365490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Projection makes model choices visible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8b0cf7c9ee4229"/>
          <a:stretch xmlns:a="http://schemas.openxmlformats.org/drawingml/2006/main"/>
        </p:blipFill>
        <p:spPr>
          <a:xfrm xmlns:a="http://schemas.openxmlformats.org/drawingml/2006/main">
            <a:off x="944336" y="1714500"/>
            <a:ext cx="4245429" cy="37147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9c7d16f25544a0"/>
          <a:stretch xmlns:a="http://schemas.openxmlformats.org/drawingml/2006/main"/>
        </p:blipFill>
        <p:spPr>
          <a:xfrm xmlns:a="http://schemas.openxmlformats.org/drawingml/2006/main">
            <a:off x="7021286" y="1714500"/>
            <a:ext cx="4245429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0DA823-8CE4-49FF-BCBA-A2FE81BFD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676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E6E73"/>
                </a:solidFill>
              </a:defRPr>
            </a:pPr>
            <a:r>
              <a:rPr sz="1500" b="1" i="0">
                <a:solidFill>
                  <a:srgbClr val="0E6E73"/>
                </a:solidFill>
              </a:rPr>
              <a:t>individual model average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97F975-CF5F-4750-8723-16E16F57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676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0E6E73"/>
                </a:solidFill>
              </a:defRPr>
            </a:pPr>
            <a:r>
              <a:rPr sz="1500" b="1" i="0">
                <a:solidFill>
                  <a:srgbClr val="0E6E73"/>
                </a:solidFill>
              </a:rPr>
              <a:t>ensemble projection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1B7BE6-5932-4CD4-BEA4-DDE7B50F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17711236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CE4726-D56C-4C3C-8DD7-6CB789A4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0E6E73"/>
                </a:solidFill>
              </a:defRPr>
            </a:pPr>
            <a:r>
              <a:rPr sz="825" b="1" i="0">
                <a:solidFill>
                  <a:srgbClr val="0E6E73"/>
                </a:solidFill>
              </a:rPr>
              <a:t>CLOSING 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E99CA0-5717-4638-B085-CC0DFDCF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2C6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E9DC0A-993B-4DD5-A31C-04502B4F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005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0" i="0">
                <a:solidFill>
                  <a:srgbClr val="60706B"/>
                </a:solidFill>
              </a:defRPr>
            </a:pPr>
            <a:r>
              <a:rPr sz="825" b="0" i="0">
                <a:solidFill>
                  <a:srgbClr val="60706B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F24EC-09D3-43D4-8B44-2B324E8E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723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0231F"/>
                </a:solidFill>
              </a:defRPr>
            </a:pPr>
            <a:r>
              <a:rPr sz="3000" b="1" i="0">
                <a:solidFill>
                  <a:srgbClr val="10231F"/>
                </a:solidFill>
              </a:rPr>
              <a:t>A good SDM should sharpen the next conversation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79a4409fe44f6d"/>
          <a:stretch xmlns:a="http://schemas.openxmlformats.org/drawingml/2006/main"/>
        </p:blipFill>
        <p:spPr>
          <a:xfrm xmlns:a="http://schemas.openxmlformats.org/drawingml/2006/main">
            <a:off x="742950" y="1706166"/>
            <a:ext cx="4286250" cy="375046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935A9D-AED3-488A-9CE0-28452E96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9545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D96445"/>
                </a:solidFill>
              </a:defRPr>
            </a:pPr>
            <a:r>
              <a:rPr sz="2250" b="1" i="0">
                <a:solidFill>
                  <a:srgbClr val="D96445"/>
                </a:solidFill>
              </a:rPr>
              <a:t>Before acting on a map, ask: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6EF74-34AE-4E34-AC9B-17153BC6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4955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7DA1EA-2227-485A-92BE-83FBA20D6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003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is suitability high or low?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AD975-71D5-4D18-B498-9FF64613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480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D06CAA-576D-4DEA-8560-F5AAC078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527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are the data thin?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7AAD51-C16A-48BF-A5B9-BD4891B1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004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3826DA-B1C7-443D-817A-6A9279B08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052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Where might sampling bias dominate?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DD6E79-1170-46E8-B477-EFE6DED7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1529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95CC1-6384-47CA-83FA-359A38A32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5765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Which predictor story is plausible?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E5511-0BD7-4380-82EC-25734CD9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705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E27940-4F78-44D4-8C37-00D06356C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610100"/>
            <a:ext cx="3867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10231F"/>
                </a:solidFill>
              </a:defRPr>
            </a:pPr>
            <a:r>
              <a:rPr sz="1575" b="0" i="0">
                <a:solidFill>
                  <a:srgbClr val="10231F"/>
                </a:solidFill>
              </a:rPr>
              <a:t>What dengue surveillance data would you add?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B3D8B3-FB67-4632-AF88-DC7AC337A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340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0E6E73"/>
                </a:solidFill>
              </a:defRPr>
            </a:pPr>
            <a:r>
              <a:rPr sz="2250" b="1" i="0">
                <a:solidFill>
                  <a:srgbClr val="0E6E73"/>
                </a:solidFill>
              </a:rPr>
              <a:t>Now we build it line by line in 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AD30D0-4B87-4808-BBA3-28457241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9A948B"/>
                </a:solidFill>
              </a:defRPr>
            </a:pPr>
            <a:r>
              <a:rPr sz="675" b="0" i="0">
                <a:solidFill>
                  <a:srgbClr val="9A948B"/>
                </a:solidFill>
              </a:rPr>
              <a:t>Species distribution modelling workshop</a:t>
            </a:r>
          </a:p>
        </p:txBody>
      </p:sp>
    </p:spTree>
    <p:extLst>
      <p:ext uri="{BB962C8B-B14F-4D97-AF65-F5344CB8AC3E}">
        <p14:creationId xmlns:p14="http://schemas.microsoft.com/office/powerpoint/2010/main" val="8825813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2026-07-27T13:13:18.4660000Z</dcterms:created>
  <dcterms:modified xsi:type="dcterms:W3CDTF">2026-07-27T13:13:18.4660000Z</dcterms:modified>
</coreProperties>
</file>