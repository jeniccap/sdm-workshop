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1aa8f2616a4746" /><Relationship Type="http://schemas.openxmlformats.org/officeDocument/2006/relationships/extended-properties" Target="/docProps/app.xml" Id="Rc3519b5f6bd34990" /><Relationship Type="http://schemas.openxmlformats.org/officeDocument/2006/relationships/officeDocument" Target="/ppt/presentation.xml" Id="R3d318cd6be6d4a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8161e451844c5f"/>
  </p:sldMasterIdLst>
  <p:notesMasterIdLst>
    <p:notesMasterId xmlns:r="http://schemas.openxmlformats.org/officeDocument/2006/relationships" r:id="Rb115892b809143ac"/>
  </p:notesMasterIdLst>
  <p:sldIdLst>
    <p:sldId xmlns:r="http://schemas.openxmlformats.org/officeDocument/2006/relationships" id="256" r:id="Re0319f4d8ac4409c"/>
    <p:sldId xmlns:r="http://schemas.openxmlformats.org/officeDocument/2006/relationships" id="257" r:id="Rd9d4504eb5874078"/>
    <p:sldId xmlns:r="http://schemas.openxmlformats.org/officeDocument/2006/relationships" id="258" r:id="R3481b8ed67f34afb"/>
    <p:sldId xmlns:r="http://schemas.openxmlformats.org/officeDocument/2006/relationships" id="259" r:id="R41bf856b99174004"/>
    <p:sldId xmlns:r="http://schemas.openxmlformats.org/officeDocument/2006/relationships" id="260" r:id="R30bd3f3aec7249ca"/>
    <p:sldId xmlns:r="http://schemas.openxmlformats.org/officeDocument/2006/relationships" id="261" r:id="R963a4c172dfa4bb8"/>
    <p:sldId xmlns:r="http://schemas.openxmlformats.org/officeDocument/2006/relationships" id="262" r:id="R8034f53d6bb942fb"/>
    <p:sldId xmlns:r="http://schemas.openxmlformats.org/officeDocument/2006/relationships" id="263" r:id="R1b0d8aba24854589"/>
    <p:sldId xmlns:r="http://schemas.openxmlformats.org/officeDocument/2006/relationships" id="264" r:id="Re2a93b2d01ba4501"/>
    <p:sldId xmlns:r="http://schemas.openxmlformats.org/officeDocument/2006/relationships" id="265" r:id="R01f8dc5af56c4e35"/>
    <p:sldId xmlns:r="http://schemas.openxmlformats.org/officeDocument/2006/relationships" id="266" r:id="Rc654ee032b6c4e41"/>
    <p:sldId xmlns:r="http://schemas.openxmlformats.org/officeDocument/2006/relationships" id="267" r:id="Raf31625111d446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dccb108a2446f9" /><Relationship Type="http://schemas.openxmlformats.org/officeDocument/2006/relationships/slideMaster" Target="/ppt/slideMasters/slideMaster1.xml" Id="Rcf8161e451844c5f" /><Relationship Type="http://schemas.openxmlformats.org/officeDocument/2006/relationships/notesMaster" Target="/ppt/notesMasters/notesMaster1.xml" Id="Rb115892b809143ac" /><Relationship Type="http://schemas.openxmlformats.org/officeDocument/2006/relationships/presProps" Target="/ppt/presProps.xml" Id="R6ede3a3d387b4099" /><Relationship Type="http://schemas.openxmlformats.org/officeDocument/2006/relationships/tableStyles" Target="/ppt/tableStyles.xml" Id="R68c3322e3946427f" /><Relationship Type="http://schemas.openxmlformats.org/officeDocument/2006/relationships/slide" Target="/ppt/slides/slide1.xml" Id="Re0319f4d8ac4409c" /><Relationship Type="http://schemas.openxmlformats.org/officeDocument/2006/relationships/slide" Target="/ppt/slides/slide2.xml" Id="Rd9d4504eb5874078" /><Relationship Type="http://schemas.openxmlformats.org/officeDocument/2006/relationships/slide" Target="/ppt/slides/slide3.xml" Id="R3481b8ed67f34afb" /><Relationship Type="http://schemas.openxmlformats.org/officeDocument/2006/relationships/slide" Target="/ppt/slides/slide4.xml" Id="R41bf856b99174004" /><Relationship Type="http://schemas.openxmlformats.org/officeDocument/2006/relationships/slide" Target="/ppt/slides/slide5.xml" Id="R30bd3f3aec7249ca" /><Relationship Type="http://schemas.openxmlformats.org/officeDocument/2006/relationships/slide" Target="/ppt/slides/slide6.xml" Id="R963a4c172dfa4bb8" /><Relationship Type="http://schemas.openxmlformats.org/officeDocument/2006/relationships/slide" Target="/ppt/slides/slide7.xml" Id="R8034f53d6bb942fb" /><Relationship Type="http://schemas.openxmlformats.org/officeDocument/2006/relationships/slide" Target="/ppt/slides/slide8.xml" Id="R1b0d8aba24854589" /><Relationship Type="http://schemas.openxmlformats.org/officeDocument/2006/relationships/slide" Target="/ppt/slides/slide9.xml" Id="Re2a93b2d01ba4501" /><Relationship Type="http://schemas.openxmlformats.org/officeDocument/2006/relationships/slide" Target="/ppt/slides/slide10.xml" Id="R01f8dc5af56c4e35" /><Relationship Type="http://schemas.openxmlformats.org/officeDocument/2006/relationships/slide" Target="/ppt/slides/slide11.xml" Id="Rc654ee032b6c4e41" /><Relationship Type="http://schemas.openxmlformats.org/officeDocument/2006/relationships/slide" Target="/ppt/slides/slide12.xml" Id="Raf31625111d446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6883450d0d46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a602c33d4c49f9" /><Relationship Type="http://schemas.openxmlformats.org/officeDocument/2006/relationships/notesMaster" Target="/ppt/notesMasters/notesMaster1.xml" Id="R9e7a2dda9b4545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dfe0d21f7643bb" /><Relationship Type="http://schemas.openxmlformats.org/officeDocument/2006/relationships/notesMaster" Target="/ppt/notesMasters/notesMaster1.xml" Id="Rb794959af4344e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752a962c1a474a" /><Relationship Type="http://schemas.openxmlformats.org/officeDocument/2006/relationships/notesMaster" Target="/ppt/notesMasters/notesMaster1.xml" Id="R1e8a10a2a8a64d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661303e6f2476d" /><Relationship Type="http://schemas.openxmlformats.org/officeDocument/2006/relationships/notesMaster" Target="/ppt/notesMasters/notesMaster1.xml" Id="R5369185eb23247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dca9ff128545d8" /><Relationship Type="http://schemas.openxmlformats.org/officeDocument/2006/relationships/notesMaster" Target="/ppt/notesMasters/notesMaster1.xml" Id="Re55a1ad2d5a14d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6d1b00eaf74804" /><Relationship Type="http://schemas.openxmlformats.org/officeDocument/2006/relationships/notesMaster" Target="/ppt/notesMasters/notesMaster1.xml" Id="Rac2501ce7b3044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f001cc0add49a8" /><Relationship Type="http://schemas.openxmlformats.org/officeDocument/2006/relationships/notesMaster" Target="/ppt/notesMasters/notesMaster1.xml" Id="R7413f07d0a694f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08f1a981db4cb5" /><Relationship Type="http://schemas.openxmlformats.org/officeDocument/2006/relationships/notesMaster" Target="/ppt/notesMasters/notesMaster1.xml" Id="R03866b911bc844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3d4d7ee24742db" /><Relationship Type="http://schemas.openxmlformats.org/officeDocument/2006/relationships/notesMaster" Target="/ppt/notesMasters/notesMaster1.xml" Id="Rfa01e07f7d5b4e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7bc2f72642450b" /><Relationship Type="http://schemas.openxmlformats.org/officeDocument/2006/relationships/notesMaster" Target="/ppt/notesMasters/notesMaster1.xml" Id="R93be624ac0e24a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23c866665a43c2" /><Relationship Type="http://schemas.openxmlformats.org/officeDocument/2006/relationships/notesMaster" Target="/ppt/notesMasters/notesMaster1.xml" Id="R829fbc9870a34e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fa97a9c5044771" /><Relationship Type="http://schemas.openxmlformats.org/officeDocument/2006/relationships/notesMaster" Target="/ppt/notesMasters/notesMaster1.xml" Id="Reb6366a734534c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positioning the session as applied modelling, not a general SDM survey.</a:t>
            </a:r>
          </a:p>
          <a:p xmlns:a="http://schemas.openxmlformats.org/drawingml/2006/main">
            <a:r>
              <a:t>[Sources] Workshop-generated ensemble suitability map; workflow based on workshop R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prevent overclaiming before any map appears.</a:t>
            </a:r>
          </a:p>
          <a:p xmlns:a="http://schemas.openxmlformats.org/drawingml/2006/main">
            <a:r>
              <a:t>[Sources] Workshop scope; infectious disease interpretation framed by vector SDM 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bridge from old lecture's geography/environmental-space framing to the live code.</a:t>
            </a:r>
          </a:p>
          <a:p xmlns:a="http://schemas.openxmlformats.org/drawingml/2006/main">
            <a:r>
              <a:t>[Sources] Concept adapted from Lecture1_12Juin17.pdf pages 57-58; workshop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data caveat feel professional rather than apologetic.</a:t>
            </a:r>
          </a:p>
          <a:p xmlns:a="http://schemas.openxmlformats.org/drawingml/2006/main">
            <a:r>
              <a:t>[Sources] Workshop GBIF data and cleaned occurrence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predictor choice to beginner-friendly modelling and interpretation.</a:t>
            </a:r>
          </a:p>
          <a:p xmlns:a="http://schemas.openxmlformats.org/drawingml/2006/main">
            <a:r>
              <a:t>[Sources] Workshop environmental raster generated from WorldClim-derived cached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prepares participants for BIOMOD_FormatingData arguments.</a:t>
            </a:r>
          </a:p>
          <a:p xmlns:a="http://schemas.openxmlformats.org/drawingml/2006/main">
            <a:r>
              <a:t>[Sources] Pseudo-absence concept adapted from Lecture1_12Juin17.pdf pages 106-109; biomod2 workflow in workshop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to explain why the workshop runs GLM, GBM, and RF.</a:t>
            </a:r>
          </a:p>
          <a:p xmlns:a="http://schemas.openxmlformats.org/drawingml/2006/main">
            <a:r>
              <a:t>[Sources] Algorithm framing adapted from Lecture1_12Juin17.pdf pages 45-56; workshop script models_to_run.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evaluation conceptual and directly connected to metric.eval in the R code.</a:t>
            </a:r>
          </a:p>
          <a:p xmlns:a="http://schemas.openxmlformats.org/drawingml/2006/main">
            <a:r>
              <a:t>[Sources] Evaluation concepts adapted from Lecture1_12Juin17.pdf pages 59-74.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bridge from model fitting to interpretation.</a:t>
            </a:r>
          </a:p>
          <a:p xmlns:a="http://schemas.openxmlformats.org/drawingml/2006/main">
            <a:r>
              <a:t>[Sources] Workshop-generated variable importance plot from biomod2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two ensemble algorithms used in the script without getting buried in parameters.</a:t>
            </a:r>
          </a:p>
          <a:p xmlns:a="http://schemas.openxmlformats.org/drawingml/2006/main">
            <a:r>
              <a:t>[Sources] Ensemble modelling concepts adapted from Lecture1_12Juin17.pdf pages 79-84; workshop script BIOMOD_EnsembleModeling.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connect BIOMOD_Projection and BIOMOD_EnsembleForecasting to the exported maps.</a:t>
            </a:r>
          </a:p>
          <a:p xmlns:a="http://schemas.openxmlformats.org/drawingml/2006/main">
            <a:r>
              <a:t>[Sources] Workshop-generated suitability and ensemble suitability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presentation by handing control to the live script.</a:t>
            </a:r>
          </a:p>
          <a:p xmlns:a="http://schemas.openxmlformats.org/drawingml/2006/main">
            <a:r>
              <a:t>[Sources] Workshop model output and interpretation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eac1f214346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ba3e4e55f84c6d" /><Relationship Type="http://schemas.openxmlformats.org/officeDocument/2006/relationships/slideLayout" Target="/ppt/slideLayouts/slideLayout1.xml" Id="Rf1c673feca3844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c673feca3844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89dd6f0de42c6" /><Relationship Type="http://schemas.openxmlformats.org/officeDocument/2006/relationships/image" Target="/ppt/media/image.png" Id="R751ef501880846ea" /><Relationship Type="http://schemas.openxmlformats.org/officeDocument/2006/relationships/notesSlide" Target="/ppt/notesSlides/notesSlide1.xml" Id="R6657fc7c21654c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40bdb4ea048ab" /><Relationship Type="http://schemas.openxmlformats.org/officeDocument/2006/relationships/notesSlide" Target="/ppt/notesSlides/notesSlide2.xml" Id="R0c221c66825745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74116fa744006" /><Relationship Type="http://schemas.openxmlformats.org/officeDocument/2006/relationships/image" Target="/ppt/media/image2.png" Id="R86fd627a04c94dcc" /><Relationship Type="http://schemas.openxmlformats.org/officeDocument/2006/relationships/image" Target="/ppt/media/image3.png" Id="R0c67829a73e0495e" /><Relationship Type="http://schemas.openxmlformats.org/officeDocument/2006/relationships/notesSlide" Target="/ppt/notesSlides/notesSlide3.xml" Id="R0c39c9808a4f45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694b6b36e4a2a" /><Relationship Type="http://schemas.openxmlformats.org/officeDocument/2006/relationships/image" Target="/ppt/media/image4.png" Id="R3621369227834b03" /><Relationship Type="http://schemas.openxmlformats.org/officeDocument/2006/relationships/notesSlide" Target="/ppt/notesSlides/notesSlide4.xml" Id="R7600bdf84a7248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ce2f77d4346f5" /><Relationship Type="http://schemas.openxmlformats.org/officeDocument/2006/relationships/image" Target="/ppt/media/image5.png" Id="Rff5413f2f43d4a35" /><Relationship Type="http://schemas.openxmlformats.org/officeDocument/2006/relationships/notesSlide" Target="/ppt/notesSlides/notesSlide5.xml" Id="Rf9687039541346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88f20e47a4e5e" /><Relationship Type="http://schemas.openxmlformats.org/officeDocument/2006/relationships/notesSlide" Target="/ppt/notesSlides/notesSlide6.xml" Id="R3f1b7fc724e643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af00aa9a34f8b" /><Relationship Type="http://schemas.openxmlformats.org/officeDocument/2006/relationships/notesSlide" Target="/ppt/notesSlides/notesSlide7.xml" Id="Reea0b827686f4e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8bdb77e0b45dc" /><Relationship Type="http://schemas.openxmlformats.org/officeDocument/2006/relationships/notesSlide" Target="/ppt/notesSlides/notesSlide8.xml" Id="Rc73ac049bdd243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40ef79a4d4178" /><Relationship Type="http://schemas.openxmlformats.org/officeDocument/2006/relationships/image" Target="/ppt/media/image6.png" Id="Rede35b005db94a9a" /><Relationship Type="http://schemas.openxmlformats.org/officeDocument/2006/relationships/notesSlide" Target="/ppt/notesSlides/notesSlide9.xml" Id="Rfa5ad6937c6347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e7f7b73394f34" /><Relationship Type="http://schemas.openxmlformats.org/officeDocument/2006/relationships/notesSlide" Target="/ppt/notesSlides/notesSlide10.xml" Id="R4355777bd9f145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025589a594da0" /><Relationship Type="http://schemas.openxmlformats.org/officeDocument/2006/relationships/image" Target="/ppt/media/image7.png" Id="R2d01fca2ce854862" /><Relationship Type="http://schemas.openxmlformats.org/officeDocument/2006/relationships/image" Target="/ppt/media/image8.png" Id="Re43900270f1b4a19" /><Relationship Type="http://schemas.openxmlformats.org/officeDocument/2006/relationships/notesSlide" Target="/ppt/notesSlides/notesSlide11.xml" Id="R5ae1c418e2084f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bf15149ecd4772" /><Relationship Type="http://schemas.openxmlformats.org/officeDocument/2006/relationships/image" Target="/ppt/media/image9.png" Id="Rd3c9f8f68e1d40e8" /><Relationship Type="http://schemas.openxmlformats.org/officeDocument/2006/relationships/notesSlide" Target="/ppt/notesSlides/notesSlide12.xml" Id="R4ed8d84066a848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ef501880846ea"/>
          <a:stretch xmlns:a="http://schemas.openxmlformats.org/drawingml/2006/main"/>
        </p:blipFill>
        <p:spPr>
          <a:xfrm xmlns:a="http://schemas.openxmlformats.org/drawingml/2006/main">
            <a:off x="6134100" y="1033463"/>
            <a:ext cx="4953000" cy="4333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AE12B-B563-476D-851A-C2D48049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FFAFC-C027-4C29-AC47-442FA434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Aedes aegypti</a:t>
            </a:r>
          </a:p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suitability</a:t>
            </a:r>
          </a:p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FDC1A-8DA9-493C-B323-ED9A3AA0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A compact R workshop for infectious disease researchers: from GBIF records to biomod2 ensembles.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76DB2-5E91-4FEE-A263-CB5BADEB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DA6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9256D-D209-42E0-924B-05763F44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3D2B3"/>
                </a:solidFill>
              </a:defRPr>
            </a:pPr>
            <a:r>
              <a:rPr sz="1425" b="1" i="0">
                <a:solidFill>
                  <a:srgbClr val="F3D2B3"/>
                </a:solidFill>
              </a:rPr>
              <a:t>Brazil | GBIF | WorldClim | GLM, GBM, RF</a:t>
            </a:r>
          </a:p>
        </p:txBody>
      </p:sp>
    </p:spTree>
    <p:extLst>
      <p:ext uri="{BB962C8B-B14F-4D97-AF65-F5344CB8AC3E}">
        <p14:creationId xmlns:p14="http://schemas.microsoft.com/office/powerpoint/2010/main" val="1363283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5BAA1-C2EA-4215-A59F-42D20FE7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62C75-C44E-4FCA-B3A0-49FD8AC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D09BEF-24D1-4AE1-AD2B-371C75D5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42D97-7BBD-4764-973E-DD50B023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The model answers a narrower question than dengue 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8A7DC-2ED1-4A8E-B143-EC657536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590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For the workshop, we estimate where climate conditions are consistent with recorded Aedes aegypti occurrence.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AEF45-AB95-4858-AB23-8A1F9BA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64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5C0F6-51F5-4C21-AE5F-46AE6E0F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E6E73"/>
                </a:solidFill>
              </a:defRPr>
            </a:pPr>
            <a:r>
              <a:rPr sz="2100" b="1" i="0">
                <a:solidFill>
                  <a:srgbClr val="0E6E73"/>
                </a:solidFill>
              </a:rPr>
              <a:t>Vector suitability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BE917-C054-4238-836E-D8E6439D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Environmental conditions that could support the mosquito.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4FF1C-2082-4737-A5DE-9B68C372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829050"/>
            <a:ext cx="8191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580188-C5CD-4CFA-AC65-ED097261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D96445"/>
                </a:solidFill>
              </a:defRPr>
            </a:pPr>
            <a:r>
              <a:rPr sz="2100" b="1" i="0">
                <a:solidFill>
                  <a:srgbClr val="D96445"/>
                </a:solidFill>
              </a:rPr>
              <a:t>Dengue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E12D9-E73C-42DD-8B9F-80D83AF9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381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Also depends on people, virus circulation, immunity, housing, surveillance, and interventions.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45515-AAEC-4A57-B603-E21DE218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7548560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1ED76-1E3F-473D-A052-F0196A4C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D787D-F872-45C9-B15B-CABADB1A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6EBC0-2A70-4658-8F8A-6C87AA26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CE64F-30A5-4A7D-8A01-6E5C6CE4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SDMs translate a geographic pattern into environmental 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CDE70-2448-4F23-8FB4-96A73250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The algorithm does not know the biology. It sees locations, predictor values, and a modelling design.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d627a04c94dcc"/>
          <a:stretch xmlns:a="http://schemas.openxmlformats.org/drawingml/2006/main"/>
        </p:blipFill>
        <p:spPr>
          <a:xfrm xmlns:a="http://schemas.openxmlformats.org/drawingml/2006/main">
            <a:off x="1009650" y="28956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FE18E-01D4-4062-AE23-A9F4E0A8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E6E73"/>
                </a:solidFill>
              </a:defRPr>
            </a:pPr>
            <a:r>
              <a:rPr sz="1350" b="1" i="0">
                <a:solidFill>
                  <a:srgbClr val="0E6E73"/>
                </a:solidFill>
              </a:rPr>
              <a:t>geographic observations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47C06-55A4-446D-B2CB-66126F19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0386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089DC-FE8E-4F63-A531-507EE95B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6"/>
          </a:solidFill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0A69C-97D1-4ADC-90B5-977E4494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71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0231F"/>
                </a:solidFill>
              </a:defRPr>
            </a:pPr>
            <a:r>
              <a:rPr sz="1875" b="1" i="0">
                <a:solidFill>
                  <a:srgbClr val="10231F"/>
                </a:solidFill>
              </a:rPr>
              <a:t>predictor values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19755-851B-4A41-8EE3-1D73536D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42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temperature</a:t>
            </a:r>
          </a:p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rainfall</a:t>
            </a:r>
          </a:p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2978D-2BFF-447D-AA23-30CEC73F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7829a73e0495e"/>
          <a:stretch xmlns:a="http://schemas.openxmlformats.org/drawingml/2006/main"/>
        </p:blipFill>
        <p:spPr>
          <a:xfrm xmlns:a="http://schemas.openxmlformats.org/drawingml/2006/main">
            <a:off x="9029700" y="3139678"/>
            <a:ext cx="2381250" cy="208359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9F9E9-86C5-4205-9900-CB183B0C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19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E6E73"/>
                </a:solidFill>
              </a:defRPr>
            </a:pPr>
            <a:r>
              <a:rPr sz="1350" b="1" i="0">
                <a:solidFill>
                  <a:srgbClr val="0E6E73"/>
                </a:solidFill>
              </a:rPr>
              <a:t>projected suitability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5D6C9-DDA1-4BCE-92B2-03BDD6C4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20085649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3FDCF-8B03-4927-8368-2C0184A7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36814-E68D-455A-8C4A-8DE7721C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27B63-4023-4FCE-AEF6-09748E59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115A9-AD3C-4C89-B863-B949322A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Occurrence records are evidence, but not a sampling design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1369227834b03"/>
          <a:stretch xmlns:a="http://schemas.openxmlformats.org/drawingml/2006/main"/>
        </p:blipFill>
        <p:spPr>
          <a:xfrm xmlns:a="http://schemas.openxmlformats.org/drawingml/2006/main">
            <a:off x="6715125" y="1114425"/>
            <a:ext cx="4000500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12AB0-3BD4-4861-853E-72466EAA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0231F"/>
                </a:solidFill>
              </a:defRPr>
            </a:pPr>
            <a:r>
              <a:rPr sz="2025" b="1" i="0">
                <a:solidFill>
                  <a:srgbClr val="10231F"/>
                </a:solidFill>
              </a:rPr>
              <a:t>GBIF gives us reach and reuse. It does not give us equal effort, perfect coordinates, or true absences.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49E64-F5F3-4523-8F0F-11C8EBA0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D9C2B-BA79-4D24-A4ED-51EDB0E8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Remove missing and impossible coordinates.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F09DA-AF30-45D3-B787-1603C3C6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BBE0B-14E2-4864-A240-F941B008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Thin duplicate records inside raster cells.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65568-2E64-4DF5-B069-7E895B4E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D29AE-7087-4C16-9E1E-AD6F85EF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Keep a cached clean file so the workshop runs.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8EAB5C-657C-4FDD-BE30-0F8238FE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3226D-D551-4A16-BAE5-3D79225B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720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Interpret dense points as sampling effort and occurrence.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D8F73-FC2E-4A9D-A782-97BD15DD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4603881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BD5AA-C69D-449B-A815-12F30E05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D9531-D16C-4341-8F32-6A883CF8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2F36D-B6A4-4ECC-87E5-6B2E634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61DB3-934D-4F0A-95FD-D0408A6F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Predictors define the environmental lens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5413f2f43d4a35"/>
          <a:stretch xmlns:a="http://schemas.openxmlformats.org/drawingml/2006/main"/>
        </p:blipFill>
        <p:spPr>
          <a:xfrm xmlns:a="http://schemas.openxmlformats.org/drawingml/2006/main">
            <a:off x="1162050" y="1657350"/>
            <a:ext cx="3714750" cy="3714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8E5F1-FB38-4767-89A6-9324219D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4000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0231F"/>
                </a:solidFill>
              </a:defRPr>
            </a:pPr>
            <a:r>
              <a:rPr sz="2025" b="1" i="0">
                <a:solidFill>
                  <a:srgbClr val="10231F"/>
                </a:solidFill>
              </a:rPr>
              <a:t>We deliberately use four predictors: enough to demonstrate the workflow, few enough to understand the model behaviour.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6EA16-5185-4188-9FCB-DFE00CF2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95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64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3ADC3-4C4D-49A2-8681-8535F150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4000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annual mean temperature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temperature seasonality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annual precipitation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precipitation seasonality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6C140-D611-4752-8B84-C8B27020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14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1">
                <a:solidFill>
                  <a:srgbClr val="0E6E73"/>
                </a:solidFill>
              </a:defRPr>
            </a:pPr>
            <a:r>
              <a:rPr sz="1425" b="0" i="1">
                <a:solidFill>
                  <a:srgbClr val="0E6E73"/>
                </a:solidFill>
              </a:rPr>
              <a:t>Teaching point: fewer variables make the first model easier to inspect.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DB867-AC01-4FCF-BA45-9EACB51E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4204344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611AC-D1FD-420A-9750-58B4B5C8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DCDC"/>
                </a:solidFill>
              </a:defRPr>
            </a:pPr>
            <a:r>
              <a:rPr sz="825" b="1" i="0">
                <a:solidFill>
                  <a:srgbClr val="B9DCDC"/>
                </a:solidFill>
              </a:rPr>
              <a:t>MODELLING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08B21-5248-4DBD-A91D-26F8264F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626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C31BB-7C3F-4EB9-9648-50B912E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A7C8C4"/>
                </a:solidFill>
              </a:defRPr>
            </a:pPr>
            <a:r>
              <a:rPr sz="825" b="0" i="0">
                <a:solidFill>
                  <a:srgbClr val="A7C8C4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DFD4B-10D4-40D7-B813-3D6A2D2D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Presence-only data force a modelling 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1528C-AEC6-4CA6-ADB6-4CA1C1CD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Pseudo-absences are comparison points. They are not confirmed places where Aedes aegypti is absent.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C5B37-2D58-43BB-A009-169F3854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DA6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AD5C9-9C50-484D-AF11-4C565521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presence 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08BB-3AD4-4D04-B136-35950A3D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known points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7EFFC-D997-4CF4-8D50-7E5143BF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7620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C1693-B423-43E1-A610-1AF4CC62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33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pseudo-absences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78848-F789-468B-B185-F4D12B40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background contrast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CA14D-DEF9-4FC3-BEFB-E3F7C78E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05250"/>
            <a:ext cx="7620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21BEE-9665-4168-8E48-0C827A6D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338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biomod2 formatted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F0563-7DD9-4726-8FD0-DCAD928E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1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ready for algorithms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76693-CFE8-40D0-AD61-B470E3E9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87AAA5"/>
                </a:solidFill>
              </a:defRPr>
            </a:pPr>
            <a:r>
              <a:rPr sz="675" b="0" i="0">
                <a:solidFill>
                  <a:srgbClr val="87AAA5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4754784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D96BF-F363-4C07-A37D-9A3C8B70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ALGORITHMS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8938F-4475-4584-8849-A37095B1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0AF72-1A1D-45FF-8538-49AEB212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0430C-32FB-44ED-8A53-28C3D34B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The three example algorithms bring different biases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7EBFE-4A9B-49CC-956F-F9C357DA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The goal is not to crown a winner. It is to see how modelling assumptions affect predictions.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8162C-F0BF-4B01-AC89-72170745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2CAEB-497B-4D63-97AD-608A1EFF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E6E73"/>
                </a:solidFill>
              </a:defRPr>
            </a:pPr>
            <a:r>
              <a:rPr sz="3600" b="1" i="0">
                <a:solidFill>
                  <a:srgbClr val="0E6E73"/>
                </a:solidFill>
              </a:rPr>
              <a:t>GLM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D986A-66B4-4960-9F50-DC585C54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transparent statistical trend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2FC7B-BA45-4B63-B914-3B51347B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simpler shape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69F29-78BD-4805-AF94-AD1CB383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D96445"/>
                </a:solidFill>
              </a:defRPr>
            </a:pPr>
            <a:r>
              <a:rPr sz="3600" b="1" i="0">
                <a:solidFill>
                  <a:srgbClr val="D96445"/>
                </a:solidFill>
              </a:rPr>
              <a:t>GBM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E45CA-9ED2-40B4-9095-9291C3D3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boosted sequence of trees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37023-1A8A-49FB-A6E8-A9AD2416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flexible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BC33C-C916-452B-903A-34BA60EA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6B8F4E"/>
                </a:solidFill>
              </a:defRPr>
            </a:pPr>
            <a:r>
              <a:rPr sz="3600" b="1" i="0">
                <a:solidFill>
                  <a:srgbClr val="6B8F4E"/>
                </a:solidFill>
              </a:rPr>
              <a:t>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7181C-11CA-428A-B135-E88124B5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many trees voting together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7DD84-8BE1-4F7D-AC2E-D412EEFC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robust shape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D9E03-4BB6-4AF5-8978-0D897B99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7072771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C8530C-246A-45F0-A716-9F71D76D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DBAB4-4E9D-4605-A687-B86A9FDC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EDEBB6-4CBF-41C5-B4EC-F83961FD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1D16E-F912-48DD-93BF-2F86A0A3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Evaluation is a stress test, not a certificate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06E0D-6D3E-4D96-AC69-549A6683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E6E73"/>
                </a:solidFill>
              </a:defRPr>
            </a:pPr>
            <a:r>
              <a:rPr sz="1875" b="1" i="0">
                <a:solidFill>
                  <a:srgbClr val="0E6E73"/>
                </a:solidFill>
              </a:rPr>
              <a:t>Training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83236-86C7-4371-89F6-BD536A8A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64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469B9-4D9E-409E-94A9-A63A1E6F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0231F"/>
                </a:solidFill>
              </a:defRPr>
            </a:pPr>
            <a:r>
              <a:rPr sz="1875" b="1" i="0">
                <a:solidFill>
                  <a:srgbClr val="10231F"/>
                </a:solidFill>
              </a:rPr>
              <a:t>fitted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492CD-6E27-4141-B5E2-701B10A0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336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64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7913F-12B2-4AED-B4F2-1093A6CF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E6E73"/>
                </a:solidFill>
              </a:defRPr>
            </a:pPr>
            <a:r>
              <a:rPr sz="1875" b="1" i="0">
                <a:solidFill>
                  <a:srgbClr val="0E6E73"/>
                </a:solidFill>
              </a:rPr>
              <a:t>test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BFEAF-6664-4204-AF5E-1AF1E125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9052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D96445"/>
                </a:solidFill>
              </a:defRPr>
            </a:pPr>
            <a:r>
              <a:rPr sz="3300" b="1" i="0">
                <a:solidFill>
                  <a:srgbClr val="D96445"/>
                </a:solidFill>
              </a:rPr>
              <a:t>TSS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1463C-F105-4639-B222-6F19F9C0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threshold-based balance of sensitivity and specificity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F4740-F069-431B-B813-CE73AB2C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052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D96445"/>
                </a:solidFill>
              </a:defRPr>
            </a:pPr>
            <a:r>
              <a:rPr sz="3300" b="1" i="0">
                <a:solidFill>
                  <a:srgbClr val="D96445"/>
                </a:solidFill>
              </a:rPr>
              <a:t>AUCroc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D295D-781F-4541-96B3-C2E33F7B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148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threshold-independent ranking of presences above absences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0A57E-28CE-4A85-A6C3-FB16F26C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6769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0E6E73"/>
                </a:solidFill>
              </a:defRPr>
            </a:pPr>
            <a:r>
              <a:rPr sz="2100" b="1" i="0">
                <a:solidFill>
                  <a:srgbClr val="0E6E73"/>
                </a:solidFill>
              </a:rPr>
              <a:t>Good scores make a model worth inspecting. They do not make the map 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4A1FEA-FE55-4C53-A90E-CFEFE602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145814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AC71E7-0C5D-469F-A7F4-18E9FDB7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A6732-9F67-421A-91FA-A6381BB7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E2525-8F5C-4EA2-A1C4-9228A81F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FEBE9-72C8-4CBF-AAE6-36EC09BA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Variable importance turns outputs back into questions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35b005db94a9a"/>
          <a:stretch xmlns:a="http://schemas.openxmlformats.org/drawingml/2006/main"/>
        </p:blipFill>
        <p:spPr>
          <a:xfrm xmlns:a="http://schemas.openxmlformats.org/drawingml/2006/main">
            <a:off x="723900" y="1482328"/>
            <a:ext cx="6381750" cy="398859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A165B-5554-416C-97EB-3BAB0C83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6445"/>
                </a:solidFill>
              </a:defRPr>
            </a:pPr>
            <a:r>
              <a:rPr sz="2250" b="1" i="0">
                <a:solidFill>
                  <a:srgbClr val="D96445"/>
                </a:solidFill>
              </a:rPr>
              <a:t>Read as sensitivity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8F1CC-D8CA-41C7-90C8-B18F7E6D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58690-D8C1-4547-9886-41B588F5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Which predictors changed predictions most?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29DDD-3A47-424A-9328-CAEEB08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457E1-3D14-4B82-BC50-6D865B1A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Do GLM, GBM, and RF agree?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D56CF-14EA-4C55-ADD8-D9426462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14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42A207-64BD-4C54-8495-AEC0E2A4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195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Could this be ecology, sampling, or correlation among predictors?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655A3-A30C-485B-A27E-B13CFE3B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20621693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B2177D-56F3-4473-AB27-E9960BC8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DCDC"/>
                </a:solidFill>
              </a:defRPr>
            </a:pPr>
            <a:r>
              <a:rPr sz="825" b="1" i="0">
                <a:solidFill>
                  <a:srgbClr val="B9DCDC"/>
                </a:solidFill>
              </a:rPr>
              <a:t>ENSEMBLE MODELLING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23652-B675-4A15-A60A-D269891C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626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98568-CC69-464E-A7D8-4C017981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A7C8C4"/>
                </a:solidFill>
              </a:defRPr>
            </a:pPr>
            <a:r>
              <a:rPr sz="825" b="0" i="0">
                <a:solidFill>
                  <a:srgbClr val="A7C8C4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EE055-EBBE-4AF6-B89F-71F6DA17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781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The ensemble is a disciplined summary of disagreement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E599D-645C-4250-A4BA-D618CE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704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A mean ensemble reduces the map set; a weighted mean lets better-scoring models contribute more.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E35A1-C049-46FA-B79B-FD14C616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04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7FC7C9"/>
                </a:solidFill>
              </a:defRPr>
            </a:pPr>
            <a:r>
              <a:rPr sz="2250" b="1" i="0">
                <a:solidFill>
                  <a:srgbClr val="7FC7C9"/>
                </a:solidFill>
              </a:rPr>
              <a:t>GLM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60CE4-111D-4321-B8A2-07499660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2C879"/>
                </a:solidFill>
              </a:defRPr>
            </a:pPr>
            <a:r>
              <a:rPr sz="2250" b="1" i="0">
                <a:solidFill>
                  <a:srgbClr val="F2C879"/>
                </a:solidFill>
              </a:rPr>
              <a:t>GBM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64EBF-9638-43F9-B5D2-4602526C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B7D57A"/>
                </a:solidFill>
              </a:defRPr>
            </a:pPr>
            <a:r>
              <a:rPr sz="2250" b="1" i="0">
                <a:solidFill>
                  <a:srgbClr val="B7D57A"/>
                </a:solidFill>
              </a:rPr>
              <a:t>RF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62E13-9894-45EC-A5D6-CFEBC010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053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DA6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25772-1350-4ED7-BE14-2F01A7B4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EMmean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F7696-057F-403B-A4E1-1461D2AD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B9DCDC"/>
                </a:solidFill>
              </a:defRPr>
            </a:pPr>
            <a:r>
              <a:rPr sz="1500" b="0" i="0">
                <a:solidFill>
                  <a:srgbClr val="B9DCDC"/>
                </a:solidFill>
              </a:rPr>
              <a:t>average prediction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E317E-3323-4ED0-87A2-15B5786F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48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EMwmean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158082-408A-426F-8BA7-93CC519D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05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B9DCDC"/>
                </a:solidFill>
              </a:defRPr>
            </a:pPr>
            <a:r>
              <a:rPr sz="1500" b="0" i="0">
                <a:solidFill>
                  <a:srgbClr val="B9DCDC"/>
                </a:solidFill>
              </a:rPr>
              <a:t>performance-weighted prediction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ED8475-EC58-4319-8FED-80096B8E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87AAA5"/>
                </a:solidFill>
              </a:defRPr>
            </a:pPr>
            <a:r>
              <a:rPr sz="675" b="0" i="0">
                <a:solidFill>
                  <a:srgbClr val="87AAA5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2963542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88BDD-723F-49E5-975F-6876ADD1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PROJECTION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66DB7-9A35-497D-AB92-7187D62E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86DE1-C72E-44AF-8419-7702074C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9E995-0850-4085-BD1A-94CF0382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Projection makes model choices visible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1fca2ce854862"/>
          <a:stretch xmlns:a="http://schemas.openxmlformats.org/drawingml/2006/main"/>
        </p:blipFill>
        <p:spPr>
          <a:xfrm xmlns:a="http://schemas.openxmlformats.org/drawingml/2006/main">
            <a:off x="944336" y="1714500"/>
            <a:ext cx="4245429" cy="37147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900270f1b4a19"/>
          <a:stretch xmlns:a="http://schemas.openxmlformats.org/drawingml/2006/main"/>
        </p:blipFill>
        <p:spPr>
          <a:xfrm xmlns:a="http://schemas.openxmlformats.org/drawingml/2006/main">
            <a:off x="7021286" y="1714500"/>
            <a:ext cx="4245429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E5E01-CABC-4991-BE13-64C16F23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7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E6E73"/>
                </a:solidFill>
              </a:defRPr>
            </a:pPr>
            <a:r>
              <a:rPr sz="1500" b="1" i="0">
                <a:solidFill>
                  <a:srgbClr val="0E6E73"/>
                </a:solidFill>
              </a:rPr>
              <a:t>individual model average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A756C-67F4-439E-BCAF-7B5B099F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76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E6E73"/>
                </a:solidFill>
              </a:defRPr>
            </a:pPr>
            <a:r>
              <a:rPr sz="1500" b="1" i="0">
                <a:solidFill>
                  <a:srgbClr val="0E6E73"/>
                </a:solidFill>
              </a:rPr>
              <a:t>ensemble projection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D1848-EF15-4BCB-B524-ACEC8071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1042762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2D1D4-5BC5-4E5D-8E9E-D6543A18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CLOSING 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12284-2504-4816-9946-A4EE2758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18B3E-6524-45E5-B979-52D31822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63F016-DB62-4D40-9F53-2E55FB0C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A good SDM should sharpen the next conversation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9f8f68e1d40e8"/>
          <a:stretch xmlns:a="http://schemas.openxmlformats.org/drawingml/2006/main"/>
        </p:blipFill>
        <p:spPr>
          <a:xfrm xmlns:a="http://schemas.openxmlformats.org/drawingml/2006/main">
            <a:off x="742950" y="1706166"/>
            <a:ext cx="4286250" cy="375046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BFCF0D-1035-430D-B36E-6E316D64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6445"/>
                </a:solidFill>
              </a:defRPr>
            </a:pPr>
            <a:r>
              <a:rPr sz="2250" b="1" i="0">
                <a:solidFill>
                  <a:srgbClr val="D96445"/>
                </a:solidFill>
              </a:rPr>
              <a:t>Before acting on a map, ask: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57DC32-51C0-4144-9338-C7954FE8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955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6EFC1-FF99-483B-8803-D44FE8AB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003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is suitability high or low?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CA101-AFE4-411E-B2BF-3A58C11E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0806C-3AAF-4317-B9AB-76D75778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are the data thin?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02FD7-9D17-44EE-8837-8C6C828A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00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F2783-89B1-4D2D-B5B0-AFD51F29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052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might sampling bias dominate?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59F809-23FE-45B2-9C30-5D627B77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52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E52C0-C524-4076-90B1-60FA7939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576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Which predictor story is plausible?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444B5-D3BE-4F22-8A00-CC7CD414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05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791C7-0995-40E0-ACB8-EE7882F6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What dengue surveillance data would you add?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B517D-F926-410E-A09B-D3185402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34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E6E73"/>
                </a:solidFill>
              </a:defRPr>
            </a:pPr>
            <a:r>
              <a:rPr sz="2250" b="1" i="0">
                <a:solidFill>
                  <a:srgbClr val="0E6E73"/>
                </a:solidFill>
              </a:rPr>
              <a:t>Now we build it line by line in 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6B8A91-11E2-4349-853E-96686989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for dengue vector mapping</a:t>
            </a:r>
          </a:p>
        </p:txBody>
      </p:sp>
    </p:spTree>
    <p:extLst>
      <p:ext uri="{BB962C8B-B14F-4D97-AF65-F5344CB8AC3E}">
        <p14:creationId xmlns:p14="http://schemas.microsoft.com/office/powerpoint/2010/main" val="8687412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2026-07-27T12:36:21.6830000Z</dcterms:created>
  <dcterms:modified xsi:type="dcterms:W3CDTF">2026-07-27T12:36:21.6830000Z</dcterms:modified>
</coreProperties>
</file>