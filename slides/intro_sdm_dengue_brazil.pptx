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5f01ee01724a88" /><Relationship Type="http://schemas.openxmlformats.org/officeDocument/2006/relationships/extended-properties" Target="/docProps/app.xml" Id="R83813f170cd645da" /><Relationship Type="http://schemas.openxmlformats.org/officeDocument/2006/relationships/officeDocument" Target="/ppt/presentation.xml" Id="Rcb97bf93f8e947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dee899282a43e2"/>
  </p:sldMasterIdLst>
  <p:notesMasterIdLst>
    <p:notesMasterId xmlns:r="http://schemas.openxmlformats.org/officeDocument/2006/relationships" r:id="R820f09f5aac84743"/>
  </p:notesMasterIdLst>
  <p:sldIdLst>
    <p:sldId xmlns:r="http://schemas.openxmlformats.org/officeDocument/2006/relationships" id="256" r:id="Rdbefc72ce9ca4def"/>
    <p:sldId xmlns:r="http://schemas.openxmlformats.org/officeDocument/2006/relationships" id="257" r:id="Rebc45a5cb06d4d4f"/>
    <p:sldId xmlns:r="http://schemas.openxmlformats.org/officeDocument/2006/relationships" id="258" r:id="Re04c32ecd00a4663"/>
    <p:sldId xmlns:r="http://schemas.openxmlformats.org/officeDocument/2006/relationships" id="259" r:id="Rc279fcdbab604fa7"/>
    <p:sldId xmlns:r="http://schemas.openxmlformats.org/officeDocument/2006/relationships" id="260" r:id="Ra212aceddb2045cd"/>
    <p:sldId xmlns:r="http://schemas.openxmlformats.org/officeDocument/2006/relationships" id="261" r:id="R1ade9f994d84412c"/>
    <p:sldId xmlns:r="http://schemas.openxmlformats.org/officeDocument/2006/relationships" id="262" r:id="R6bc5d1938db2420c"/>
    <p:sldId xmlns:r="http://schemas.openxmlformats.org/officeDocument/2006/relationships" id="263" r:id="R1d9c4c2b9d4c49af"/>
    <p:sldId xmlns:r="http://schemas.openxmlformats.org/officeDocument/2006/relationships" id="264" r:id="R4b805b5db7474246"/>
    <p:sldId xmlns:r="http://schemas.openxmlformats.org/officeDocument/2006/relationships" id="265" r:id="R0ecd829432be4e6b"/>
    <p:sldId xmlns:r="http://schemas.openxmlformats.org/officeDocument/2006/relationships" id="266" r:id="R132fd2def518499d"/>
    <p:sldId xmlns:r="http://schemas.openxmlformats.org/officeDocument/2006/relationships" id="267" r:id="R8af50ac7de2f46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69fc9f724949f2" /><Relationship Type="http://schemas.openxmlformats.org/officeDocument/2006/relationships/slideMaster" Target="/ppt/slideMasters/slideMaster1.xml" Id="Re7dee899282a43e2" /><Relationship Type="http://schemas.openxmlformats.org/officeDocument/2006/relationships/notesMaster" Target="/ppt/notesMasters/notesMaster1.xml" Id="R820f09f5aac84743" /><Relationship Type="http://schemas.openxmlformats.org/officeDocument/2006/relationships/presProps" Target="/ppt/presProps.xml" Id="Rb881d4028fe248ad" /><Relationship Type="http://schemas.openxmlformats.org/officeDocument/2006/relationships/tableStyles" Target="/ppt/tableStyles.xml" Id="R19649663ad6a4c12" /><Relationship Type="http://schemas.openxmlformats.org/officeDocument/2006/relationships/slide" Target="/ppt/slides/slide1.xml" Id="Rdbefc72ce9ca4def" /><Relationship Type="http://schemas.openxmlformats.org/officeDocument/2006/relationships/slide" Target="/ppt/slides/slide2.xml" Id="Rebc45a5cb06d4d4f" /><Relationship Type="http://schemas.openxmlformats.org/officeDocument/2006/relationships/slide" Target="/ppt/slides/slide3.xml" Id="Re04c32ecd00a4663" /><Relationship Type="http://schemas.openxmlformats.org/officeDocument/2006/relationships/slide" Target="/ppt/slides/slide4.xml" Id="Rc279fcdbab604fa7" /><Relationship Type="http://schemas.openxmlformats.org/officeDocument/2006/relationships/slide" Target="/ppt/slides/slide5.xml" Id="Ra212aceddb2045cd" /><Relationship Type="http://schemas.openxmlformats.org/officeDocument/2006/relationships/slide" Target="/ppt/slides/slide6.xml" Id="R1ade9f994d84412c" /><Relationship Type="http://schemas.openxmlformats.org/officeDocument/2006/relationships/slide" Target="/ppt/slides/slide7.xml" Id="R6bc5d1938db2420c" /><Relationship Type="http://schemas.openxmlformats.org/officeDocument/2006/relationships/slide" Target="/ppt/slides/slide8.xml" Id="R1d9c4c2b9d4c49af" /><Relationship Type="http://schemas.openxmlformats.org/officeDocument/2006/relationships/slide" Target="/ppt/slides/slide9.xml" Id="R4b805b5db7474246" /><Relationship Type="http://schemas.openxmlformats.org/officeDocument/2006/relationships/slide" Target="/ppt/slides/slide10.xml" Id="R0ecd829432be4e6b" /><Relationship Type="http://schemas.openxmlformats.org/officeDocument/2006/relationships/slide" Target="/ppt/slides/slide11.xml" Id="R132fd2def518499d" /><Relationship Type="http://schemas.openxmlformats.org/officeDocument/2006/relationships/slide" Target="/ppt/slides/slide12.xml" Id="R8af50ac7de2f46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456b42814144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67fe2a89c44b52" /><Relationship Type="http://schemas.openxmlformats.org/officeDocument/2006/relationships/notesMaster" Target="/ppt/notesMasters/notesMaster1.xml" Id="R476b406a446247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ded398e4da4b0c" /><Relationship Type="http://schemas.openxmlformats.org/officeDocument/2006/relationships/notesMaster" Target="/ppt/notesMasters/notesMaster1.xml" Id="Rcdb5ef1cb12b4e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16e2a9569b4d84" /><Relationship Type="http://schemas.openxmlformats.org/officeDocument/2006/relationships/notesMaster" Target="/ppt/notesMasters/notesMaster1.xml" Id="R1313d0c2952b4a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9f0ceddc914e6c" /><Relationship Type="http://schemas.openxmlformats.org/officeDocument/2006/relationships/notesMaster" Target="/ppt/notesMasters/notesMaster1.xml" Id="R763104ef15f24d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0859a2373646d0" /><Relationship Type="http://schemas.openxmlformats.org/officeDocument/2006/relationships/notesMaster" Target="/ppt/notesMasters/notesMaster1.xml" Id="R4de187de00ab4e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f7def29d114949" /><Relationship Type="http://schemas.openxmlformats.org/officeDocument/2006/relationships/notesMaster" Target="/ppt/notesMasters/notesMaster1.xml" Id="R6836335d87574f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2990748bbc4f1d" /><Relationship Type="http://schemas.openxmlformats.org/officeDocument/2006/relationships/notesMaster" Target="/ppt/notesMasters/notesMaster1.xml" Id="R61c1a47f85ed43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c65be0104c46d3" /><Relationship Type="http://schemas.openxmlformats.org/officeDocument/2006/relationships/notesMaster" Target="/ppt/notesMasters/notesMaster1.xml" Id="R50547e3f64c544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17739155a64aed" /><Relationship Type="http://schemas.openxmlformats.org/officeDocument/2006/relationships/notesMaster" Target="/ppt/notesMasters/notesMaster1.xml" Id="R9c7494e14d8641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ba3cd994e84cba" /><Relationship Type="http://schemas.openxmlformats.org/officeDocument/2006/relationships/notesMaster" Target="/ppt/notesMasters/notesMaster1.xml" Id="R1625c49a3c9a4d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71ef9eca9c4d44" /><Relationship Type="http://schemas.openxmlformats.org/officeDocument/2006/relationships/notesMaster" Target="/ppt/notesMasters/notesMaster1.xml" Id="R8b90bcfb35894e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ffe298a2204e08" /><Relationship Type="http://schemas.openxmlformats.org/officeDocument/2006/relationships/notesMaster" Target="/ppt/notesMasters/notesMaster1.xml" Id="Rd33a7f930be04e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Open with SDM foundations; Aedes aegypti in Brazil is the applied example, not the starting point.</a:t>
            </a:r>
          </a:p>
          <a:p xmlns:a="http://schemas.openxmlformats.org/drawingml/2006/main">
            <a:pPr indent="0" algn="l">
              <a:buNone/>
            </a:pPr>
            <a:r>
              <a:t>[Sources] University CERI template; workshop SDM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Foundation slide: define the SDM workflow before introducing a disease vector.</a:t>
            </a:r>
          </a:p>
          <a:p xmlns:a="http://schemas.openxmlformats.org/drawingml/2006/main">
            <a:r>
              <a:t>[Sources] Concept adapted from Lecture1_12Juin17.pdf pages 3 and 57-58.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Clarifies the distinction between environmental suitability and observed distribution.</a:t>
            </a:r>
          </a:p>
          <a:p xmlns:a="http://schemas.openxmlformats.org/drawingml/2006/main">
            <a:r>
              <a:t>[Sources] Concept adapted from Lecture1_12Juin17.pdf pages 7-15.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Aedes aegypti only after the method has been defined.</a:t>
            </a:r>
          </a:p>
          <a:p xmlns:a="http://schemas.openxmlformats.org/drawingml/2006/main">
            <a:r>
              <a:t>[Sources] Workshop GBIF occurrence 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cleaning slide for the GBIF part of the live script.</a:t>
            </a:r>
          </a:p>
          <a:p xmlns:a="http://schemas.openxmlformats.org/drawingml/2006/main">
            <a:r>
              <a:t>[Sources] Workshop GBIF occurrence map and 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Predictor slide for the environmental raster section of the script.</a:t>
            </a:r>
          </a:p>
          <a:p xmlns:a="http://schemas.openxmlformats.org/drawingml/2006/main">
            <a:r>
              <a:t>[Sources] Workshop environmental raster derived from cached WorldClim predictors.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Prepares participants for the biomod2 formatting call.</a:t>
            </a:r>
          </a:p>
          <a:p xmlns:a="http://schemas.openxmlformats.org/drawingml/2006/main">
            <a:r>
              <a:t>[Sources] Pseudo-absence concept adapted from Lecture1_12Juin17.pdf pages 106-109.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Explains why the workshop runs GLM, GBM, and RF.</a:t>
            </a:r>
          </a:p>
          <a:p xmlns:a="http://schemas.openxmlformats.org/drawingml/2006/main">
            <a:r>
              <a:t>[Sources] Algorithm framing adapted from Lecture1_12Juin17.pdf pages 45-56.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Connects to metric.eval in BIOMOD_Modeling().</a:t>
            </a:r>
          </a:p>
          <a:p xmlns:a="http://schemas.openxmlformats.org/drawingml/2006/main">
            <a:r>
              <a:t>[Sources] Evaluation concepts adapted from Lecture1_12Juin17.pdf pages 59-74.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Interpret variable importance from biomod2.</a:t>
            </a:r>
          </a:p>
          <a:p xmlns:a="http://schemas.openxmlformats.org/drawingml/2006/main">
            <a:r>
              <a:t>[Sources] Workshop-generated variable importance plot.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Connects BIOMOD_Projection and BIOMOD_EnsembleForecasting to the final maps.</a:t>
            </a:r>
          </a:p>
          <a:p xmlns:a="http://schemas.openxmlformats.org/drawingml/2006/main">
            <a:r>
              <a:t>[Sources] Workshop-generated suitability maps.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 before the live R tutorial.</a:t>
            </a:r>
          </a:p>
          <a:p xmlns:a="http://schemas.openxmlformats.org/drawingml/2006/main">
            <a:r>
              <a:t>[Sources] Workshop model output and interpretation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b9ff7aa4e842ad" /><Relationship Type="http://schemas.openxmlformats.org/officeDocument/2006/relationships/image" Target="/ppt/media/image.png" Id="R34f1d877f55547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ec5147856f48e2" /><Relationship Type="http://schemas.openxmlformats.org/officeDocument/2006/relationships/image" Target="/ppt/media/image.png" Id="R5dd0a71ef1494e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0b05c507cf47c4" /><Relationship Type="http://schemas.openxmlformats.org/officeDocument/2006/relationships/image" Target="/ppt/media/image.png" Id="R01217476f31042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c8117250fd4b77" /><Relationship Type="http://schemas.openxmlformats.org/officeDocument/2006/relationships/image" Target="/ppt/media/image.png" Id="Raee96bc1e2c747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f24914631b46fd" /><Relationship Type="http://schemas.openxmlformats.org/officeDocument/2006/relationships/image" Target="/ppt/media/image.png" Id="R65d37ce590be43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a3984abc884300" /><Relationship Type="http://schemas.openxmlformats.org/officeDocument/2006/relationships/image" Target="/ppt/media/image.png" Id="Rc64092bf1fef478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47bde85f7a4163" /><Relationship Type="http://schemas.openxmlformats.org/officeDocument/2006/relationships/image" Target="/ppt/media/image.png" Id="R911e0ace9fb2484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9ca87a32784272" /><Relationship Type="http://schemas.openxmlformats.org/officeDocument/2006/relationships/image" Target="/ppt/media/image.png" Id="Ra487056fb221432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54e33fdd3b438c" /><Relationship Type="http://schemas.openxmlformats.org/officeDocument/2006/relationships/image" Target="/ppt/media/image.png" Id="Rdd88dcb0a371432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674f7febf5403f" /><Relationship Type="http://schemas.openxmlformats.org/officeDocument/2006/relationships/image" Target="/ppt/media/image.png" Id="R40b452b1ef7740c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ec6177afb44272" /><Relationship Type="http://schemas.openxmlformats.org/officeDocument/2006/relationships/image" Target="/ppt/media/image.png" Id="R22b586d20ee447a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92ac3986b4743" /><Relationship Type="http://schemas.openxmlformats.org/officeDocument/2006/relationships/image" Target="/ppt/media/image.png" Id="Re2bd9d927a2f482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0c117e75fc4a91" /><Relationship Type="http://schemas.openxmlformats.org/officeDocument/2006/relationships/image" Target="/ppt/media/image.png" Id="R07f1554c78e1402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bb796bfe734be9" /><Relationship Type="http://schemas.openxmlformats.org/officeDocument/2006/relationships/image" Target="/ppt/media/image.png" Id="Rb960cdfcdfc14ce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31fe47400c4018" /><Relationship Type="http://schemas.openxmlformats.org/officeDocument/2006/relationships/image" Target="/ppt/media/image.png" Id="R6244c5a9afc3417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0492b21f094b5b" /><Relationship Type="http://schemas.openxmlformats.org/officeDocument/2006/relationships/image" Target="/ppt/media/image.png" Id="Raee3137a812c472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9e398ef384322" /><Relationship Type="http://schemas.openxmlformats.org/officeDocument/2006/relationships/image" Target="/ppt/media/image.png" Id="R48b3f2e69a074835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fd45da59154edf" /><Relationship Type="http://schemas.openxmlformats.org/officeDocument/2006/relationships/image" Target="/ppt/media/image.png" Id="Rbd569d6017ac4a1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fd4f0bc7194b0e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90bc4f962c4d6c" /><Relationship Type="http://schemas.openxmlformats.org/officeDocument/2006/relationships/image" Target="/ppt/media/image.png" Id="R4cfc7576c79349f9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f64663048b46f6" /><Relationship Type="http://schemas.openxmlformats.org/officeDocument/2006/relationships/image" Target="/ppt/media/image.png" Id="R154f6c31cf1046a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e46106d41d4523" /><Relationship Type="http://schemas.openxmlformats.org/officeDocument/2006/relationships/image" Target="/ppt/media/image.png" Id="R7ef63c5940714726" /></Relationships>
</file>

<file path=ppt/slideLayouts/slideLayout1.xml><?xml version="1.0" encoding="utf-8"?>
<p:sldLayout xmlns:p="http://schemas.openxmlformats.org/presentationml/2006/main" type="blank" preserve="1">
  <p:cSld name="Master1-Office-Them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White.Strip.Footer">
            <a:extLst xmlns:a="http://schemas.openxmlformats.org/drawingml/2006/main">
              <a:ext uri="{FF2B5EF4-FFF2-40B4-BE49-F238E27FC236}">
                <a16:creationId xmlns:a16="http://schemas.microsoft.com/office/drawing/2014/main" id="{3755FCEB-C41F-404F-83B9-7E4D470B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1880"/>
            <a:ext cx="12192120" cy="2761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CFCCB36C-023F-46DB-BF1F-0D264C66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0" y="6597720"/>
            <a:ext cx="11125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sz="1000" b="0" u="none">
                <a:solidFill>
                  <a:srgbClr val="B79961"/>
                </a:solidFill>
                <a:latin typeface="Trebuchet MS"/>
                <a:ea typeface="Trebuchet MS"/>
                <a:cs typeface="Trebuchet MS"/>
              </a:rPr>
              <a:t>School for Data Science and Computational Thinking, Faculty of Science and Faculty of Medicine and Health Sciences, Stellenbosch University</a:t>
            </a:r>
          </a:p>
        </p:txBody>
      </p:sp>
      <p:cxnSp>
        <p:nvCxnSpPr>
          <p:cNvPr id="17" name="Gold line"/>
          <p:cNvCxnSpPr/>
          <p:nvPr/>
        </p:nvCxnSpPr>
        <p:spPr>
          <a:xfrm xmlns:a="http://schemas.openxmlformats.org/drawingml/2006/main">
            <a:off x="0" y="6590160"/>
            <a:ext cx="121924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491AA08-DB95-4612-88D8-CBB6DF6A872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40200" y="1708200"/>
            <a:ext cx="11511360" cy="47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91440" tIns="45720" rIns="91440" bIns="45720" anchor="t">
            <a:normAutofit/>
          </a:bodyPr>
          <a:lstStyle xmlns:a="http://schemas.openxmlformats.org/drawingml/2006/main">
            <a:lvl1pPr marL="228600" indent="-228600" algn="l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4D5356"/>
                </a:solidFill>
                <a:latin typeface="Trebuchet MS"/>
                <a:ea typeface="Trebuchet MS"/>
                <a:cs typeface="Trebuchet MS"/>
              </a:defRPr>
            </a:lvl1pPr>
            <a:lvl2pPr marL="685800" indent="-22860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sz="2200" b="0" u="none">
                <a:solidFill>
                  <a:srgbClr val="4D5356"/>
                </a:solidFill>
                <a:latin typeface="Trebuchet MS"/>
                <a:ea typeface="Trebuchet MS"/>
                <a:cs typeface="Trebuchet MS"/>
              </a:defRPr>
            </a:lvl2pPr>
            <a:lvl3pPr marL="1143000" indent="-22860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4D5356"/>
                </a:solidFill>
                <a:latin typeface="Trebuchet MS"/>
                <a:ea typeface="Trebuchet MS"/>
                <a:cs typeface="Trebuchet MS"/>
              </a:defRPr>
            </a:lvl3pPr>
            <a:lvl4pPr marL="1600200" indent="-22860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rgbClr val="4D5356"/>
                </a:solidFill>
                <a:latin typeface="Trebuchet MS"/>
                <a:ea typeface="Trebuchet MS"/>
                <a:cs typeface="Trebuchet MS"/>
              </a:defRPr>
            </a:lvl4pPr>
            <a:lvl5pPr marL="2057400" indent="-22860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rgbClr val="4D5356"/>
                </a:solidFill>
                <a:latin typeface="Trebuchet MS"/>
                <a:ea typeface="Trebuchet MS"/>
                <a:cs typeface="Trebuchet MS"/>
              </a:defRPr>
            </a:lvl5pPr>
          </a:lstStyle>
          <a:p xmlns:a="http://schemas.openxmlformats.org/drawingml/2006/main">
            <a:pPr marL="228600" indent="-228600" algn="l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4D5356"/>
                </a:solidFill>
                <a:latin typeface="Trebuchet MS"/>
                <a:ea typeface="Trebuchet MS"/>
                <a:cs typeface="Trebuchet MS"/>
              </a:rPr>
              <a:t>Click to edit Master text styles</a:t>
            </a:r>
          </a:p>
          <a:p xmlns:a="http://schemas.openxmlformats.org/drawingml/2006/main">
            <a:pPr marL="685800" lvl="1" indent="-22860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200" b="0" u="none">
                <a:solidFill>
                  <a:srgbClr val="4D5356"/>
                </a:solidFill>
                <a:latin typeface="Trebuchet MS"/>
                <a:ea typeface="Trebuchet MS"/>
                <a:cs typeface="Trebuchet MS"/>
              </a:rPr>
              <a:t>Second level</a:t>
            </a:r>
          </a:p>
          <a:p xmlns:a="http://schemas.openxmlformats.org/drawingml/2006/main">
            <a:pPr marL="1143000" lvl="2" indent="-22860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4D5356"/>
                </a:solidFill>
                <a:latin typeface="Trebuchet MS"/>
                <a:ea typeface="Trebuchet MS"/>
                <a:cs typeface="Trebuchet MS"/>
              </a:rPr>
              <a:t>Third level</a:t>
            </a:r>
          </a:p>
          <a:p xmlns:a="http://schemas.openxmlformats.org/drawingml/2006/main">
            <a:pPr marL="1600200" lvl="3" indent="-22860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rgbClr val="4D5356"/>
                </a:solidFill>
                <a:latin typeface="Trebuchet MS"/>
                <a:ea typeface="Trebuchet MS"/>
                <a:cs typeface="Trebuchet MS"/>
              </a:rPr>
              <a:t>Fourth level</a:t>
            </a:r>
          </a:p>
          <a:p xmlns:a="http://schemas.openxmlformats.org/drawingml/2006/main">
            <a:pPr marL="2057400" lvl="4" indent="-22860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rgbClr val="4D5356"/>
                </a:solidFill>
                <a:latin typeface="Trebuchet MS"/>
                <a:ea typeface="Trebuchet MS"/>
                <a:cs typeface="Trebuchet MS"/>
              </a:rPr>
              <a:t>Fifth level</a:t>
            </a:r>
          </a:p>
        </p:txBody>
      </p:sp>
      <p:sp>
        <p:nvSpPr>
          <p:cNvPr id="6" name="White.Banner.Top">
            <a:extLst xmlns:a="http://schemas.openxmlformats.org/drawingml/2006/main">
              <a:ext uri="{FF2B5EF4-FFF2-40B4-BE49-F238E27FC236}">
                <a16:creationId xmlns:a16="http://schemas.microsoft.com/office/drawing/2014/main" id="{AE81BD26-446A-45C1-891D-3D1130AA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120" cy="14187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8C7E402-76A0-48FA-9A60-EFC409F09D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8040" y="265320"/>
            <a:ext cx="8903880" cy="105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91440" tIns="45720" rIns="91440" bIns="45720" anchor="t">
            <a:normAutofit/>
          </a:bodyPr>
          <a:lstStyle xmlns:a="http://schemas.openxmlformats.org/drawingml/2006/main">
            <a:lvl1pPr indent="0" algn="l">
              <a:lnSpc>
                <a:spcPct val="90000"/>
              </a:lnSpc>
              <a:buNone/>
              <a:defRPr sz="3200" b="1" u="none">
                <a:solidFill>
                  <a:srgbClr val="61223B"/>
                </a:solidFill>
                <a:latin typeface="Trebuchet MS"/>
                <a:ea typeface="Trebuchet MS"/>
                <a:cs typeface="Trebuchet MS"/>
              </a:defRPr>
            </a:lvl1pPr>
          </a:lstStyle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3200" b="1" u="none">
                <a:solidFill>
                  <a:srgbClr val="61223B"/>
                </a:solidFill>
                <a:latin typeface="Trebuchet MS"/>
                <a:ea typeface="Trebuchet MS"/>
                <a:cs typeface="Trebuchet MS"/>
              </a:rPr>
              <a:t>CLICK TO EDIT MASTER TITLE STYLE</a:t>
            </a:r>
          </a:p>
        </p:txBody>
      </p:sp>
      <p:cxnSp>
        <p:nvCxnSpPr>
          <p:cNvPr id="21" name="Straight Connector 16"/>
          <p:cNvCxnSpPr/>
          <p:nvPr/>
        </p:nvCxnSpPr>
        <p:spPr>
          <a:xfrm xmlns:a="http://schemas.openxmlformats.org/drawingml/2006/main">
            <a:off x="-355680" y="1413720"/>
            <a:ext cx="139269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9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92B5602-0BD0-4C71-AC76-BE0E616C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" y="354600"/>
            <a:ext cx="11511360" cy="6143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BF8E8D0-624F-4A41-A18F-4FE9132E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280" y="31320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24" name="Straight Connector 20"/>
          <p:cNvCxnSpPr/>
          <p:nvPr/>
        </p:nvCxnSpPr>
        <p:spPr>
          <a:xfrm xmlns:a="http://schemas.openxmlformats.org/drawingml/2006/main">
            <a:off x="9249120" y="-425160"/>
            <a:ext cx="360" cy="754920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2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D99D3C3-F215-40D4-BA1F-A616F450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080" y="650484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26" name="Straight Connector 23"/>
          <p:cNvCxnSpPr/>
          <p:nvPr/>
        </p:nvCxnSpPr>
        <p:spPr>
          <a:xfrm xmlns:a="http://schemas.openxmlformats.org/drawingml/2006/main">
            <a:off x="-354960" y="1697400"/>
            <a:ext cx="135327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pic>
        <p:nvPicPr>
          <p:cNvPr id="27" name="SU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1d877f55547bb"/>
          <a:stretch xmlns:a="http://schemas.openxmlformats.org/drawingml/2006/main"/>
        </p:blipFill>
        <p:spPr>
          <a:xfrm xmlns:a="http://schemas.openxmlformats.org/drawingml/2006/main">
            <a:off x="8163000" y="0"/>
            <a:ext cx="4028760" cy="1226160"/>
          </a:xfrm>
          <a:prstGeom xmlns:a="http://schemas.openxmlformats.org/drawingml/2006/main" prst="rect">
            <a:avLst/>
          </a:prstGeom>
          <a:ln xmlns:a="http://schemas.openxmlformats.org/drawingml/2006/main" w="19080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type="blank" preserve="1">
  <p:cSld name="Master1-Layout1-cust-Cover-Slide-#1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White.Strip.Footer">
            <a:extLst xmlns:a="http://schemas.openxmlformats.org/drawingml/2006/main">
              <a:ext uri="{FF2B5EF4-FFF2-40B4-BE49-F238E27FC236}">
                <a16:creationId xmlns:a16="http://schemas.microsoft.com/office/drawing/2014/main" id="{3B603D80-48EB-46B0-A9FD-1AE4136C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1880"/>
            <a:ext cx="12192120" cy="2761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E6B9E846-F194-4C5D-B54D-2D44DCDB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0" y="6597720"/>
            <a:ext cx="11125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sz="1000" b="0" u="none">
                <a:solidFill>
                  <a:srgbClr val="B79961"/>
                </a:solidFill>
                <a:latin typeface="Trebuchet MS"/>
                <a:ea typeface="Trebuchet MS"/>
                <a:cs typeface="Trebuchet MS"/>
              </a:rPr>
              <a:t>School for Data Science and Computational Thinking, Faculty of Science and Faculty of Medicine and Health Sciences, Stellenbosch University</a:t>
            </a:r>
          </a:p>
        </p:txBody>
      </p:sp>
      <p:cxnSp>
        <p:nvCxnSpPr>
          <p:cNvPr id="28" name="Gold line"/>
          <p:cNvCxnSpPr/>
          <p:nvPr/>
        </p:nvCxnSpPr>
        <p:spPr>
          <a:xfrm xmlns:a="http://schemas.openxmlformats.org/drawingml/2006/main">
            <a:off x="0" y="6590160"/>
            <a:ext cx="121924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8" name="White.Banner.Top">
            <a:extLst xmlns:a="http://schemas.openxmlformats.org/drawingml/2006/main">
              <a:ext uri="{FF2B5EF4-FFF2-40B4-BE49-F238E27FC236}">
                <a16:creationId xmlns:a16="http://schemas.microsoft.com/office/drawing/2014/main" id="{0648DC7B-D9FA-4F70-B916-5A67DE60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120" cy="14187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30" name="Straight Connector 16"/>
          <p:cNvCxnSpPr/>
          <p:nvPr/>
        </p:nvCxnSpPr>
        <p:spPr>
          <a:xfrm xmlns:a="http://schemas.openxmlformats.org/drawingml/2006/main">
            <a:off x="-355680" y="1413720"/>
            <a:ext cx="139269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20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3F2AFA6-D917-4062-BC64-DC40D9B2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" y="354600"/>
            <a:ext cx="11511360" cy="6143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51897EC-8788-4B01-91AA-72BB392E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280" y="31320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33" name="Straight Connector 20"/>
          <p:cNvCxnSpPr/>
          <p:nvPr/>
        </p:nvCxnSpPr>
        <p:spPr>
          <a:xfrm xmlns:a="http://schemas.openxmlformats.org/drawingml/2006/main">
            <a:off x="9249120" y="-425160"/>
            <a:ext cx="360" cy="754920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1575F680-4CBE-48ED-841E-7CB15CE0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080" y="650484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35" name="Straight Connector 23"/>
          <p:cNvCxnSpPr/>
          <p:nvPr/>
        </p:nvCxnSpPr>
        <p:spPr>
          <a:xfrm xmlns:a="http://schemas.openxmlformats.org/drawingml/2006/main">
            <a:off x="-354960" y="1697400"/>
            <a:ext cx="135327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pic>
        <p:nvPicPr>
          <p:cNvPr id="36" name="SU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0a71ef1494e40"/>
          <a:stretch xmlns:a="http://schemas.openxmlformats.org/drawingml/2006/main"/>
        </p:blipFill>
        <p:spPr>
          <a:xfrm xmlns:a="http://schemas.openxmlformats.org/drawingml/2006/main">
            <a:off x="8163000" y="0"/>
            <a:ext cx="4028760" cy="1226160"/>
          </a:xfrm>
          <a:prstGeom xmlns:a="http://schemas.openxmlformats.org/drawingml/2006/main" prst="rect">
            <a:avLst/>
          </a:prstGeom>
          <a:ln xmlns:a="http://schemas.openxmlformats.org/drawingml/2006/main" w="19080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type="blank" preserve="1">
  <p:cSld name="Master1-Layout2-cust-Cover-Slide-#3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White.Strip.Footer">
            <a:extLst xmlns:a="http://schemas.openxmlformats.org/drawingml/2006/main">
              <a:ext uri="{FF2B5EF4-FFF2-40B4-BE49-F238E27FC236}">
                <a16:creationId xmlns:a16="http://schemas.microsoft.com/office/drawing/2014/main" id="{E17D1330-BBE6-451E-933A-36B9FAB2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1880"/>
            <a:ext cx="12192120" cy="2761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62848410-E548-47C1-A1FD-0BBCC57D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0" y="6597720"/>
            <a:ext cx="11125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sz="1000" b="0" u="none">
                <a:solidFill>
                  <a:srgbClr val="B79961"/>
                </a:solidFill>
                <a:latin typeface="Trebuchet MS"/>
                <a:ea typeface="Trebuchet MS"/>
                <a:cs typeface="Trebuchet MS"/>
              </a:rPr>
              <a:t>School for Data Science and Computational Thinking, Faculty of Science and Faculty of Medicine and Health Sciences, Stellenbosch University</a:t>
            </a:r>
          </a:p>
        </p:txBody>
      </p:sp>
      <p:cxnSp>
        <p:nvCxnSpPr>
          <p:cNvPr id="39" name="Gold line"/>
          <p:cNvCxnSpPr/>
          <p:nvPr/>
        </p:nvCxnSpPr>
        <p:spPr>
          <a:xfrm xmlns:a="http://schemas.openxmlformats.org/drawingml/2006/main">
            <a:off x="0" y="6590160"/>
            <a:ext cx="121924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29" name="White.Banner.Top">
            <a:extLst xmlns:a="http://schemas.openxmlformats.org/drawingml/2006/main">
              <a:ext uri="{FF2B5EF4-FFF2-40B4-BE49-F238E27FC236}">
                <a16:creationId xmlns:a16="http://schemas.microsoft.com/office/drawing/2014/main" id="{706A70C7-1F3D-4DD4-8FA0-364998C8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120" cy="14187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41" name="Straight Connector 16"/>
          <p:cNvCxnSpPr/>
          <p:nvPr/>
        </p:nvCxnSpPr>
        <p:spPr>
          <a:xfrm xmlns:a="http://schemas.openxmlformats.org/drawingml/2006/main">
            <a:off x="-355680" y="1413720"/>
            <a:ext cx="139269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31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7BDBB51-46ED-401A-AA47-FA2B0E47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" y="354600"/>
            <a:ext cx="11511360" cy="6143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7E565D6-1EC7-4808-BC5D-34AFE882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280" y="31320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44" name="Straight Connector 20"/>
          <p:cNvCxnSpPr/>
          <p:nvPr/>
        </p:nvCxnSpPr>
        <p:spPr>
          <a:xfrm xmlns:a="http://schemas.openxmlformats.org/drawingml/2006/main">
            <a:off x="9249120" y="-425160"/>
            <a:ext cx="360" cy="754920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34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95CE73F-08D0-4071-ABEF-1A3EF832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080" y="650484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46" name="Straight Connector 23"/>
          <p:cNvCxnSpPr/>
          <p:nvPr/>
        </p:nvCxnSpPr>
        <p:spPr>
          <a:xfrm xmlns:a="http://schemas.openxmlformats.org/drawingml/2006/main">
            <a:off x="-354960" y="1697400"/>
            <a:ext cx="135327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pic>
        <p:nvPicPr>
          <p:cNvPr id="47" name="SU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17476f31042f3"/>
          <a:stretch xmlns:a="http://schemas.openxmlformats.org/drawingml/2006/main"/>
        </p:blipFill>
        <p:spPr>
          <a:xfrm xmlns:a="http://schemas.openxmlformats.org/drawingml/2006/main">
            <a:off x="8163000" y="0"/>
            <a:ext cx="4028760" cy="1226160"/>
          </a:xfrm>
          <a:prstGeom xmlns:a="http://schemas.openxmlformats.org/drawingml/2006/main" prst="rect">
            <a:avLst/>
          </a:prstGeom>
          <a:ln xmlns:a="http://schemas.openxmlformats.org/drawingml/2006/main" w="19080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type="blank" preserve="1">
  <p:cSld name="Master1-Layout3-cust-Title-and-content-on-white-bg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White.Strip.Footer">
            <a:extLst xmlns:a="http://schemas.openxmlformats.org/drawingml/2006/main">
              <a:ext uri="{FF2B5EF4-FFF2-40B4-BE49-F238E27FC236}">
                <a16:creationId xmlns:a16="http://schemas.microsoft.com/office/drawing/2014/main" id="{D06DB1F9-AE3E-4C3A-B88C-BA1CFE4C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1880"/>
            <a:ext cx="12192120" cy="2761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Footer">
            <a:extLst xmlns:a="http://schemas.openxmlformats.org/drawingml/2006/main">
              <a:ext uri="{FF2B5EF4-FFF2-40B4-BE49-F238E27FC236}">
                <a16:creationId xmlns:a16="http://schemas.microsoft.com/office/drawing/2014/main" id="{2BCC28AD-CD95-4E9B-95A8-FE9529E9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0" y="6597720"/>
            <a:ext cx="11125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sz="1000" b="0" u="none">
                <a:solidFill>
                  <a:srgbClr val="B79961"/>
                </a:solidFill>
                <a:latin typeface="Trebuchet MS"/>
                <a:ea typeface="Trebuchet MS"/>
                <a:cs typeface="Trebuchet MS"/>
              </a:rPr>
              <a:t>School for Data Science and Computational Thinking, Faculty of Science and Faculty of Medicine and Health Sciences, Stellenbosch University</a:t>
            </a:r>
          </a:p>
        </p:txBody>
      </p:sp>
      <p:cxnSp>
        <p:nvCxnSpPr>
          <p:cNvPr id="50" name="Gold line"/>
          <p:cNvCxnSpPr/>
          <p:nvPr/>
        </p:nvCxnSpPr>
        <p:spPr>
          <a:xfrm xmlns:a="http://schemas.openxmlformats.org/drawingml/2006/main">
            <a:off x="0" y="6590160"/>
            <a:ext cx="121924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40" name="White.Banner.Top">
            <a:extLst xmlns:a="http://schemas.openxmlformats.org/drawingml/2006/main">
              <a:ext uri="{FF2B5EF4-FFF2-40B4-BE49-F238E27FC236}">
                <a16:creationId xmlns:a16="http://schemas.microsoft.com/office/drawing/2014/main" id="{9D9B84D1-CADB-4AE3-9EB2-303FC885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120" cy="14187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52" name="Straight Connector 16"/>
          <p:cNvCxnSpPr/>
          <p:nvPr/>
        </p:nvCxnSpPr>
        <p:spPr>
          <a:xfrm xmlns:a="http://schemas.openxmlformats.org/drawingml/2006/main">
            <a:off x="-355680" y="1413720"/>
            <a:ext cx="139269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42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7BFBD6A-A470-4DE7-8B12-4CE83358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" y="354600"/>
            <a:ext cx="11511360" cy="6143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9B06A8-EE1A-44E3-98C7-FC92594B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280" y="31320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55" name="Straight Connector 20"/>
          <p:cNvCxnSpPr/>
          <p:nvPr/>
        </p:nvCxnSpPr>
        <p:spPr>
          <a:xfrm xmlns:a="http://schemas.openxmlformats.org/drawingml/2006/main">
            <a:off x="9249120" y="-425160"/>
            <a:ext cx="360" cy="754920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45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D2C2796-6BB1-48C8-90F9-EA3D0B29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080" y="650484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57" name="Straight Connector 23"/>
          <p:cNvCxnSpPr/>
          <p:nvPr/>
        </p:nvCxnSpPr>
        <p:spPr>
          <a:xfrm xmlns:a="http://schemas.openxmlformats.org/drawingml/2006/main">
            <a:off x="-354960" y="1697400"/>
            <a:ext cx="135327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pic>
        <p:nvPicPr>
          <p:cNvPr id="58" name="SU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96bc1e2c7472b"/>
          <a:stretch xmlns:a="http://schemas.openxmlformats.org/drawingml/2006/main"/>
        </p:blipFill>
        <p:spPr>
          <a:xfrm xmlns:a="http://schemas.openxmlformats.org/drawingml/2006/main">
            <a:off x="8163000" y="0"/>
            <a:ext cx="4028760" cy="1226160"/>
          </a:xfrm>
          <a:prstGeom xmlns:a="http://schemas.openxmlformats.org/drawingml/2006/main" prst="rect">
            <a:avLst/>
          </a:prstGeom>
          <a:ln xmlns:a="http://schemas.openxmlformats.org/drawingml/2006/main" w="19080">
            <a:noFill/>
          </a:ln>
        </p:spPr>
      </p:pic>
    </p:spTree>
  </p:cSld>
</p:sldLayout>
</file>

<file path=ppt/slideLayouts/slideLayout5.xml><?xml version="1.0" encoding="utf-8"?>
<p:sldLayout xmlns:p="http://schemas.openxmlformats.org/presentationml/2006/main" type="blank" preserve="1">
  <p:cSld name="Master1-Layout4-cust-Title-and-content-on-white-bg-with-patter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White.Strip.Footer">
            <a:extLst xmlns:a="http://schemas.openxmlformats.org/drawingml/2006/main">
              <a:ext uri="{FF2B5EF4-FFF2-40B4-BE49-F238E27FC236}">
                <a16:creationId xmlns:a16="http://schemas.microsoft.com/office/drawing/2014/main" id="{007E6B28-1AAF-4C70-8693-4E51CADB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1880"/>
            <a:ext cx="12192120" cy="2761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Footer">
            <a:extLst xmlns:a="http://schemas.openxmlformats.org/drawingml/2006/main">
              <a:ext uri="{FF2B5EF4-FFF2-40B4-BE49-F238E27FC236}">
                <a16:creationId xmlns:a16="http://schemas.microsoft.com/office/drawing/2014/main" id="{716C2A53-8D7C-42A4-A969-0B7B5C12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0" y="6597720"/>
            <a:ext cx="11125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sz="1000" b="0" u="none">
                <a:solidFill>
                  <a:srgbClr val="B79961"/>
                </a:solidFill>
                <a:latin typeface="Trebuchet MS"/>
                <a:ea typeface="Trebuchet MS"/>
                <a:cs typeface="Trebuchet MS"/>
              </a:rPr>
              <a:t>School for Data Science and Computational Thinking, Faculty of Science and Faculty of Medicine and Health Sciences, Stellenbosch University</a:t>
            </a:r>
          </a:p>
        </p:txBody>
      </p:sp>
      <p:cxnSp>
        <p:nvCxnSpPr>
          <p:cNvPr id="64" name="Gold line"/>
          <p:cNvCxnSpPr/>
          <p:nvPr/>
        </p:nvCxnSpPr>
        <p:spPr>
          <a:xfrm xmlns:a="http://schemas.openxmlformats.org/drawingml/2006/main">
            <a:off x="0" y="6590160"/>
            <a:ext cx="121924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51" name="White.Banner.Top">
            <a:extLst xmlns:a="http://schemas.openxmlformats.org/drawingml/2006/main">
              <a:ext uri="{FF2B5EF4-FFF2-40B4-BE49-F238E27FC236}">
                <a16:creationId xmlns:a16="http://schemas.microsoft.com/office/drawing/2014/main" id="{5293CE93-820C-47EE-B917-F102C993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120" cy="14187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66" name="Straight Connector 16"/>
          <p:cNvCxnSpPr/>
          <p:nvPr/>
        </p:nvCxnSpPr>
        <p:spPr>
          <a:xfrm xmlns:a="http://schemas.openxmlformats.org/drawingml/2006/main">
            <a:off x="-355680" y="1413720"/>
            <a:ext cx="139269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53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79CE638-9460-4458-979B-F23F84D5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" y="354600"/>
            <a:ext cx="11511360" cy="6143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4C654AE-6124-4E34-B115-231517C2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280" y="31320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69" name="Straight Connector 20"/>
          <p:cNvCxnSpPr/>
          <p:nvPr/>
        </p:nvCxnSpPr>
        <p:spPr>
          <a:xfrm xmlns:a="http://schemas.openxmlformats.org/drawingml/2006/main">
            <a:off x="9249120" y="-425160"/>
            <a:ext cx="360" cy="754920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56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B2176AF-FAFF-474F-A511-D7A7CFEF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080" y="650484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71" name="Straight Connector 23"/>
          <p:cNvCxnSpPr/>
          <p:nvPr/>
        </p:nvCxnSpPr>
        <p:spPr>
          <a:xfrm xmlns:a="http://schemas.openxmlformats.org/drawingml/2006/main">
            <a:off x="-354960" y="1697400"/>
            <a:ext cx="135327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pic>
        <p:nvPicPr>
          <p:cNvPr id="72" name="SU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37ce590be4370"/>
          <a:stretch xmlns:a="http://schemas.openxmlformats.org/drawingml/2006/main"/>
        </p:blipFill>
        <p:spPr>
          <a:xfrm xmlns:a="http://schemas.openxmlformats.org/drawingml/2006/main">
            <a:off x="8163000" y="0"/>
            <a:ext cx="4028760" cy="1226160"/>
          </a:xfrm>
          <a:prstGeom xmlns:a="http://schemas.openxmlformats.org/drawingml/2006/main" prst="rect">
            <a:avLst/>
          </a:prstGeom>
          <a:ln xmlns:a="http://schemas.openxmlformats.org/drawingml/2006/main" w="19080">
            <a:noFill/>
          </a:ln>
        </p:spPr>
      </p:pic>
      <p:sp>
        <p:nvSpPr>
          <p:cNvPr id="5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BD020D5-ACC3-4920-9871-91C9BE40B2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6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92309D7-6293-4888-83F1-4349ECD9FF1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Master1-Layout5-cust-Title,-sub-heading-and-content-on-white-bg-with-pattern-panel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White.Strip.Footer">
            <a:extLst xmlns:a="http://schemas.openxmlformats.org/drawingml/2006/main">
              <a:ext uri="{FF2B5EF4-FFF2-40B4-BE49-F238E27FC236}">
                <a16:creationId xmlns:a16="http://schemas.microsoft.com/office/drawing/2014/main" id="{4F5E1E17-24D9-4BD3-BE21-135A30BA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1880"/>
            <a:ext cx="12192120" cy="2761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" name="Footer">
            <a:extLst xmlns:a="http://schemas.openxmlformats.org/drawingml/2006/main">
              <a:ext uri="{FF2B5EF4-FFF2-40B4-BE49-F238E27FC236}">
                <a16:creationId xmlns:a16="http://schemas.microsoft.com/office/drawing/2014/main" id="{05F249FB-9F1F-472C-9C8A-93F2FCF9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0" y="6597720"/>
            <a:ext cx="11125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sz="1000" b="0" u="none">
                <a:solidFill>
                  <a:srgbClr val="B79961"/>
                </a:solidFill>
                <a:latin typeface="Trebuchet MS"/>
                <a:ea typeface="Trebuchet MS"/>
                <a:cs typeface="Trebuchet MS"/>
              </a:rPr>
              <a:t>School for Data Science and Computational Thinking, Faculty of Science and Faculty of Medicine and Health Sciences, Stellenbosch University</a:t>
            </a:r>
          </a:p>
        </p:txBody>
      </p:sp>
      <p:cxnSp>
        <p:nvCxnSpPr>
          <p:cNvPr id="77" name="Gold line"/>
          <p:cNvCxnSpPr/>
          <p:nvPr/>
        </p:nvCxnSpPr>
        <p:spPr>
          <a:xfrm xmlns:a="http://schemas.openxmlformats.org/drawingml/2006/main">
            <a:off x="0" y="6590160"/>
            <a:ext cx="121924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64" name="White.Banner.Top">
            <a:extLst xmlns:a="http://schemas.openxmlformats.org/drawingml/2006/main">
              <a:ext uri="{FF2B5EF4-FFF2-40B4-BE49-F238E27FC236}">
                <a16:creationId xmlns:a16="http://schemas.microsoft.com/office/drawing/2014/main" id="{2D2C196C-1B63-46BA-BBB8-2F3CCADF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120" cy="14187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79" name="Straight Connector 16"/>
          <p:cNvCxnSpPr/>
          <p:nvPr/>
        </p:nvCxnSpPr>
        <p:spPr>
          <a:xfrm xmlns:a="http://schemas.openxmlformats.org/drawingml/2006/main">
            <a:off x="-355680" y="1413720"/>
            <a:ext cx="139269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66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E327B49-188B-4CD4-BC77-9362DAFC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" y="354600"/>
            <a:ext cx="11511360" cy="6143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A5A543B-0CE3-4680-842F-B3E149DE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280" y="31320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82" name="Straight Connector 20"/>
          <p:cNvCxnSpPr/>
          <p:nvPr/>
        </p:nvCxnSpPr>
        <p:spPr>
          <a:xfrm xmlns:a="http://schemas.openxmlformats.org/drawingml/2006/main">
            <a:off x="9249120" y="-425160"/>
            <a:ext cx="360" cy="754920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69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F6754E2-E9C8-4C55-906A-188D5DF7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080" y="650484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84" name="Straight Connector 23"/>
          <p:cNvCxnSpPr/>
          <p:nvPr/>
        </p:nvCxnSpPr>
        <p:spPr>
          <a:xfrm xmlns:a="http://schemas.openxmlformats.org/drawingml/2006/main">
            <a:off x="-354960" y="1697400"/>
            <a:ext cx="135327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pic>
        <p:nvPicPr>
          <p:cNvPr id="85" name="SU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092bf1fef4781"/>
          <a:stretch xmlns:a="http://schemas.openxmlformats.org/drawingml/2006/main"/>
        </p:blipFill>
        <p:spPr>
          <a:xfrm xmlns:a="http://schemas.openxmlformats.org/drawingml/2006/main">
            <a:off x="8163000" y="0"/>
            <a:ext cx="4028760" cy="1226160"/>
          </a:xfrm>
          <a:prstGeom xmlns:a="http://schemas.openxmlformats.org/drawingml/2006/main" prst="rect">
            <a:avLst/>
          </a:prstGeom>
          <a:ln xmlns:a="http://schemas.openxmlformats.org/drawingml/2006/main" w="19080">
            <a:noFill/>
          </a:ln>
        </p:spPr>
      </p:pic>
      <p:sp>
        <p:nvSpPr>
          <p:cNvPr id="7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44E6FDA-3190-41AC-8373-D6FBFB36FC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7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425E3A9-F07E-427B-9CD3-B83C998476F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Master1-Layout6-cust-Dual-layout-slide-on-white-bg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White.Strip.Footer">
            <a:extLst xmlns:a="http://schemas.openxmlformats.org/drawingml/2006/main">
              <a:ext uri="{FF2B5EF4-FFF2-40B4-BE49-F238E27FC236}">
                <a16:creationId xmlns:a16="http://schemas.microsoft.com/office/drawing/2014/main" id="{4AD1DB0E-1410-4481-BE8B-50D2C3AD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1880"/>
            <a:ext cx="12192120" cy="2761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5" name="Footer">
            <a:extLst xmlns:a="http://schemas.openxmlformats.org/drawingml/2006/main">
              <a:ext uri="{FF2B5EF4-FFF2-40B4-BE49-F238E27FC236}">
                <a16:creationId xmlns:a16="http://schemas.microsoft.com/office/drawing/2014/main" id="{F398DC40-F870-408C-807E-F0D343C4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0" y="6597720"/>
            <a:ext cx="11125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sz="1000" b="0" u="none">
                <a:solidFill>
                  <a:srgbClr val="B79961"/>
                </a:solidFill>
                <a:latin typeface="Trebuchet MS"/>
                <a:ea typeface="Trebuchet MS"/>
                <a:cs typeface="Trebuchet MS"/>
              </a:rPr>
              <a:t>School for Data Science and Computational Thinking, Faculty of Science and Faculty of Medicine and Health Sciences, Stellenbosch University</a:t>
            </a:r>
          </a:p>
        </p:txBody>
      </p:sp>
      <p:cxnSp>
        <p:nvCxnSpPr>
          <p:cNvPr id="87" name="Gold line"/>
          <p:cNvCxnSpPr/>
          <p:nvPr/>
        </p:nvCxnSpPr>
        <p:spPr>
          <a:xfrm xmlns:a="http://schemas.openxmlformats.org/drawingml/2006/main">
            <a:off x="0" y="6590160"/>
            <a:ext cx="121924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77" name="White.Banner.Top">
            <a:extLst xmlns:a="http://schemas.openxmlformats.org/drawingml/2006/main">
              <a:ext uri="{FF2B5EF4-FFF2-40B4-BE49-F238E27FC236}">
                <a16:creationId xmlns:a16="http://schemas.microsoft.com/office/drawing/2014/main" id="{F61650EB-C279-4EFA-B42B-3E0A7579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120" cy="14187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89" name="Straight Connector 16"/>
          <p:cNvCxnSpPr/>
          <p:nvPr/>
        </p:nvCxnSpPr>
        <p:spPr>
          <a:xfrm xmlns:a="http://schemas.openxmlformats.org/drawingml/2006/main">
            <a:off x="-355680" y="1413720"/>
            <a:ext cx="139269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79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A93693C-7727-42BB-8BBE-2EFC017C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" y="354600"/>
            <a:ext cx="11511360" cy="6143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0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5B02E07-3DF4-4A5C-B5CE-604C3D3A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280" y="31320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92" name="Straight Connector 20"/>
          <p:cNvCxnSpPr/>
          <p:nvPr/>
        </p:nvCxnSpPr>
        <p:spPr>
          <a:xfrm xmlns:a="http://schemas.openxmlformats.org/drawingml/2006/main">
            <a:off x="9249120" y="-425160"/>
            <a:ext cx="360" cy="754920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82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B826947-5192-4C4F-8DEA-D693FF40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080" y="650484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94" name="Straight Connector 23"/>
          <p:cNvCxnSpPr/>
          <p:nvPr/>
        </p:nvCxnSpPr>
        <p:spPr>
          <a:xfrm xmlns:a="http://schemas.openxmlformats.org/drawingml/2006/main">
            <a:off x="-354960" y="1697400"/>
            <a:ext cx="135327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pic>
        <p:nvPicPr>
          <p:cNvPr id="95" name="SU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e0ace9fb2484e"/>
          <a:stretch xmlns:a="http://schemas.openxmlformats.org/drawingml/2006/main"/>
        </p:blipFill>
        <p:spPr>
          <a:xfrm xmlns:a="http://schemas.openxmlformats.org/drawingml/2006/main">
            <a:off x="8163000" y="0"/>
            <a:ext cx="4028760" cy="1226160"/>
          </a:xfrm>
          <a:prstGeom xmlns:a="http://schemas.openxmlformats.org/drawingml/2006/main" prst="rect">
            <a:avLst/>
          </a:prstGeom>
          <a:ln xmlns:a="http://schemas.openxmlformats.org/drawingml/2006/main" w="19080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type="blank" preserve="1">
  <p:cSld name="Master1-Layout7-cust-3x-columns-slide-on-white-bg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White.Strip.Footer">
            <a:extLst xmlns:a="http://schemas.openxmlformats.org/drawingml/2006/main">
              <a:ext uri="{FF2B5EF4-FFF2-40B4-BE49-F238E27FC236}">
                <a16:creationId xmlns:a16="http://schemas.microsoft.com/office/drawing/2014/main" id="{BDD4767D-B35E-4300-9108-132A91BB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1880"/>
            <a:ext cx="12192120" cy="2761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6" name="Footer">
            <a:extLst xmlns:a="http://schemas.openxmlformats.org/drawingml/2006/main">
              <a:ext uri="{FF2B5EF4-FFF2-40B4-BE49-F238E27FC236}">
                <a16:creationId xmlns:a16="http://schemas.microsoft.com/office/drawing/2014/main" id="{23C4F3C2-2B52-4E2D-B8F5-4EA72DB9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0" y="6597720"/>
            <a:ext cx="11125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sz="1000" b="0" u="none">
                <a:solidFill>
                  <a:srgbClr val="B79961"/>
                </a:solidFill>
                <a:latin typeface="Trebuchet MS"/>
                <a:ea typeface="Trebuchet MS"/>
                <a:cs typeface="Trebuchet MS"/>
              </a:rPr>
              <a:t>School for Data Science and Computational Thinking, Faculty of Science and Faculty of Medicine and Health Sciences, Stellenbosch University</a:t>
            </a:r>
          </a:p>
        </p:txBody>
      </p:sp>
      <p:cxnSp>
        <p:nvCxnSpPr>
          <p:cNvPr id="98" name="Gold line"/>
          <p:cNvCxnSpPr/>
          <p:nvPr/>
        </p:nvCxnSpPr>
        <p:spPr>
          <a:xfrm xmlns:a="http://schemas.openxmlformats.org/drawingml/2006/main">
            <a:off x="0" y="6590160"/>
            <a:ext cx="121924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88" name="White.Banner.Top">
            <a:extLst xmlns:a="http://schemas.openxmlformats.org/drawingml/2006/main">
              <a:ext uri="{FF2B5EF4-FFF2-40B4-BE49-F238E27FC236}">
                <a16:creationId xmlns:a16="http://schemas.microsoft.com/office/drawing/2014/main" id="{CAF3BA25-BC2F-4EC2-ADA7-875A186E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120" cy="14187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00" name="Straight Connector 16"/>
          <p:cNvCxnSpPr/>
          <p:nvPr/>
        </p:nvCxnSpPr>
        <p:spPr>
          <a:xfrm xmlns:a="http://schemas.openxmlformats.org/drawingml/2006/main">
            <a:off x="-355680" y="1413720"/>
            <a:ext cx="139269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90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2FBA29E-805E-42C4-B34E-6C1C4EEC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" y="354600"/>
            <a:ext cx="11511360" cy="6143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1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D04722D-CE9F-4978-A3A2-D2C4564F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280" y="31320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03" name="Straight Connector 20"/>
          <p:cNvCxnSpPr/>
          <p:nvPr/>
        </p:nvCxnSpPr>
        <p:spPr>
          <a:xfrm xmlns:a="http://schemas.openxmlformats.org/drawingml/2006/main">
            <a:off x="9249120" y="-425160"/>
            <a:ext cx="360" cy="754920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9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05364CE-5B78-42A7-A73A-5EC04CFC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080" y="650484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05" name="Straight Connector 23"/>
          <p:cNvCxnSpPr/>
          <p:nvPr/>
        </p:nvCxnSpPr>
        <p:spPr>
          <a:xfrm xmlns:a="http://schemas.openxmlformats.org/drawingml/2006/main">
            <a:off x="-354960" y="1697400"/>
            <a:ext cx="135327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pic>
        <p:nvPicPr>
          <p:cNvPr id="106" name="SU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7056fb221432c"/>
          <a:stretch xmlns:a="http://schemas.openxmlformats.org/drawingml/2006/main"/>
        </p:blipFill>
        <p:spPr>
          <a:xfrm xmlns:a="http://schemas.openxmlformats.org/drawingml/2006/main">
            <a:off x="8163000" y="0"/>
            <a:ext cx="4028760" cy="1226160"/>
          </a:xfrm>
          <a:prstGeom xmlns:a="http://schemas.openxmlformats.org/drawingml/2006/main" prst="rect">
            <a:avLst/>
          </a:prstGeom>
          <a:ln xmlns:a="http://schemas.openxmlformats.org/drawingml/2006/main" w="19080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type="blank" preserve="1">
  <p:cSld name="Master1-Layout8-cust-Section-divider-slide-on-white-bg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White.Strip.Footer">
            <a:extLst xmlns:a="http://schemas.openxmlformats.org/drawingml/2006/main">
              <a:ext uri="{FF2B5EF4-FFF2-40B4-BE49-F238E27FC236}">
                <a16:creationId xmlns:a16="http://schemas.microsoft.com/office/drawing/2014/main" id="{8462F0E4-6644-468C-A032-CDABB34C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1880"/>
            <a:ext cx="12192120" cy="2761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7" name="Footer">
            <a:extLst xmlns:a="http://schemas.openxmlformats.org/drawingml/2006/main">
              <a:ext uri="{FF2B5EF4-FFF2-40B4-BE49-F238E27FC236}">
                <a16:creationId xmlns:a16="http://schemas.microsoft.com/office/drawing/2014/main" id="{6C612FFB-D132-411A-87D3-38CB2E72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0" y="6597720"/>
            <a:ext cx="11125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sz="1000" b="0" u="none">
                <a:solidFill>
                  <a:srgbClr val="B79961"/>
                </a:solidFill>
                <a:latin typeface="Trebuchet MS"/>
                <a:ea typeface="Trebuchet MS"/>
                <a:cs typeface="Trebuchet MS"/>
              </a:rPr>
              <a:t>School for Data Science and Computational Thinking, Faculty of Science and Faculty of Medicine and Health Sciences, Stellenbosch University</a:t>
            </a:r>
          </a:p>
        </p:txBody>
      </p:sp>
      <p:cxnSp>
        <p:nvCxnSpPr>
          <p:cNvPr id="109" name="Gold line"/>
          <p:cNvCxnSpPr/>
          <p:nvPr/>
        </p:nvCxnSpPr>
        <p:spPr>
          <a:xfrm xmlns:a="http://schemas.openxmlformats.org/drawingml/2006/main">
            <a:off x="0" y="6590160"/>
            <a:ext cx="121924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99" name="White.Banner.Top">
            <a:extLst xmlns:a="http://schemas.openxmlformats.org/drawingml/2006/main">
              <a:ext uri="{FF2B5EF4-FFF2-40B4-BE49-F238E27FC236}">
                <a16:creationId xmlns:a16="http://schemas.microsoft.com/office/drawing/2014/main" id="{907F8C93-4155-484F-BADC-A4180F24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120" cy="14187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11" name="Straight Connector 16"/>
          <p:cNvCxnSpPr/>
          <p:nvPr/>
        </p:nvCxnSpPr>
        <p:spPr>
          <a:xfrm xmlns:a="http://schemas.openxmlformats.org/drawingml/2006/main">
            <a:off x="-355680" y="1413720"/>
            <a:ext cx="139269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01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A23CD89-2A2E-46D1-A6D3-157DBC77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" y="354600"/>
            <a:ext cx="11511360" cy="6143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FE39887-8591-4D5A-9E0E-8D78149E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280" y="31320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14" name="Straight Connector 20"/>
          <p:cNvCxnSpPr/>
          <p:nvPr/>
        </p:nvCxnSpPr>
        <p:spPr>
          <a:xfrm xmlns:a="http://schemas.openxmlformats.org/drawingml/2006/main">
            <a:off x="9249120" y="-425160"/>
            <a:ext cx="360" cy="754920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04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592044C-54F9-4746-8430-4619D6B4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080" y="650484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16" name="Straight Connector 23"/>
          <p:cNvCxnSpPr/>
          <p:nvPr/>
        </p:nvCxnSpPr>
        <p:spPr>
          <a:xfrm xmlns:a="http://schemas.openxmlformats.org/drawingml/2006/main">
            <a:off x="-354960" y="1697400"/>
            <a:ext cx="135327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pic>
        <p:nvPicPr>
          <p:cNvPr id="117" name="SU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8dcb0a3714329"/>
          <a:stretch xmlns:a="http://schemas.openxmlformats.org/drawingml/2006/main"/>
        </p:blipFill>
        <p:spPr>
          <a:xfrm xmlns:a="http://schemas.openxmlformats.org/drawingml/2006/main">
            <a:off x="8163000" y="0"/>
            <a:ext cx="4028760" cy="1226160"/>
          </a:xfrm>
          <a:prstGeom xmlns:a="http://schemas.openxmlformats.org/drawingml/2006/main" prst="rect">
            <a:avLst/>
          </a:prstGeom>
          <a:ln xmlns:a="http://schemas.openxmlformats.org/drawingml/2006/main" w="19080">
            <a:noFill/>
          </a:ln>
        </p:spPr>
      </p:pic>
    </p:spTree>
  </p:cSld>
</p:sldLayout>
</file>

<file path=ppt/slideLayouts/slideLayout10.xml><?xml version="1.0" encoding="utf-8"?>
<p:sldLayout xmlns:p="http://schemas.openxmlformats.org/presentationml/2006/main" type="blank" preserve="1">
  <p:cSld name="Master1-Layout9-cust-Title-and-content-on-white-bg-with-maroon-banner-bottom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White.Strip.Footer">
            <a:extLst xmlns:a="http://schemas.openxmlformats.org/drawingml/2006/main">
              <a:ext uri="{FF2B5EF4-FFF2-40B4-BE49-F238E27FC236}">
                <a16:creationId xmlns:a16="http://schemas.microsoft.com/office/drawing/2014/main" id="{12368AC1-AA34-4708-AAF0-FC6C5554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1880"/>
            <a:ext cx="12192120" cy="2761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8" name="Footer">
            <a:extLst xmlns:a="http://schemas.openxmlformats.org/drawingml/2006/main">
              <a:ext uri="{FF2B5EF4-FFF2-40B4-BE49-F238E27FC236}">
                <a16:creationId xmlns:a16="http://schemas.microsoft.com/office/drawing/2014/main" id="{098D753B-70B1-4199-A55B-24DB8908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0" y="6597720"/>
            <a:ext cx="11125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sz="1000" b="0" u="none">
                <a:solidFill>
                  <a:srgbClr val="B79961"/>
                </a:solidFill>
                <a:latin typeface="Trebuchet MS"/>
                <a:ea typeface="Trebuchet MS"/>
                <a:cs typeface="Trebuchet MS"/>
              </a:rPr>
              <a:t>School for Data Science and Computational Thinking, Faculty of Science and Faculty of Medicine and Health Sciences, Stellenbosch University</a:t>
            </a:r>
          </a:p>
        </p:txBody>
      </p:sp>
      <p:cxnSp>
        <p:nvCxnSpPr>
          <p:cNvPr id="120" name="Gold line"/>
          <p:cNvCxnSpPr/>
          <p:nvPr/>
        </p:nvCxnSpPr>
        <p:spPr>
          <a:xfrm xmlns:a="http://schemas.openxmlformats.org/drawingml/2006/main">
            <a:off x="0" y="6590160"/>
            <a:ext cx="121924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10" name="White.Banner.Top">
            <a:extLst xmlns:a="http://schemas.openxmlformats.org/drawingml/2006/main">
              <a:ext uri="{FF2B5EF4-FFF2-40B4-BE49-F238E27FC236}">
                <a16:creationId xmlns:a16="http://schemas.microsoft.com/office/drawing/2014/main" id="{40C42198-A4CF-4919-918C-8C99D7D3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120" cy="14187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22" name="Straight Connector 16"/>
          <p:cNvCxnSpPr/>
          <p:nvPr/>
        </p:nvCxnSpPr>
        <p:spPr>
          <a:xfrm xmlns:a="http://schemas.openxmlformats.org/drawingml/2006/main">
            <a:off x="-355680" y="1413720"/>
            <a:ext cx="139269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12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E43EDB2-5476-412F-A030-61D02561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" y="354600"/>
            <a:ext cx="11511360" cy="6143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3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69BE814-0271-4DB1-9952-BA6AA642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280" y="31320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25" name="Straight Connector 20"/>
          <p:cNvCxnSpPr/>
          <p:nvPr/>
        </p:nvCxnSpPr>
        <p:spPr>
          <a:xfrm xmlns:a="http://schemas.openxmlformats.org/drawingml/2006/main">
            <a:off x="9249120" y="-425160"/>
            <a:ext cx="360" cy="754920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15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AB79844-5A1E-42E5-9FA1-109795E4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080" y="650484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27" name="Straight Connector 23"/>
          <p:cNvCxnSpPr/>
          <p:nvPr/>
        </p:nvCxnSpPr>
        <p:spPr>
          <a:xfrm xmlns:a="http://schemas.openxmlformats.org/drawingml/2006/main">
            <a:off x="-354960" y="1697400"/>
            <a:ext cx="135327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pic>
        <p:nvPicPr>
          <p:cNvPr id="128" name="SU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b452b1ef7740ca"/>
          <a:stretch xmlns:a="http://schemas.openxmlformats.org/drawingml/2006/main"/>
        </p:blipFill>
        <p:spPr>
          <a:xfrm xmlns:a="http://schemas.openxmlformats.org/drawingml/2006/main">
            <a:off x="8163000" y="0"/>
            <a:ext cx="4028760" cy="1226160"/>
          </a:xfrm>
          <a:prstGeom xmlns:a="http://schemas.openxmlformats.org/drawingml/2006/main" prst="rect">
            <a:avLst/>
          </a:prstGeom>
          <a:ln xmlns:a="http://schemas.openxmlformats.org/drawingml/2006/main" w="19080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type="blank" preserve="1">
  <p:cSld name="Master1-Layout10-cust-Title,-sub-heading-and-content-on-white-bg-with-maroon-banner-bottom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White.Strip.Footer">
            <a:extLst xmlns:a="http://schemas.openxmlformats.org/drawingml/2006/main">
              <a:ext uri="{FF2B5EF4-FFF2-40B4-BE49-F238E27FC236}">
                <a16:creationId xmlns:a16="http://schemas.microsoft.com/office/drawing/2014/main" id="{3920BB29-1D63-4F41-8EF5-3A1B0FE9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1880"/>
            <a:ext cx="12192120" cy="2761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9" name="Footer">
            <a:extLst xmlns:a="http://schemas.openxmlformats.org/drawingml/2006/main">
              <a:ext uri="{FF2B5EF4-FFF2-40B4-BE49-F238E27FC236}">
                <a16:creationId xmlns:a16="http://schemas.microsoft.com/office/drawing/2014/main" id="{A1AAAC34-7B3A-4A49-922A-202906F8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0" y="6597720"/>
            <a:ext cx="11125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sz="1000" b="0" u="none">
                <a:solidFill>
                  <a:srgbClr val="B79961"/>
                </a:solidFill>
                <a:latin typeface="Trebuchet MS"/>
                <a:ea typeface="Trebuchet MS"/>
                <a:cs typeface="Trebuchet MS"/>
              </a:rPr>
              <a:t>School for Data Science and Computational Thinking, Faculty of Science and Faculty of Medicine and Health Sciences, Stellenbosch University</a:t>
            </a:r>
          </a:p>
        </p:txBody>
      </p:sp>
      <p:cxnSp>
        <p:nvCxnSpPr>
          <p:cNvPr id="131" name="Gold line"/>
          <p:cNvCxnSpPr/>
          <p:nvPr/>
        </p:nvCxnSpPr>
        <p:spPr>
          <a:xfrm xmlns:a="http://schemas.openxmlformats.org/drawingml/2006/main">
            <a:off x="0" y="6590160"/>
            <a:ext cx="121924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21" name="White.Banner.Top">
            <a:extLst xmlns:a="http://schemas.openxmlformats.org/drawingml/2006/main">
              <a:ext uri="{FF2B5EF4-FFF2-40B4-BE49-F238E27FC236}">
                <a16:creationId xmlns:a16="http://schemas.microsoft.com/office/drawing/2014/main" id="{EC98B3F4-8D69-4EFE-A4BF-90CD3D26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120" cy="14187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33" name="Straight Connector 16"/>
          <p:cNvCxnSpPr/>
          <p:nvPr/>
        </p:nvCxnSpPr>
        <p:spPr>
          <a:xfrm xmlns:a="http://schemas.openxmlformats.org/drawingml/2006/main">
            <a:off x="-355680" y="1413720"/>
            <a:ext cx="139269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23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9F4E474-08BD-4894-A13C-373F2ABC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" y="354600"/>
            <a:ext cx="11511360" cy="6143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4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E61A0EC-36F9-429A-8F5E-ADD0A76E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280" y="31320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36" name="Straight Connector 20"/>
          <p:cNvCxnSpPr/>
          <p:nvPr/>
        </p:nvCxnSpPr>
        <p:spPr>
          <a:xfrm xmlns:a="http://schemas.openxmlformats.org/drawingml/2006/main">
            <a:off x="9249120" y="-425160"/>
            <a:ext cx="360" cy="754920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26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37D6E96-3331-4F9B-94A5-4E145174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080" y="650484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38" name="Straight Connector 23"/>
          <p:cNvCxnSpPr/>
          <p:nvPr/>
        </p:nvCxnSpPr>
        <p:spPr>
          <a:xfrm xmlns:a="http://schemas.openxmlformats.org/drawingml/2006/main">
            <a:off x="-354960" y="1697400"/>
            <a:ext cx="135327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pic>
        <p:nvPicPr>
          <p:cNvPr id="139" name="SU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586d20ee447a1"/>
          <a:stretch xmlns:a="http://schemas.openxmlformats.org/drawingml/2006/main"/>
        </p:blipFill>
        <p:spPr>
          <a:xfrm xmlns:a="http://schemas.openxmlformats.org/drawingml/2006/main">
            <a:off x="8163000" y="0"/>
            <a:ext cx="4028760" cy="1226160"/>
          </a:xfrm>
          <a:prstGeom xmlns:a="http://schemas.openxmlformats.org/drawingml/2006/main" prst="rect">
            <a:avLst/>
          </a:prstGeom>
          <a:ln xmlns:a="http://schemas.openxmlformats.org/drawingml/2006/main" w="19080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type="blank" preserve="1">
  <p:cSld name="Master1-Layout11-cust-Title-and-content-on-maroon-bg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White.Strip.Footer">
            <a:extLst xmlns:a="http://schemas.openxmlformats.org/drawingml/2006/main">
              <a:ext uri="{FF2B5EF4-FFF2-40B4-BE49-F238E27FC236}">
                <a16:creationId xmlns:a16="http://schemas.microsoft.com/office/drawing/2014/main" id="{C1E63EB4-7FC9-487A-80C3-EC15F3E1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1880"/>
            <a:ext cx="12192120" cy="2761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0" name="Footer">
            <a:extLst xmlns:a="http://schemas.openxmlformats.org/drawingml/2006/main">
              <a:ext uri="{FF2B5EF4-FFF2-40B4-BE49-F238E27FC236}">
                <a16:creationId xmlns:a16="http://schemas.microsoft.com/office/drawing/2014/main" id="{CF2FBEB4-45CD-42D1-8E55-533F604C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0" y="6597720"/>
            <a:ext cx="11125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sz="1000" b="0" u="none">
                <a:solidFill>
                  <a:srgbClr val="B79961"/>
                </a:solidFill>
                <a:latin typeface="Trebuchet MS"/>
                <a:ea typeface="Trebuchet MS"/>
                <a:cs typeface="Trebuchet MS"/>
              </a:rPr>
              <a:t>School for Data Science and Computational Thinking, Faculty of Science and Faculty of Medicine and Health Sciences, Stellenbosch University</a:t>
            </a:r>
          </a:p>
        </p:txBody>
      </p:sp>
      <p:cxnSp>
        <p:nvCxnSpPr>
          <p:cNvPr id="145" name="Gold line"/>
          <p:cNvCxnSpPr/>
          <p:nvPr/>
        </p:nvCxnSpPr>
        <p:spPr>
          <a:xfrm xmlns:a="http://schemas.openxmlformats.org/drawingml/2006/main">
            <a:off x="0" y="6590160"/>
            <a:ext cx="121924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32" name="White.Banner.Top">
            <a:extLst xmlns:a="http://schemas.openxmlformats.org/drawingml/2006/main">
              <a:ext uri="{FF2B5EF4-FFF2-40B4-BE49-F238E27FC236}">
                <a16:creationId xmlns:a16="http://schemas.microsoft.com/office/drawing/2014/main" id="{8888BD89-72E9-410B-B0A6-123CDC6A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120" cy="14187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47" name="Straight Connector 16"/>
          <p:cNvCxnSpPr/>
          <p:nvPr/>
        </p:nvCxnSpPr>
        <p:spPr>
          <a:xfrm xmlns:a="http://schemas.openxmlformats.org/drawingml/2006/main">
            <a:off x="-355680" y="1413720"/>
            <a:ext cx="139269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34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A3679C3-F401-449F-953C-9581A2D0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" y="354600"/>
            <a:ext cx="11511360" cy="6143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5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52796A9-A3F9-486A-9AC9-400EB1BE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280" y="31320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50" name="Straight Connector 20"/>
          <p:cNvCxnSpPr/>
          <p:nvPr/>
        </p:nvCxnSpPr>
        <p:spPr>
          <a:xfrm xmlns:a="http://schemas.openxmlformats.org/drawingml/2006/main">
            <a:off x="9249120" y="-425160"/>
            <a:ext cx="360" cy="754920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37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1E20E027-5310-4E20-9EC5-2E1555DD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080" y="650484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52" name="Straight Connector 23"/>
          <p:cNvCxnSpPr/>
          <p:nvPr/>
        </p:nvCxnSpPr>
        <p:spPr>
          <a:xfrm xmlns:a="http://schemas.openxmlformats.org/drawingml/2006/main">
            <a:off x="-354960" y="1697400"/>
            <a:ext cx="135327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pic>
        <p:nvPicPr>
          <p:cNvPr id="153" name="SU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d9d927a2f4820"/>
          <a:stretch xmlns:a="http://schemas.openxmlformats.org/drawingml/2006/main"/>
        </p:blipFill>
        <p:spPr>
          <a:xfrm xmlns:a="http://schemas.openxmlformats.org/drawingml/2006/main">
            <a:off x="8163000" y="0"/>
            <a:ext cx="4028760" cy="1226160"/>
          </a:xfrm>
          <a:prstGeom xmlns:a="http://schemas.openxmlformats.org/drawingml/2006/main" prst="rect">
            <a:avLst/>
          </a:prstGeom>
          <a:ln xmlns:a="http://schemas.openxmlformats.org/drawingml/2006/main" w="19080">
            <a:noFill/>
          </a:ln>
        </p:spPr>
      </p:pic>
      <p:sp>
        <p:nvSpPr>
          <p:cNvPr id="14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B4E8825-9B2C-40B2-B48B-64592CF527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14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1405F91-936D-4725-98BA-1FB8FF168F4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Master1-Layout12-cust-Section-divider-slide-on-maroon-bg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2" name="White.Strip.Footer">
            <a:extLst xmlns:a="http://schemas.openxmlformats.org/drawingml/2006/main">
              <a:ext uri="{FF2B5EF4-FFF2-40B4-BE49-F238E27FC236}">
                <a16:creationId xmlns:a16="http://schemas.microsoft.com/office/drawing/2014/main" id="{8C20B556-C290-4B1C-A0F6-4C298CCD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1880"/>
            <a:ext cx="12192120" cy="2761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3" name="Footer">
            <a:extLst xmlns:a="http://schemas.openxmlformats.org/drawingml/2006/main">
              <a:ext uri="{FF2B5EF4-FFF2-40B4-BE49-F238E27FC236}">
                <a16:creationId xmlns:a16="http://schemas.microsoft.com/office/drawing/2014/main" id="{56EB257A-7C2A-4411-907A-7162F703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0" y="6597720"/>
            <a:ext cx="11125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sz="1000" b="0" u="none">
                <a:solidFill>
                  <a:srgbClr val="B79961"/>
                </a:solidFill>
                <a:latin typeface="Trebuchet MS"/>
                <a:ea typeface="Trebuchet MS"/>
                <a:cs typeface="Trebuchet MS"/>
              </a:rPr>
              <a:t>School for Data Science and Computational Thinking, Faculty of Science and Faculty of Medicine and Health Sciences, Stellenbosch University</a:t>
            </a:r>
          </a:p>
        </p:txBody>
      </p:sp>
      <p:cxnSp>
        <p:nvCxnSpPr>
          <p:cNvPr id="158" name="Gold line"/>
          <p:cNvCxnSpPr/>
          <p:nvPr/>
        </p:nvCxnSpPr>
        <p:spPr>
          <a:xfrm xmlns:a="http://schemas.openxmlformats.org/drawingml/2006/main">
            <a:off x="0" y="6590160"/>
            <a:ext cx="121924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45" name="White.Banner.Top">
            <a:extLst xmlns:a="http://schemas.openxmlformats.org/drawingml/2006/main">
              <a:ext uri="{FF2B5EF4-FFF2-40B4-BE49-F238E27FC236}">
                <a16:creationId xmlns:a16="http://schemas.microsoft.com/office/drawing/2014/main" id="{18F36B82-B93A-401A-AB68-AA8AC742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120" cy="14187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60" name="Straight Connector 16"/>
          <p:cNvCxnSpPr/>
          <p:nvPr/>
        </p:nvCxnSpPr>
        <p:spPr>
          <a:xfrm xmlns:a="http://schemas.openxmlformats.org/drawingml/2006/main">
            <a:off x="-355680" y="1413720"/>
            <a:ext cx="139269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47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7108B39-FD5E-4782-9B34-A18D2273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" y="354600"/>
            <a:ext cx="11511360" cy="6143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8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97F700C-17E0-4C32-8EB6-EA8DE00E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280" y="31320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63" name="Straight Connector 20"/>
          <p:cNvCxnSpPr/>
          <p:nvPr/>
        </p:nvCxnSpPr>
        <p:spPr>
          <a:xfrm xmlns:a="http://schemas.openxmlformats.org/drawingml/2006/main">
            <a:off x="9249120" y="-425160"/>
            <a:ext cx="360" cy="754920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50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5B2C4F5-540E-48BD-8DDA-A34A6E59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080" y="650484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65" name="Straight Connector 23"/>
          <p:cNvCxnSpPr/>
          <p:nvPr/>
        </p:nvCxnSpPr>
        <p:spPr>
          <a:xfrm xmlns:a="http://schemas.openxmlformats.org/drawingml/2006/main">
            <a:off x="-354960" y="1697400"/>
            <a:ext cx="135327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pic>
        <p:nvPicPr>
          <p:cNvPr id="166" name="SU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1554c78e14022"/>
          <a:stretch xmlns:a="http://schemas.openxmlformats.org/drawingml/2006/main"/>
        </p:blipFill>
        <p:spPr>
          <a:xfrm xmlns:a="http://schemas.openxmlformats.org/drawingml/2006/main">
            <a:off x="8163000" y="0"/>
            <a:ext cx="4028760" cy="1226160"/>
          </a:xfrm>
          <a:prstGeom xmlns:a="http://schemas.openxmlformats.org/drawingml/2006/main" prst="rect">
            <a:avLst/>
          </a:prstGeom>
          <a:ln xmlns:a="http://schemas.openxmlformats.org/drawingml/2006/main" w="19080">
            <a:noFill/>
          </a:ln>
        </p:spPr>
      </p:pic>
      <p:sp>
        <p:nvSpPr>
          <p:cNvPr id="15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97AB599-344E-4DDE-B5D4-7FDB6E7108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15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F197A98-9902-4066-AA38-353AE8CE947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blank" preserve="1">
  <p:cSld name="Master1-Layout13-cust-Title-and-content-on-grey-bg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White.Strip.Footer">
            <a:extLst xmlns:a="http://schemas.openxmlformats.org/drawingml/2006/main">
              <a:ext uri="{FF2B5EF4-FFF2-40B4-BE49-F238E27FC236}">
                <a16:creationId xmlns:a16="http://schemas.microsoft.com/office/drawing/2014/main" id="{8015DEE9-DFD3-442E-B975-E4B3905B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1880"/>
            <a:ext cx="12192120" cy="2761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6" name="Footer">
            <a:extLst xmlns:a="http://schemas.openxmlformats.org/drawingml/2006/main">
              <a:ext uri="{FF2B5EF4-FFF2-40B4-BE49-F238E27FC236}">
                <a16:creationId xmlns:a16="http://schemas.microsoft.com/office/drawing/2014/main" id="{A20039C5-25BF-42A7-A0B0-750CCF8D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0" y="6597720"/>
            <a:ext cx="11125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sz="1000" b="0" u="none">
                <a:solidFill>
                  <a:srgbClr val="B79961"/>
                </a:solidFill>
                <a:latin typeface="Trebuchet MS"/>
                <a:ea typeface="Trebuchet MS"/>
                <a:cs typeface="Trebuchet MS"/>
              </a:rPr>
              <a:t>School for Data Science and Computational Thinking, Faculty of Science and Faculty of Medicine and Health Sciences, Stellenbosch University</a:t>
            </a:r>
          </a:p>
        </p:txBody>
      </p:sp>
      <p:cxnSp>
        <p:nvCxnSpPr>
          <p:cNvPr id="171" name="Gold line"/>
          <p:cNvCxnSpPr/>
          <p:nvPr/>
        </p:nvCxnSpPr>
        <p:spPr>
          <a:xfrm xmlns:a="http://schemas.openxmlformats.org/drawingml/2006/main">
            <a:off x="0" y="6590160"/>
            <a:ext cx="121924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58" name="White.Banner.Top">
            <a:extLst xmlns:a="http://schemas.openxmlformats.org/drawingml/2006/main">
              <a:ext uri="{FF2B5EF4-FFF2-40B4-BE49-F238E27FC236}">
                <a16:creationId xmlns:a16="http://schemas.microsoft.com/office/drawing/2014/main" id="{1AE5B86D-97B2-420A-8940-B2F32E38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120" cy="14187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73" name="Straight Connector 16"/>
          <p:cNvCxnSpPr/>
          <p:nvPr/>
        </p:nvCxnSpPr>
        <p:spPr>
          <a:xfrm xmlns:a="http://schemas.openxmlformats.org/drawingml/2006/main">
            <a:off x="-355680" y="1413720"/>
            <a:ext cx="139269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60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D25A62F-303F-41D0-A6B0-30243C67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" y="354600"/>
            <a:ext cx="11511360" cy="6143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1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76F9833-B5F4-477D-95CA-B84D1149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280" y="31320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76" name="Straight Connector 20"/>
          <p:cNvCxnSpPr/>
          <p:nvPr/>
        </p:nvCxnSpPr>
        <p:spPr>
          <a:xfrm xmlns:a="http://schemas.openxmlformats.org/drawingml/2006/main">
            <a:off x="9249120" y="-425160"/>
            <a:ext cx="360" cy="754920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6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6919305-9965-4FBE-AD57-DC4C34C3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080" y="650484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78" name="Straight Connector 23"/>
          <p:cNvCxnSpPr/>
          <p:nvPr/>
        </p:nvCxnSpPr>
        <p:spPr>
          <a:xfrm xmlns:a="http://schemas.openxmlformats.org/drawingml/2006/main">
            <a:off x="-354960" y="1697400"/>
            <a:ext cx="135327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pic>
        <p:nvPicPr>
          <p:cNvPr id="179" name="SU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0cdfcdfc14ce8"/>
          <a:stretch xmlns:a="http://schemas.openxmlformats.org/drawingml/2006/main"/>
        </p:blipFill>
        <p:spPr>
          <a:xfrm xmlns:a="http://schemas.openxmlformats.org/drawingml/2006/main">
            <a:off x="8163000" y="0"/>
            <a:ext cx="4028760" cy="1226160"/>
          </a:xfrm>
          <a:prstGeom xmlns:a="http://schemas.openxmlformats.org/drawingml/2006/main" prst="rect">
            <a:avLst/>
          </a:prstGeom>
          <a:ln xmlns:a="http://schemas.openxmlformats.org/drawingml/2006/main" w="19080">
            <a:noFill/>
          </a:ln>
        </p:spPr>
      </p:pic>
      <p:sp>
        <p:nvSpPr>
          <p:cNvPr id="16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9482BF7-7E55-42D1-9248-6586072EFA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16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18E8505-071E-4593-A3E6-EDC5CC66346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Master1-Layout14-cust-Section-divider-slide-on-grey-bg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" name="White.Strip.Footer">
            <a:extLst xmlns:a="http://schemas.openxmlformats.org/drawingml/2006/main">
              <a:ext uri="{FF2B5EF4-FFF2-40B4-BE49-F238E27FC236}">
                <a16:creationId xmlns:a16="http://schemas.microsoft.com/office/drawing/2014/main" id="{8283C5F0-D490-445A-8FAE-584C6C48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1880"/>
            <a:ext cx="12192120" cy="2761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9" name="Footer">
            <a:extLst xmlns:a="http://schemas.openxmlformats.org/drawingml/2006/main">
              <a:ext uri="{FF2B5EF4-FFF2-40B4-BE49-F238E27FC236}">
                <a16:creationId xmlns:a16="http://schemas.microsoft.com/office/drawing/2014/main" id="{F76395F1-CCCF-48FE-89B1-C5D3C8E7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0" y="6597720"/>
            <a:ext cx="11125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sz="1000" b="0" u="none">
                <a:solidFill>
                  <a:srgbClr val="B79961"/>
                </a:solidFill>
                <a:latin typeface="Trebuchet MS"/>
                <a:ea typeface="Trebuchet MS"/>
                <a:cs typeface="Trebuchet MS"/>
              </a:rPr>
              <a:t>School for Data Science and Computational Thinking, Faculty of Science and Faculty of Medicine and Health Sciences, Stellenbosch University</a:t>
            </a:r>
          </a:p>
        </p:txBody>
      </p:sp>
      <p:cxnSp>
        <p:nvCxnSpPr>
          <p:cNvPr id="184" name="Gold line"/>
          <p:cNvCxnSpPr/>
          <p:nvPr/>
        </p:nvCxnSpPr>
        <p:spPr>
          <a:xfrm xmlns:a="http://schemas.openxmlformats.org/drawingml/2006/main">
            <a:off x="0" y="6590160"/>
            <a:ext cx="121924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71" name="White.Banner.Top">
            <a:extLst xmlns:a="http://schemas.openxmlformats.org/drawingml/2006/main">
              <a:ext uri="{FF2B5EF4-FFF2-40B4-BE49-F238E27FC236}">
                <a16:creationId xmlns:a16="http://schemas.microsoft.com/office/drawing/2014/main" id="{EE6DC3EE-2318-41F2-88F4-785B4F35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120" cy="14187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86" name="Straight Connector 16"/>
          <p:cNvCxnSpPr/>
          <p:nvPr/>
        </p:nvCxnSpPr>
        <p:spPr>
          <a:xfrm xmlns:a="http://schemas.openxmlformats.org/drawingml/2006/main">
            <a:off x="-355680" y="1413720"/>
            <a:ext cx="139269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73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0D2FEAD-3298-407D-A32D-EC7802B5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" y="354600"/>
            <a:ext cx="11511360" cy="6143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4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290A8B8-ED5F-4480-A28E-7E14A04E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280" y="31320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89" name="Straight Connector 20"/>
          <p:cNvCxnSpPr/>
          <p:nvPr/>
        </p:nvCxnSpPr>
        <p:spPr>
          <a:xfrm xmlns:a="http://schemas.openxmlformats.org/drawingml/2006/main">
            <a:off x="9249120" y="-425160"/>
            <a:ext cx="360" cy="754920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76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09206C8-A195-47D5-90D0-68CC5BB8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080" y="650484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91" name="Straight Connector 23"/>
          <p:cNvCxnSpPr/>
          <p:nvPr/>
        </p:nvCxnSpPr>
        <p:spPr>
          <a:xfrm xmlns:a="http://schemas.openxmlformats.org/drawingml/2006/main">
            <a:off x="-354960" y="1697400"/>
            <a:ext cx="135327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pic>
        <p:nvPicPr>
          <p:cNvPr id="192" name="SU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4c5a9afc3417e"/>
          <a:stretch xmlns:a="http://schemas.openxmlformats.org/drawingml/2006/main"/>
        </p:blipFill>
        <p:spPr>
          <a:xfrm xmlns:a="http://schemas.openxmlformats.org/drawingml/2006/main">
            <a:off x="8163000" y="0"/>
            <a:ext cx="4028760" cy="1226160"/>
          </a:xfrm>
          <a:prstGeom xmlns:a="http://schemas.openxmlformats.org/drawingml/2006/main" prst="rect">
            <a:avLst/>
          </a:prstGeom>
          <a:ln xmlns:a="http://schemas.openxmlformats.org/drawingml/2006/main" w="19080">
            <a:noFill/>
          </a:ln>
        </p:spPr>
      </p:pic>
      <p:sp>
        <p:nvSpPr>
          <p:cNvPr id="17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0369E43-EA55-4E89-9EE3-13CEC083D4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18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CED58E7-5FB7-46E5-B167-6713996A6B7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Master1-Layout15-cust-Title-and-content-on-white-bg-with-maroon-bann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" name="White.Strip.Footer">
            <a:extLst xmlns:a="http://schemas.openxmlformats.org/drawingml/2006/main">
              <a:ext uri="{FF2B5EF4-FFF2-40B4-BE49-F238E27FC236}">
                <a16:creationId xmlns:a16="http://schemas.microsoft.com/office/drawing/2014/main" id="{E48C7656-C23C-435E-A7CF-B2245CD7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1880"/>
            <a:ext cx="12192120" cy="2761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2" name="Footer">
            <a:extLst xmlns:a="http://schemas.openxmlformats.org/drawingml/2006/main">
              <a:ext uri="{FF2B5EF4-FFF2-40B4-BE49-F238E27FC236}">
                <a16:creationId xmlns:a16="http://schemas.microsoft.com/office/drawing/2014/main" id="{53D64F50-E5D3-4E51-8EAD-1243EE6D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0" y="6597720"/>
            <a:ext cx="11125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sz="1000" b="0" u="none">
                <a:solidFill>
                  <a:srgbClr val="B79961"/>
                </a:solidFill>
                <a:latin typeface="Trebuchet MS"/>
                <a:ea typeface="Trebuchet MS"/>
                <a:cs typeface="Trebuchet MS"/>
              </a:rPr>
              <a:t>School for Data Science and Computational Thinking, Faculty of Science and Faculty of Medicine and Health Sciences, Stellenbosch University</a:t>
            </a:r>
          </a:p>
        </p:txBody>
      </p:sp>
      <p:cxnSp>
        <p:nvCxnSpPr>
          <p:cNvPr id="197" name="Gold line"/>
          <p:cNvCxnSpPr/>
          <p:nvPr/>
        </p:nvCxnSpPr>
        <p:spPr>
          <a:xfrm xmlns:a="http://schemas.openxmlformats.org/drawingml/2006/main">
            <a:off x="0" y="6590160"/>
            <a:ext cx="121924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84" name="White.Banner.Top">
            <a:extLst xmlns:a="http://schemas.openxmlformats.org/drawingml/2006/main">
              <a:ext uri="{FF2B5EF4-FFF2-40B4-BE49-F238E27FC236}">
                <a16:creationId xmlns:a16="http://schemas.microsoft.com/office/drawing/2014/main" id="{4F9DF1FA-9F4E-4FA8-8630-9CD2C20B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120" cy="14187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199" name="Straight Connector 16"/>
          <p:cNvCxnSpPr/>
          <p:nvPr/>
        </p:nvCxnSpPr>
        <p:spPr>
          <a:xfrm xmlns:a="http://schemas.openxmlformats.org/drawingml/2006/main">
            <a:off x="-355680" y="1413720"/>
            <a:ext cx="139269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86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A19A3B5-1C64-4034-9012-8F4D2EE6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" y="354600"/>
            <a:ext cx="11511360" cy="6143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7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2217DF0-9C08-4CEE-81B5-1C7C3D52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280" y="31320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202" name="Straight Connector 20"/>
          <p:cNvCxnSpPr/>
          <p:nvPr/>
        </p:nvCxnSpPr>
        <p:spPr>
          <a:xfrm xmlns:a="http://schemas.openxmlformats.org/drawingml/2006/main">
            <a:off x="9249120" y="-425160"/>
            <a:ext cx="360" cy="754920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89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830F293-1F60-4B53-83C0-8731F662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080" y="650484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204" name="Straight Connector 23"/>
          <p:cNvCxnSpPr/>
          <p:nvPr/>
        </p:nvCxnSpPr>
        <p:spPr>
          <a:xfrm xmlns:a="http://schemas.openxmlformats.org/drawingml/2006/main">
            <a:off x="-354960" y="1697400"/>
            <a:ext cx="135327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pic>
        <p:nvPicPr>
          <p:cNvPr id="205" name="SU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3137a812c4722"/>
          <a:stretch xmlns:a="http://schemas.openxmlformats.org/drawingml/2006/main"/>
        </p:blipFill>
        <p:spPr>
          <a:xfrm xmlns:a="http://schemas.openxmlformats.org/drawingml/2006/main">
            <a:off x="8163000" y="0"/>
            <a:ext cx="4028760" cy="1226160"/>
          </a:xfrm>
          <a:prstGeom xmlns:a="http://schemas.openxmlformats.org/drawingml/2006/main" prst="rect">
            <a:avLst/>
          </a:prstGeom>
          <a:ln xmlns:a="http://schemas.openxmlformats.org/drawingml/2006/main" w="19080">
            <a:noFill/>
          </a:ln>
        </p:spPr>
      </p:pic>
      <p:sp>
        <p:nvSpPr>
          <p:cNvPr id="19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2E81631-AE7D-4AB4-8D2F-6E2E92FAD0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type="blank" preserve="1">
  <p:cSld name="Master1-Layout16-cust-Title,-sub-heading-and-content-on-white-bg-with-maroon-banner-and-pattern-panel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4" name="White.Strip.Footer">
            <a:extLst xmlns:a="http://schemas.openxmlformats.org/drawingml/2006/main">
              <a:ext uri="{FF2B5EF4-FFF2-40B4-BE49-F238E27FC236}">
                <a16:creationId xmlns:a16="http://schemas.microsoft.com/office/drawing/2014/main" id="{4071A4CC-C2EB-4A0F-A4B2-77ED149B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1880"/>
            <a:ext cx="12192120" cy="2761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5" name="Footer">
            <a:extLst xmlns:a="http://schemas.openxmlformats.org/drawingml/2006/main">
              <a:ext uri="{FF2B5EF4-FFF2-40B4-BE49-F238E27FC236}">
                <a16:creationId xmlns:a16="http://schemas.microsoft.com/office/drawing/2014/main" id="{0070A04C-B240-422E-B3FF-FF2A6781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0" y="6597720"/>
            <a:ext cx="11125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sz="1000" b="0" u="none">
                <a:solidFill>
                  <a:srgbClr val="B79961"/>
                </a:solidFill>
                <a:latin typeface="Trebuchet MS"/>
                <a:ea typeface="Trebuchet MS"/>
                <a:cs typeface="Trebuchet MS"/>
              </a:rPr>
              <a:t>School for Data Science and Computational Thinking, Faculty of Science and Faculty of Medicine and Health Sciences, Stellenbosch University</a:t>
            </a:r>
          </a:p>
        </p:txBody>
      </p:sp>
      <p:cxnSp>
        <p:nvCxnSpPr>
          <p:cNvPr id="210" name="Gold line"/>
          <p:cNvCxnSpPr/>
          <p:nvPr/>
        </p:nvCxnSpPr>
        <p:spPr>
          <a:xfrm xmlns:a="http://schemas.openxmlformats.org/drawingml/2006/main">
            <a:off x="0" y="6590160"/>
            <a:ext cx="121924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97" name="White.Banner.Top">
            <a:extLst xmlns:a="http://schemas.openxmlformats.org/drawingml/2006/main">
              <a:ext uri="{FF2B5EF4-FFF2-40B4-BE49-F238E27FC236}">
                <a16:creationId xmlns:a16="http://schemas.microsoft.com/office/drawing/2014/main" id="{50FE14CF-68A1-4241-A480-0C4A1C7C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120" cy="14187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212" name="Straight Connector 16"/>
          <p:cNvCxnSpPr/>
          <p:nvPr/>
        </p:nvCxnSpPr>
        <p:spPr>
          <a:xfrm xmlns:a="http://schemas.openxmlformats.org/drawingml/2006/main">
            <a:off x="-355680" y="1413720"/>
            <a:ext cx="139269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199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723D358-5B9E-416D-B940-5843FC90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" y="354600"/>
            <a:ext cx="11511360" cy="6143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0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88C632F-27E8-4E03-9B40-05C6EFA8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280" y="31320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215" name="Straight Connector 20"/>
          <p:cNvCxnSpPr/>
          <p:nvPr/>
        </p:nvCxnSpPr>
        <p:spPr>
          <a:xfrm xmlns:a="http://schemas.openxmlformats.org/drawingml/2006/main">
            <a:off x="9249120" y="-425160"/>
            <a:ext cx="360" cy="754920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202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7A2BBAD-66A3-4F10-A231-92297FC5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080" y="650484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217" name="Straight Connector 23"/>
          <p:cNvCxnSpPr/>
          <p:nvPr/>
        </p:nvCxnSpPr>
        <p:spPr>
          <a:xfrm xmlns:a="http://schemas.openxmlformats.org/drawingml/2006/main">
            <a:off x="-354960" y="1697400"/>
            <a:ext cx="135327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pic>
        <p:nvPicPr>
          <p:cNvPr id="218" name="SU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3f2e69a074835"/>
          <a:stretch xmlns:a="http://schemas.openxmlformats.org/drawingml/2006/main"/>
        </p:blipFill>
        <p:spPr>
          <a:xfrm xmlns:a="http://schemas.openxmlformats.org/drawingml/2006/main">
            <a:off x="8163000" y="0"/>
            <a:ext cx="4028760" cy="1226160"/>
          </a:xfrm>
          <a:prstGeom xmlns:a="http://schemas.openxmlformats.org/drawingml/2006/main" prst="rect">
            <a:avLst/>
          </a:prstGeom>
          <a:ln xmlns:a="http://schemas.openxmlformats.org/drawingml/2006/main" w="19080">
            <a:noFill/>
          </a:ln>
        </p:spPr>
      </p:pic>
      <p:sp>
        <p:nvSpPr>
          <p:cNvPr id="20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22855C1-EE44-40E0-B641-139219EABD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20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9D9CB8D-8CFD-4384-8769-5C0CB3CD12A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Master1-Layout17-cust-Section-divider-slide-on-white-bg-with-maroon-bann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7" name="White.Strip.Footer">
            <a:extLst xmlns:a="http://schemas.openxmlformats.org/drawingml/2006/main">
              <a:ext uri="{FF2B5EF4-FFF2-40B4-BE49-F238E27FC236}">
                <a16:creationId xmlns:a16="http://schemas.microsoft.com/office/drawing/2014/main" id="{1B5BB177-47E3-48DC-B580-8C627CA7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1880"/>
            <a:ext cx="12192120" cy="2761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8" name="Footer">
            <a:extLst xmlns:a="http://schemas.openxmlformats.org/drawingml/2006/main">
              <a:ext uri="{FF2B5EF4-FFF2-40B4-BE49-F238E27FC236}">
                <a16:creationId xmlns:a16="http://schemas.microsoft.com/office/drawing/2014/main" id="{1F9364F0-3322-4049-9A24-DFD81192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0" y="6597720"/>
            <a:ext cx="11125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sz="1000" b="0" u="none">
                <a:solidFill>
                  <a:srgbClr val="B79961"/>
                </a:solidFill>
                <a:latin typeface="Trebuchet MS"/>
                <a:ea typeface="Trebuchet MS"/>
                <a:cs typeface="Trebuchet MS"/>
              </a:rPr>
              <a:t>School for Data Science and Computational Thinking, Faculty of Science and Faculty of Medicine and Health Sciences, Stellenbosch University</a:t>
            </a:r>
          </a:p>
        </p:txBody>
      </p:sp>
      <p:cxnSp>
        <p:nvCxnSpPr>
          <p:cNvPr id="223" name="Gold line"/>
          <p:cNvCxnSpPr/>
          <p:nvPr/>
        </p:nvCxnSpPr>
        <p:spPr>
          <a:xfrm xmlns:a="http://schemas.openxmlformats.org/drawingml/2006/main">
            <a:off x="0" y="6590160"/>
            <a:ext cx="121924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210" name="White.Banner.Top">
            <a:extLst xmlns:a="http://schemas.openxmlformats.org/drawingml/2006/main">
              <a:ext uri="{FF2B5EF4-FFF2-40B4-BE49-F238E27FC236}">
                <a16:creationId xmlns:a16="http://schemas.microsoft.com/office/drawing/2014/main" id="{C63A2FA4-31C5-4F75-9DE8-84D627FC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120" cy="14187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225" name="Straight Connector 16"/>
          <p:cNvCxnSpPr/>
          <p:nvPr/>
        </p:nvCxnSpPr>
        <p:spPr>
          <a:xfrm xmlns:a="http://schemas.openxmlformats.org/drawingml/2006/main">
            <a:off x="-355680" y="1413720"/>
            <a:ext cx="139269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212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CB1A03F-8538-4697-9A5F-53A6F4C2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" y="354600"/>
            <a:ext cx="11511360" cy="6143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3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3F411DD-B470-4D57-B099-9AFBECD7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280" y="31320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228" name="Straight Connector 20"/>
          <p:cNvCxnSpPr/>
          <p:nvPr/>
        </p:nvCxnSpPr>
        <p:spPr>
          <a:xfrm xmlns:a="http://schemas.openxmlformats.org/drawingml/2006/main">
            <a:off x="9249120" y="-425160"/>
            <a:ext cx="360" cy="754920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215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5F99D8F-E1B5-4DAA-A773-646F1082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080" y="650484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230" name="Straight Connector 23"/>
          <p:cNvCxnSpPr/>
          <p:nvPr/>
        </p:nvCxnSpPr>
        <p:spPr>
          <a:xfrm xmlns:a="http://schemas.openxmlformats.org/drawingml/2006/main">
            <a:off x="-354960" y="1697400"/>
            <a:ext cx="135327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pic>
        <p:nvPicPr>
          <p:cNvPr id="231" name="SU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69d6017ac4a1c"/>
          <a:stretch xmlns:a="http://schemas.openxmlformats.org/drawingml/2006/main"/>
        </p:blipFill>
        <p:spPr>
          <a:xfrm xmlns:a="http://schemas.openxmlformats.org/drawingml/2006/main">
            <a:off x="8163000" y="0"/>
            <a:ext cx="4028760" cy="1226160"/>
          </a:xfrm>
          <a:prstGeom xmlns:a="http://schemas.openxmlformats.org/drawingml/2006/main" prst="rect">
            <a:avLst/>
          </a:prstGeom>
          <a:ln xmlns:a="http://schemas.openxmlformats.org/drawingml/2006/main" w="19080">
            <a:noFill/>
          </a:ln>
        </p:spPr>
      </p:pic>
      <p:sp>
        <p:nvSpPr>
          <p:cNvPr id="21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48F77F2-BD6F-42F7-B032-208ED7C843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219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DB6F5CF-6CE6-41AB-B160-A73E521CE3E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Master1-Layout18-cust-Blank-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0.xml><?xml version="1.0" encoding="utf-8"?>
<p:sldLayout xmlns:p="http://schemas.openxmlformats.org/presentationml/2006/main" type="blank" preserve="1">
  <p:cSld name="Master1-Layout19-cust-Cover/End-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0" name="White.Strip.Footer">
            <a:extLst xmlns:a="http://schemas.openxmlformats.org/drawingml/2006/main">
              <a:ext uri="{FF2B5EF4-FFF2-40B4-BE49-F238E27FC236}">
                <a16:creationId xmlns:a16="http://schemas.microsoft.com/office/drawing/2014/main" id="{6BDAEAB2-5AF8-48AD-A8FC-D403B4B2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1880"/>
            <a:ext cx="12192120" cy="2761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1" name="Footer">
            <a:extLst xmlns:a="http://schemas.openxmlformats.org/drawingml/2006/main">
              <a:ext uri="{FF2B5EF4-FFF2-40B4-BE49-F238E27FC236}">
                <a16:creationId xmlns:a16="http://schemas.microsoft.com/office/drawing/2014/main" id="{495760BE-00CE-40EF-B35A-620D2A24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0" y="6597720"/>
            <a:ext cx="11125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sz="1000" b="0" u="none">
                <a:solidFill>
                  <a:srgbClr val="B79961"/>
                </a:solidFill>
                <a:latin typeface="Trebuchet MS"/>
                <a:ea typeface="Trebuchet MS"/>
                <a:cs typeface="Trebuchet MS"/>
              </a:rPr>
              <a:t>School for Data Science and Computational Thinking, Faculty of Science and Faculty of Medicine and Health Sciences, Stellenbosch University</a:t>
            </a:r>
          </a:p>
        </p:txBody>
      </p:sp>
      <p:cxnSp>
        <p:nvCxnSpPr>
          <p:cNvPr id="236" name="Gold line"/>
          <p:cNvCxnSpPr/>
          <p:nvPr/>
        </p:nvCxnSpPr>
        <p:spPr>
          <a:xfrm xmlns:a="http://schemas.openxmlformats.org/drawingml/2006/main">
            <a:off x="0" y="6590160"/>
            <a:ext cx="121924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223" name="White.Banner.Top">
            <a:extLst xmlns:a="http://schemas.openxmlformats.org/drawingml/2006/main">
              <a:ext uri="{FF2B5EF4-FFF2-40B4-BE49-F238E27FC236}">
                <a16:creationId xmlns:a16="http://schemas.microsoft.com/office/drawing/2014/main" id="{0FCA2AFB-F0DE-475C-AE94-0C6535A3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120" cy="14187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238" name="Straight Connector 16"/>
          <p:cNvCxnSpPr/>
          <p:nvPr/>
        </p:nvCxnSpPr>
        <p:spPr>
          <a:xfrm xmlns:a="http://schemas.openxmlformats.org/drawingml/2006/main">
            <a:off x="-355680" y="1413720"/>
            <a:ext cx="139269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225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F660F79-D6C8-4541-AA1D-835CE9DA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" y="354600"/>
            <a:ext cx="11511360" cy="6143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6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06DD59B-E33A-4291-A3D5-4E3D66BF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280" y="31320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241" name="Straight Connector 20"/>
          <p:cNvCxnSpPr/>
          <p:nvPr/>
        </p:nvCxnSpPr>
        <p:spPr>
          <a:xfrm xmlns:a="http://schemas.openxmlformats.org/drawingml/2006/main">
            <a:off x="9249120" y="-425160"/>
            <a:ext cx="360" cy="754920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228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9809324-43A7-425F-BDCB-04EE286B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080" y="650484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243" name="Straight Connector 23"/>
          <p:cNvCxnSpPr/>
          <p:nvPr/>
        </p:nvCxnSpPr>
        <p:spPr>
          <a:xfrm xmlns:a="http://schemas.openxmlformats.org/drawingml/2006/main">
            <a:off x="-354960" y="1697400"/>
            <a:ext cx="135327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pic>
        <p:nvPicPr>
          <p:cNvPr id="244" name="SU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c7576c79349f9"/>
          <a:stretch xmlns:a="http://schemas.openxmlformats.org/drawingml/2006/main"/>
        </p:blipFill>
        <p:spPr>
          <a:xfrm xmlns:a="http://schemas.openxmlformats.org/drawingml/2006/main">
            <a:off x="8163000" y="0"/>
            <a:ext cx="4028760" cy="1226160"/>
          </a:xfrm>
          <a:prstGeom xmlns:a="http://schemas.openxmlformats.org/drawingml/2006/main" prst="rect">
            <a:avLst/>
          </a:prstGeom>
          <a:ln xmlns:a="http://schemas.openxmlformats.org/drawingml/2006/main" w="19080">
            <a:noFill/>
          </a:ln>
        </p:spPr>
      </p:pic>
      <p:sp>
        <p:nvSpPr>
          <p:cNvPr id="23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C87DB39-8DFB-43EE-B6A1-544C717A66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23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405A875-0434-4EF9-AD60-0F45409F5C3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type="blank" preserve="1">
  <p:cSld name="Master1-Layout20-obj-Title-and-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3" name="White.Strip.Footer">
            <a:extLst xmlns:a="http://schemas.openxmlformats.org/drawingml/2006/main">
              <a:ext uri="{FF2B5EF4-FFF2-40B4-BE49-F238E27FC236}">
                <a16:creationId xmlns:a16="http://schemas.microsoft.com/office/drawing/2014/main" id="{50651CDB-6A7C-4018-9E1D-5DFF3FE2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1880"/>
            <a:ext cx="12192120" cy="2761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4" name="Footer">
            <a:extLst xmlns:a="http://schemas.openxmlformats.org/drawingml/2006/main">
              <a:ext uri="{FF2B5EF4-FFF2-40B4-BE49-F238E27FC236}">
                <a16:creationId xmlns:a16="http://schemas.microsoft.com/office/drawing/2014/main" id="{25885D9E-3956-4C34-9001-2C78FD2D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0" y="6597720"/>
            <a:ext cx="11125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sz="1000" b="0" u="none">
                <a:solidFill>
                  <a:srgbClr val="B79961"/>
                </a:solidFill>
                <a:latin typeface="Trebuchet MS"/>
                <a:ea typeface="Trebuchet MS"/>
                <a:cs typeface="Trebuchet MS"/>
              </a:rPr>
              <a:t>School for Data Science and Computational Thinking, Faculty of Science and Faculty of Medicine and Health Sciences, Stellenbosch University</a:t>
            </a:r>
          </a:p>
        </p:txBody>
      </p:sp>
      <p:cxnSp>
        <p:nvCxnSpPr>
          <p:cNvPr id="249" name="Gold line"/>
          <p:cNvCxnSpPr/>
          <p:nvPr/>
        </p:nvCxnSpPr>
        <p:spPr>
          <a:xfrm xmlns:a="http://schemas.openxmlformats.org/drawingml/2006/main">
            <a:off x="0" y="6590160"/>
            <a:ext cx="121924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236" name="White.Banner.Top">
            <a:extLst xmlns:a="http://schemas.openxmlformats.org/drawingml/2006/main">
              <a:ext uri="{FF2B5EF4-FFF2-40B4-BE49-F238E27FC236}">
                <a16:creationId xmlns:a16="http://schemas.microsoft.com/office/drawing/2014/main" id="{BC1D0D77-1C1C-4021-A1C9-454F7C67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120" cy="14187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251" name="Straight Connector 16"/>
          <p:cNvCxnSpPr/>
          <p:nvPr/>
        </p:nvCxnSpPr>
        <p:spPr>
          <a:xfrm xmlns:a="http://schemas.openxmlformats.org/drawingml/2006/main">
            <a:off x="-355680" y="1413720"/>
            <a:ext cx="139269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23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3BD651E-047A-4A42-AFE5-E81D9517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" y="354600"/>
            <a:ext cx="11511360" cy="6143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ADD6D57-51D3-4DC9-A205-D2AAC465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280" y="31320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254" name="Straight Connector 20"/>
          <p:cNvCxnSpPr/>
          <p:nvPr/>
        </p:nvCxnSpPr>
        <p:spPr>
          <a:xfrm xmlns:a="http://schemas.openxmlformats.org/drawingml/2006/main">
            <a:off x="9249120" y="-425160"/>
            <a:ext cx="360" cy="754920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241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BCB3DD2-BA58-422C-A6DB-B3939CC7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080" y="650484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256" name="Straight Connector 23"/>
          <p:cNvCxnSpPr/>
          <p:nvPr/>
        </p:nvCxnSpPr>
        <p:spPr>
          <a:xfrm xmlns:a="http://schemas.openxmlformats.org/drawingml/2006/main">
            <a:off x="-354960" y="1697400"/>
            <a:ext cx="135327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pic>
        <p:nvPicPr>
          <p:cNvPr id="257" name="SU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f6c31cf1046ae"/>
          <a:stretch xmlns:a="http://schemas.openxmlformats.org/drawingml/2006/main"/>
        </p:blipFill>
        <p:spPr>
          <a:xfrm xmlns:a="http://schemas.openxmlformats.org/drawingml/2006/main">
            <a:off x="8163000" y="0"/>
            <a:ext cx="4028760" cy="1226160"/>
          </a:xfrm>
          <a:prstGeom xmlns:a="http://schemas.openxmlformats.org/drawingml/2006/main" prst="rect">
            <a:avLst/>
          </a:prstGeom>
          <a:ln xmlns:a="http://schemas.openxmlformats.org/drawingml/2006/main" w="19080">
            <a:noFill/>
          </a:ln>
        </p:spPr>
      </p:pic>
      <p:sp>
        <p:nvSpPr>
          <p:cNvPr id="24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9C20F0A-96FB-4023-B036-B857355EDF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24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1DD1FB6-8D8B-4C4E-B2E0-8770F733308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type="blank" preserve="1">
  <p:cSld name="Master1-Layout21-blank-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6" name="White.Strip.Footer">
            <a:extLst xmlns:a="http://schemas.openxmlformats.org/drawingml/2006/main">
              <a:ext uri="{FF2B5EF4-FFF2-40B4-BE49-F238E27FC236}">
                <a16:creationId xmlns:a16="http://schemas.microsoft.com/office/drawing/2014/main" id="{C186116F-0FC1-4E82-B2C0-4B59E313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1880"/>
            <a:ext cx="12192120" cy="2761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7" name="Footer">
            <a:extLst xmlns:a="http://schemas.openxmlformats.org/drawingml/2006/main">
              <a:ext uri="{FF2B5EF4-FFF2-40B4-BE49-F238E27FC236}">
                <a16:creationId xmlns:a16="http://schemas.microsoft.com/office/drawing/2014/main" id="{15FD91D9-48E7-4BDB-9F25-A94E1223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0" y="6597720"/>
            <a:ext cx="11125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sz="1000" b="0" u="none">
                <a:solidFill>
                  <a:srgbClr val="B79961"/>
                </a:solidFill>
                <a:latin typeface="Trebuchet MS"/>
                <a:ea typeface="Trebuchet MS"/>
                <a:cs typeface="Trebuchet MS"/>
              </a:rPr>
              <a:t>School for Data Science and Computational Thinking, Faculty of Science and Faculty of Medicine and Health Sciences, Stellenbosch University</a:t>
            </a:r>
          </a:p>
        </p:txBody>
      </p:sp>
      <p:cxnSp>
        <p:nvCxnSpPr>
          <p:cNvPr id="264" name="Gold line"/>
          <p:cNvCxnSpPr/>
          <p:nvPr/>
        </p:nvCxnSpPr>
        <p:spPr>
          <a:xfrm xmlns:a="http://schemas.openxmlformats.org/drawingml/2006/main">
            <a:off x="0" y="6590160"/>
            <a:ext cx="121924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249" name="White.Banner.Top">
            <a:extLst xmlns:a="http://schemas.openxmlformats.org/drawingml/2006/main">
              <a:ext uri="{FF2B5EF4-FFF2-40B4-BE49-F238E27FC236}">
                <a16:creationId xmlns:a16="http://schemas.microsoft.com/office/drawing/2014/main" id="{DA599A38-C668-413A-A49A-516BFAE1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120" cy="14187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266" name="Straight Connector 16"/>
          <p:cNvCxnSpPr/>
          <p:nvPr/>
        </p:nvCxnSpPr>
        <p:spPr>
          <a:xfrm xmlns:a="http://schemas.openxmlformats.org/drawingml/2006/main">
            <a:off x="-355680" y="1413720"/>
            <a:ext cx="139269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251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04521DD-91F2-44C2-A318-94D2379E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" y="354600"/>
            <a:ext cx="11511360" cy="6143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2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D48DA21-E992-46DB-86DD-FF714A6C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280" y="31320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269" name="Straight Connector 20"/>
          <p:cNvCxnSpPr/>
          <p:nvPr/>
        </p:nvCxnSpPr>
        <p:spPr>
          <a:xfrm xmlns:a="http://schemas.openxmlformats.org/drawingml/2006/main">
            <a:off x="9249120" y="-425160"/>
            <a:ext cx="360" cy="754920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sp>
        <p:nvSpPr>
          <p:cNvPr id="254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BA5D9F9-05B9-47F8-8758-19DF384E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080" y="6504840"/>
            <a:ext cx="342360" cy="3420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600">
            <a:solidFill>
              <a:schemeClr val="accent1">
                <a:lumMod val="75000"/>
                <a:lumOff val="0"/>
              </a:scheme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271" name="Straight Connector 23"/>
          <p:cNvCxnSpPr/>
          <p:nvPr/>
        </p:nvCxnSpPr>
        <p:spPr>
          <a:xfrm xmlns:a="http://schemas.openxmlformats.org/drawingml/2006/main">
            <a:off x="-354960" y="1697400"/>
            <a:ext cx="13532760" cy="36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chemeClr val="accent1">
                <a:lumMod val="75000"/>
                <a:lumOff val="0"/>
              </a:schemeClr>
            </a:solidFill>
            <a:miter/>
          </a:ln>
        </p:spPr>
      </p:cxnSp>
      <p:pic>
        <p:nvPicPr>
          <p:cNvPr id="272" name="SU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63c5940714726"/>
          <a:stretch xmlns:a="http://schemas.openxmlformats.org/drawingml/2006/main"/>
        </p:blipFill>
        <p:spPr>
          <a:xfrm xmlns:a="http://schemas.openxmlformats.org/drawingml/2006/main">
            <a:off x="8163000" y="0"/>
            <a:ext cx="4028760" cy="1226160"/>
          </a:xfrm>
          <a:prstGeom xmlns:a="http://schemas.openxmlformats.org/drawingml/2006/main" prst="rect">
            <a:avLst/>
          </a:prstGeom>
          <a:ln xmlns:a="http://schemas.openxmlformats.org/drawingml/2006/main" w="19080">
            <a:noFill/>
          </a:ln>
        </p:spPr>
      </p:pic>
      <p:sp>
        <p:nvSpPr>
          <p:cNvPr id="25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EBF5FE1-E82D-4388-8A45-D759C7C58EB2}"/>
              </a:ext>
            </a:extLst>
          </p:cNvPr>
          <p:cNvSpPr>
            <a:spLocks xmlns:a="http://schemas.openxmlformats.org/drawingml/2006/main" noGrp="1"/>
          </p:cNvSpPr>
          <p:nvPr>
            <p:ph type="ftr" idx="1"/>
          </p:nvPr>
        </p:nvSpPr>
        <p:spPr>
          <a:xfrm xmlns:a="http://schemas.openxmlformats.org/drawingml/2006/main">
            <a:off x="0" y="0"/>
            <a:ext cx="360" cy="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91440" tIns="-45360" rIns="91440" bIns="-45360" anchor="t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25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C721874-82EB-473F-8965-056A51850454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0" y="0"/>
            <a:ext cx="360" cy="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91440" tIns="-45360" rIns="91440" bIns="-45360" anchor="t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1800" b="0" u="none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fld id="{B3B81F71-EF4B-4266-A971-00E9EBC7E524}" type="slidenum">
              <a:rPr sz="1800" b="0" u="none">
                <a:solidFill>
                  <a:srgbClr val="000000"/>
                </a:solidFill>
                <a:latin typeface="Aptos"/>
                <a:ea typeface="Aptos"/>
                <a:cs typeface="Aptos"/>
              </a:rPr>
              <a:t>&lt;number&gt;</a:t>
            </a:fld>
          </a:p>
        </p:txBody>
      </p:sp>
      <p:sp>
        <p:nvSpPr>
          <p:cNvPr id="25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3A51D7F3-CA9D-4EC5-B7F8-A63190EC71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26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F458F93-467F-49BA-A29B-19322248FF5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1609dd59204685" /><Relationship Type="http://schemas.openxmlformats.org/officeDocument/2006/relationships/slideLayout" Target="/ppt/slideLayouts/slideLayout1.xml" Id="R8e8568c9c9994820" /><Relationship Type="http://schemas.openxmlformats.org/officeDocument/2006/relationships/slideLayout" Target="/ppt/slideLayouts/slideLayout2.xml" Id="R34de1d4d3f3644ea" /><Relationship Type="http://schemas.openxmlformats.org/officeDocument/2006/relationships/slideLayout" Target="/ppt/slideLayouts/slideLayout3.xml" Id="Rea4997ff20eb45c7" /><Relationship Type="http://schemas.openxmlformats.org/officeDocument/2006/relationships/slideLayout" Target="/ppt/slideLayouts/slideLayout4.xml" Id="R45e31f3876ba46c3" /><Relationship Type="http://schemas.openxmlformats.org/officeDocument/2006/relationships/slideLayout" Target="/ppt/slideLayouts/slideLayout5.xml" Id="R5c96410a52534198" /><Relationship Type="http://schemas.openxmlformats.org/officeDocument/2006/relationships/slideLayout" Target="/ppt/slideLayouts/slideLayout6.xml" Id="R562d627632684fd3" /><Relationship Type="http://schemas.openxmlformats.org/officeDocument/2006/relationships/slideLayout" Target="/ppt/slideLayouts/slideLayout7.xml" Id="R629ab60cab104d08" /><Relationship Type="http://schemas.openxmlformats.org/officeDocument/2006/relationships/slideLayout" Target="/ppt/slideLayouts/slideLayout8.xml" Id="R34ad87070ded4686" /><Relationship Type="http://schemas.openxmlformats.org/officeDocument/2006/relationships/slideLayout" Target="/ppt/slideLayouts/slideLayout9.xml" Id="R22b4eb54997449e8" /><Relationship Type="http://schemas.openxmlformats.org/officeDocument/2006/relationships/slideLayout" Target="/ppt/slideLayouts/slideLayout10.xml" Id="R0a678d8742f747a5" /><Relationship Type="http://schemas.openxmlformats.org/officeDocument/2006/relationships/slideLayout" Target="/ppt/slideLayouts/slideLayout11.xml" Id="Rc0f1900952c64ffb" /><Relationship Type="http://schemas.openxmlformats.org/officeDocument/2006/relationships/slideLayout" Target="/ppt/slideLayouts/slideLayout12.xml" Id="R12e075c252264dd1" /><Relationship Type="http://schemas.openxmlformats.org/officeDocument/2006/relationships/slideLayout" Target="/ppt/slideLayouts/slideLayout13.xml" Id="Ra5a2773e95bb49f6" /><Relationship Type="http://schemas.openxmlformats.org/officeDocument/2006/relationships/slideLayout" Target="/ppt/slideLayouts/slideLayout14.xml" Id="Re14aac06988641d1" /><Relationship Type="http://schemas.openxmlformats.org/officeDocument/2006/relationships/slideLayout" Target="/ppt/slideLayouts/slideLayout15.xml" Id="Rd6d4d55a9519465a" /><Relationship Type="http://schemas.openxmlformats.org/officeDocument/2006/relationships/slideLayout" Target="/ppt/slideLayouts/slideLayout16.xml" Id="R8d8cc61204d54649" /><Relationship Type="http://schemas.openxmlformats.org/officeDocument/2006/relationships/slideLayout" Target="/ppt/slideLayouts/slideLayout17.xml" Id="Rdb14e054408d4c85" /><Relationship Type="http://schemas.openxmlformats.org/officeDocument/2006/relationships/slideLayout" Target="/ppt/slideLayouts/slideLayout18.xml" Id="R68346cd114ea472e" /><Relationship Type="http://schemas.openxmlformats.org/officeDocument/2006/relationships/slideLayout" Target="/ppt/slideLayouts/slideLayout19.xml" Id="R650a45132c7b4b57" /><Relationship Type="http://schemas.openxmlformats.org/officeDocument/2006/relationships/slideLayout" Target="/ppt/slideLayouts/slideLayout20.xml" Id="R9097167488854f08" /><Relationship Type="http://schemas.openxmlformats.org/officeDocument/2006/relationships/slideLayout" Target="/ppt/slideLayouts/slideLayout21.xml" Id="R4d946495f71e4344" /><Relationship Type="http://schemas.openxmlformats.org/officeDocument/2006/relationships/slideLayout" Target="/ppt/slideLayouts/slideLayout22.xml" Id="Rce530fa94d8948b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8568c9c9994820"/>
    <p:sldLayoutId xmlns:r="http://schemas.openxmlformats.org/officeDocument/2006/relationships" id="2147483650" r:id="R34de1d4d3f3644ea"/>
    <p:sldLayoutId xmlns:r="http://schemas.openxmlformats.org/officeDocument/2006/relationships" id="2147483651" r:id="Rea4997ff20eb45c7"/>
    <p:sldLayoutId xmlns:r="http://schemas.openxmlformats.org/officeDocument/2006/relationships" id="2147483652" r:id="R45e31f3876ba46c3"/>
    <p:sldLayoutId xmlns:r="http://schemas.openxmlformats.org/officeDocument/2006/relationships" id="2147483653" r:id="R5c96410a52534198"/>
    <p:sldLayoutId xmlns:r="http://schemas.openxmlformats.org/officeDocument/2006/relationships" id="2147483654" r:id="R562d627632684fd3"/>
    <p:sldLayoutId xmlns:r="http://schemas.openxmlformats.org/officeDocument/2006/relationships" id="2147483655" r:id="R629ab60cab104d08"/>
    <p:sldLayoutId xmlns:r="http://schemas.openxmlformats.org/officeDocument/2006/relationships" id="2147483656" r:id="R34ad87070ded4686"/>
    <p:sldLayoutId xmlns:r="http://schemas.openxmlformats.org/officeDocument/2006/relationships" id="2147483657" r:id="R22b4eb54997449e8"/>
    <p:sldLayoutId xmlns:r="http://schemas.openxmlformats.org/officeDocument/2006/relationships" id="2147483658" r:id="R0a678d8742f747a5"/>
    <p:sldLayoutId xmlns:r="http://schemas.openxmlformats.org/officeDocument/2006/relationships" id="2147483659" r:id="Rc0f1900952c64ffb"/>
    <p:sldLayoutId xmlns:r="http://schemas.openxmlformats.org/officeDocument/2006/relationships" id="2147483660" r:id="R12e075c252264dd1"/>
    <p:sldLayoutId xmlns:r="http://schemas.openxmlformats.org/officeDocument/2006/relationships" id="2147483661" r:id="Ra5a2773e95bb49f6"/>
    <p:sldLayoutId xmlns:r="http://schemas.openxmlformats.org/officeDocument/2006/relationships" id="2147483662" r:id="Re14aac06988641d1"/>
    <p:sldLayoutId xmlns:r="http://schemas.openxmlformats.org/officeDocument/2006/relationships" id="2147483663" r:id="Rd6d4d55a9519465a"/>
    <p:sldLayoutId xmlns:r="http://schemas.openxmlformats.org/officeDocument/2006/relationships" id="2147483664" r:id="R8d8cc61204d54649"/>
    <p:sldLayoutId xmlns:r="http://schemas.openxmlformats.org/officeDocument/2006/relationships" id="2147483665" r:id="Rdb14e054408d4c85"/>
    <p:sldLayoutId xmlns:r="http://schemas.openxmlformats.org/officeDocument/2006/relationships" id="2147483666" r:id="R68346cd114ea472e"/>
    <p:sldLayoutId xmlns:r="http://schemas.openxmlformats.org/officeDocument/2006/relationships" id="2147483667" r:id="R650a45132c7b4b57"/>
    <p:sldLayoutId xmlns:r="http://schemas.openxmlformats.org/officeDocument/2006/relationships" id="2147483668" r:id="R9097167488854f08"/>
    <p:sldLayoutId xmlns:r="http://schemas.openxmlformats.org/officeDocument/2006/relationships" id="2147483669" r:id="R4d946495f71e4344"/>
    <p:sldLayoutId xmlns:r="http://schemas.openxmlformats.org/officeDocument/2006/relationships" id="2147483670" r:id="Rce530fa94d8948bc"/>
  </p:sldLayoutIdLst>
</p:sldMaster>
</file>

<file path=ppt/slideMasters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adf1d1c80ab048a0" /><Relationship Type="http://schemas.openxmlformats.org/officeDocument/2006/relationships/image" Target="/ppt/media/image.jpeg" Id="R6d1c49e35edd4402" /><Relationship Type="http://schemas.openxmlformats.org/officeDocument/2006/relationships/image" Target="/ppt/media/image2.png" Id="R3778cd4a20c84e5d" /><Relationship Type="http://schemas.openxmlformats.org/officeDocument/2006/relationships/notesSlide" Target="/ppt/notesSlides/notesSlide1.xml" Id="R10aace2feff94d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d4442273a12437b" /><Relationship Type="http://schemas.openxmlformats.org/officeDocument/2006/relationships/notesSlide" Target="/ppt/notesSlides/notesSlide2.xml" Id="R63824388ad764a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a6dcc78ddce4f54" /><Relationship Type="http://schemas.openxmlformats.org/officeDocument/2006/relationships/notesSlide" Target="/ppt/notesSlides/notesSlide3.xml" Id="R912fa8863e2d41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6a64820210e4572" /><Relationship Type="http://schemas.openxmlformats.org/officeDocument/2006/relationships/image" Target="/ppt/media/image3.png" Id="Rd3cac0806f3f4c26" /><Relationship Type="http://schemas.openxmlformats.org/officeDocument/2006/relationships/notesSlide" Target="/ppt/notesSlides/notesSlide4.xml" Id="Rb9470f7901ba46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3859bb07625437b" /><Relationship Type="http://schemas.openxmlformats.org/officeDocument/2006/relationships/image" Target="/ppt/media/image4.png" Id="Raeb92ec415bb40ab" /><Relationship Type="http://schemas.openxmlformats.org/officeDocument/2006/relationships/notesSlide" Target="/ppt/notesSlides/notesSlide5.xml" Id="R2633ea52883c4e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778f186de054a45" /><Relationship Type="http://schemas.openxmlformats.org/officeDocument/2006/relationships/image" Target="/ppt/media/image5.png" Id="R0a88d05257204e0f" /><Relationship Type="http://schemas.openxmlformats.org/officeDocument/2006/relationships/notesSlide" Target="/ppt/notesSlides/notesSlide6.xml" Id="R547f19b5c4b546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a29cf6446af4be8" /><Relationship Type="http://schemas.openxmlformats.org/officeDocument/2006/relationships/notesSlide" Target="/ppt/notesSlides/notesSlide7.xml" Id="Rb9b45e6664c548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4e8598f728e4b73" /><Relationship Type="http://schemas.openxmlformats.org/officeDocument/2006/relationships/notesSlide" Target="/ppt/notesSlides/notesSlide8.xml" Id="R187a451b2a4741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d132ef83eed04c5c" /><Relationship Type="http://schemas.openxmlformats.org/officeDocument/2006/relationships/notesSlide" Target="/ppt/notesSlides/notesSlide9.xml" Id="R81d22f6158b84f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81ed39e432b43e4" /><Relationship Type="http://schemas.openxmlformats.org/officeDocument/2006/relationships/image" Target="/ppt/media/image6.png" Id="R59d7757a49874b0f" /><Relationship Type="http://schemas.openxmlformats.org/officeDocument/2006/relationships/notesSlide" Target="/ppt/notesSlides/notesSlide10.xml" Id="R10c4b0b8b2d84b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1b3d6d92473347f9" /><Relationship Type="http://schemas.openxmlformats.org/officeDocument/2006/relationships/image" Target="/ppt/media/image7.png" Id="R0efb3cdbd63645ea" /><Relationship Type="http://schemas.openxmlformats.org/officeDocument/2006/relationships/image" Target="/ppt/media/image8.png" Id="Rcab0d97f007e40e6" /><Relationship Type="http://schemas.openxmlformats.org/officeDocument/2006/relationships/notesSlide" Target="/ppt/notesSlides/notesSlide11.xml" Id="R62b2b0a26fa547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cd068b8cd1714d31" /><Relationship Type="http://schemas.openxmlformats.org/officeDocument/2006/relationships/image" Target="/ppt/media/image9.png" Id="Rc5353fa52add4813" /><Relationship Type="http://schemas.openxmlformats.org/officeDocument/2006/relationships/notesSlide" Target="/ppt/notesSlides/notesSlide12.xml" Id="R073b530e7db94c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7" name="Pict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c49e35edd4402"/>
          <a:stretch xmlns:a="http://schemas.openxmlformats.org/drawingml/2006/main"/>
        </p:blipFill>
        <p:spPr>
          <a:xfrm xmlns:a="http://schemas.openxmlformats.org/drawingml/2006/main">
            <a:off x="0" y="0"/>
            <a:ext cx="12192120" cy="6858000"/>
          </a:xfrm>
          <a:prstGeom xmlns:a="http://schemas.openxmlformats.org/drawingml/2006/main" prst="rect">
            <a:avLst/>
          </a:prstGeom>
          <a:ln xmlns:a="http://schemas.openxmlformats.org/drawingml/2006/main" w="38160">
            <a:noFill/>
          </a:ln>
        </p:spPr>
      </p:pic>
      <p:sp>
        <p:nvSpPr>
          <p:cNvPr id="268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AB8695D-BCD7-4D63-8008-4F1C39B7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-360"/>
            <a:ext cx="12192120" cy="54817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 xmlns:a="http://schemas.openxmlformats.org/drawingml/2006/main" rotWithShape="0">
            <a:gsLst>
              <a:gs pos="0">
                <a:srgbClr val="000000"/>
              </a:gs>
              <a:gs pos="100000">
                <a:srgbClr val="00194B"/>
              </a:gs>
            </a:gsLst>
            <a:lin ang="5400000"/>
          </a:gra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0" name="Rectangle">
            <a:extLst xmlns:a="http://schemas.openxmlformats.org/drawingml/2006/main">
              <a:ext uri="{FF2B5EF4-FFF2-40B4-BE49-F238E27FC236}">
                <a16:creationId xmlns:a16="http://schemas.microsoft.com/office/drawing/2014/main" id="{E0260228-C888-4EBF-A8B0-BA616650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360720"/>
            <a:ext cx="5271120" cy="28818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1" name="Rectangle">
            <a:extLst xmlns:a="http://schemas.openxmlformats.org/drawingml/2006/main">
              <a:ext uri="{FF2B5EF4-FFF2-40B4-BE49-F238E27FC236}">
                <a16:creationId xmlns:a16="http://schemas.microsoft.com/office/drawing/2014/main" id="{2DF4D6B5-DB57-4AFF-A6A8-BF0864F2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3242520"/>
            <a:ext cx="5271120" cy="18648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81" name="SU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8cd4a20c84e5d"/>
          <a:stretch xmlns:a="http://schemas.openxmlformats.org/drawingml/2006/main"/>
        </p:blipFill>
        <p:spPr>
          <a:xfrm xmlns:a="http://schemas.openxmlformats.org/drawingml/2006/main">
            <a:off x="7878960" y="-80640"/>
            <a:ext cx="4463280" cy="1343160"/>
          </a:xfrm>
          <a:prstGeom xmlns:a="http://schemas.openxmlformats.org/drawingml/2006/main" prst="rect">
            <a:avLst/>
          </a:prstGeom>
          <a:ln xmlns:a="http://schemas.openxmlformats.org/drawingml/2006/main" w="19080">
            <a:noFill/>
          </a:ln>
        </p:spPr>
      </p:pic>
      <p:sp>
        <p:nvSpPr>
          <p:cNvPr id="273" name="Photo by ...">
            <a:extLst xmlns:a="http://schemas.openxmlformats.org/drawingml/2006/main">
              <a:ext uri="{FF2B5EF4-FFF2-40B4-BE49-F238E27FC236}">
                <a16:creationId xmlns:a16="http://schemas.microsoft.com/office/drawing/2014/main" id="{EE53A088-3007-40B3-A562-8ECE370C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960" y="6627240"/>
            <a:ext cx="1433160" cy="230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0" u="none">
                <a:solidFill>
                  <a:srgbClr val="F2F2F2"/>
                </a:solidFill>
                <a:latin typeface="Trebuchet MS"/>
                <a:ea typeface="Trebuchet MS"/>
                <a:cs typeface="Trebuchet MS"/>
              </a:rPr>
              <a:t>Photo by Stefan Els</a:t>
            </a:r>
          </a:p>
        </p:txBody>
      </p:sp>
      <p:sp>
        <p:nvSpPr>
          <p:cNvPr id="27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AB66F60-2BB8-45F1-9E8C-2916FCE5D1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0080" y="667440"/>
            <a:ext cx="4890960" cy="226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80">
            <a:noFill/>
          </a:ln>
        </p:spPr>
        <p:txBody>
          <a:bodyPr xmlns:a="http://schemas.openxmlformats.org/drawingml/2006/main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90000"/>
              </a:lnSpc>
              <a:buNone/>
              <a:defRPr sz="2475" b="1">
                <a:solidFill>
                  <a:srgbClr val="FFFFFF"/>
                </a:solidFill>
              </a:defRPr>
            </a:pPr>
            <a:r>
              <a:rPr sz="2475" b="1" u="none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Species Distribution Models</a:t>
            </a:r>
          </a:p>
          <a:p xmlns:a="http://schemas.openxmlformats.org/drawingml/2006/main">
            <a:pPr indent="0" algn="l">
              <a:lnSpc>
                <a:spcPct val="90000"/>
              </a:lnSpc>
              <a:buNone/>
              <a:defRPr sz="2475" b="1">
                <a:solidFill>
                  <a:srgbClr val="FFFFFF"/>
                </a:solidFill>
              </a:defRPr>
            </a:pPr>
            <a:r>
              <a:rPr sz="2475" b="1" u="none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Foundations and applied modelling in R</a:t>
            </a:r>
          </a:p>
        </p:txBody>
      </p:sp>
    </p:spTree>
    <p:extLst>
      <p:ext uri="{BB962C8B-B14F-4D97-AF65-F5344CB8AC3E}">
        <p14:creationId xmlns:p14="http://schemas.microsoft.com/office/powerpoint/2010/main" val="1309614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A6DA6-34DE-4CA0-9027-4E13E2E5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132E"/>
                </a:solidFill>
              </a:defRPr>
            </a:pPr>
            <a:r>
              <a:rPr sz="2550" b="1" i="0">
                <a:solidFill>
                  <a:srgbClr val="00132E"/>
                </a:solidFill>
              </a:rPr>
              <a:t>What does a species distribution model do?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A28DE-2E9C-4D1E-9BB8-843EC0D5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52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It links observed records to environmental conditions, then projects that relationship across space.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DEDDE-59C2-4E47-B9B8-6293BBD0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06B28"/>
                </a:solidFill>
              </a:defRPr>
            </a:pPr>
            <a:r>
              <a:rPr sz="2250" b="1" i="0">
                <a:solidFill>
                  <a:srgbClr val="006B28"/>
                </a:solidFill>
              </a:rPr>
              <a:t>Records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6FC47-FFC6-465C-B9C0-554159C6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C6664"/>
                </a:solidFill>
              </a:defRPr>
            </a:pPr>
            <a:r>
              <a:rPr sz="1500" b="0" i="0">
                <a:solidFill>
                  <a:srgbClr val="5C6664"/>
                </a:solidFill>
              </a:rPr>
              <a:t>locations where the species was observed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08F0C-23FC-4168-9D32-9240A861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33700"/>
            <a:ext cx="781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A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83512-CFB3-4FA7-93A2-D2BF89E8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527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06B28"/>
                </a:solidFill>
              </a:defRPr>
            </a:pPr>
            <a:r>
              <a:rPr sz="2250" b="1" i="0">
                <a:solidFill>
                  <a:srgbClr val="006B28"/>
                </a:solidFill>
              </a:rPr>
              <a:t>Environment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08688-675B-4F59-9883-8DC90B08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C6664"/>
                </a:solidFill>
              </a:defRPr>
            </a:pPr>
            <a:r>
              <a:rPr sz="1500" b="0" i="0">
                <a:solidFill>
                  <a:srgbClr val="5C6664"/>
                </a:solidFill>
              </a:rPr>
              <a:t>temperature, rainfall, seasonality, habitat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B24AA-C274-4045-BCED-F19CA7D7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781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A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F1633-0040-47D2-959A-00F6159A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527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06B28"/>
                </a:solidFill>
              </a:defRPr>
            </a:pPr>
            <a:r>
              <a:rPr sz="2250" b="1" i="0">
                <a:solidFill>
                  <a:srgbClr val="006B28"/>
                </a:solidFill>
              </a:rPr>
              <a:t>Suitability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CCC0B-81C3-47C7-ABC3-61A73F88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670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C6664"/>
                </a:solidFill>
              </a:defRPr>
            </a:pPr>
            <a:r>
              <a:rPr sz="1500" b="0" i="0">
                <a:solidFill>
                  <a:srgbClr val="5C6664"/>
                </a:solidFill>
              </a:rPr>
              <a:t>a mapped hypothesis,</a:t>
            </a:r>
          </a:p>
          <a:p xmlns:a="http://schemas.openxmlformats.org/drawingml/2006/main">
            <a:pPr algn="ctr">
              <a:defRPr sz="1500" b="0" i="0">
                <a:solidFill>
                  <a:srgbClr val="5C6664"/>
                </a:solidFill>
              </a:defRPr>
            </a:pPr>
            <a:r>
              <a:rPr sz="1500" b="0" i="0">
                <a:solidFill>
                  <a:srgbClr val="5C6664"/>
                </a:solidFill>
              </a:rPr>
              <a:t>not proof of presence</a:t>
            </a:r>
          </a:p>
        </p:txBody>
      </p:sp>
    </p:spTree>
    <p:extLst>
      <p:ext uri="{BB962C8B-B14F-4D97-AF65-F5344CB8AC3E}">
        <p14:creationId xmlns:p14="http://schemas.microsoft.com/office/powerpoint/2010/main" val="10939421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DB9AA-C788-442C-9B3F-2EB06847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132E"/>
                </a:solidFill>
              </a:defRPr>
            </a:pPr>
            <a:r>
              <a:rPr sz="2550" b="1" i="0">
                <a:solidFill>
                  <a:srgbClr val="00132E"/>
                </a:solidFill>
              </a:rPr>
              <a:t>Suitability is not the same as distribution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5190E-38D4-4E7A-8080-7DAE18A6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52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Species may fail to occupy all suitable habitat, and records may miss places where the species occurs.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29600-0149-462B-837D-EBACF66F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EF9E2-B289-4F1D-BB1B-9D0FF42C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52625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Abiotic conditions can limit survival or reproduction.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4EFBC-C795-4B63-8CD6-7C483DDC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41022-9C09-41FC-93A0-E6DA9E10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05075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Biotic interactions can shape realised distributions.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C460A-6C48-422C-A2E8-EECBC8B6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92666-D105-4250-AC03-71B79A25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57525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Dispersal barriers can prevent occupation of suitable environments.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B8338-F2BD-4EB0-AF97-19623E32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5DAF2-E5A9-4694-AE2D-4CFBA30B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9975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Sampling effort changes what we observe.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D8ED0-2CD2-41A3-B256-D50FC3D6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3429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EA"/>
          </a:solidFill>
          <a:ln xmlns:a="http://schemas.openxmlformats.org/drawingml/2006/main" w="9525">
            <a:solidFill>
              <a:srgbClr val="08A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C88F14-BEE7-4799-B821-61A9B8AB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06B28"/>
                </a:solidFill>
              </a:defRPr>
            </a:pPr>
            <a:r>
              <a:rPr sz="2325" b="1" i="0">
                <a:solidFill>
                  <a:srgbClr val="006B28"/>
                </a:solidFill>
              </a:rPr>
              <a:t>SDM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592CC-A74B-4D71-B08F-97532BE2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09900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C6664"/>
                </a:solidFill>
              </a:defRPr>
            </a:pPr>
            <a:r>
              <a:rPr sz="1800" b="0" i="0">
                <a:solidFill>
                  <a:srgbClr val="5C6664"/>
                </a:solidFill>
              </a:rPr>
              <a:t>environmental suitability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9C7E8-EE83-4CC3-89A6-F37E6E83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43300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C6664"/>
                </a:solidFill>
              </a:defRPr>
            </a:pPr>
            <a:r>
              <a:rPr sz="1650" b="0" i="0">
                <a:solidFill>
                  <a:srgbClr val="5C6664"/>
                </a:solidFill>
              </a:rPr>
              <a:t>a hypothesis for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0939421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BAF3C-86AF-4059-9025-D7E5CD67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132E"/>
                </a:solidFill>
              </a:defRPr>
            </a:pPr>
            <a:r>
              <a:rPr sz="2550" b="1" i="0">
                <a:solidFill>
                  <a:srgbClr val="00132E"/>
                </a:solidFill>
              </a:rPr>
              <a:t>Worked example: Aedes aegypti in Brazil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080E7-CE9C-41AD-942B-87B1412F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52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After the foundation, the workshop uses a dengue vector as a practical modelling case.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B48E3-E77D-4D13-B660-1E7A9F0C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4BA09-B455-4FE7-A65A-8B9D8B01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GBIF gives reusable occurrence records.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13DFE-CCDC-4476-95BB-C2EBC082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A7FF2-404D-4977-96A6-DC8646A4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Brazil provides a national-scale projection exercise.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787FE-D7AF-4EDD-9C3E-B3CE67A2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67844-5DA6-4581-8BD4-5AC6D870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The model estimates vector suitability, not dengue risk.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544F0-A844-445D-9B7E-962002B3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FCB41-DEBC-4547-88D9-0CFC6452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The same script can be adapted to other species.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ac0806f3f4c26"/>
          <a:stretch xmlns:a="http://schemas.openxmlformats.org/drawingml/2006/main"/>
        </p:blipFill>
        <p:spPr>
          <a:xfrm xmlns:a="http://schemas.openxmlformats.org/drawingml/2006/main">
            <a:off x="6762750" y="1619250"/>
            <a:ext cx="4000500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9421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9EBA5F-516B-437F-A3C9-5E76A050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132E"/>
                </a:solidFill>
              </a:defRPr>
            </a:pPr>
            <a:r>
              <a:rPr sz="2550" b="1" i="0">
                <a:solidFill>
                  <a:srgbClr val="00132E"/>
                </a:solidFill>
              </a:rPr>
              <a:t>Occurrence data: useful, messy, teachable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CC56A-0C40-45C2-B40C-6087049F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52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The first modelling decision is whether the records are good enough for the question.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92ec415bb40ab"/>
          <a:stretch xmlns:a="http://schemas.openxmlformats.org/drawingml/2006/main"/>
        </p:blipFill>
        <p:spPr>
          <a:xfrm xmlns:a="http://schemas.openxmlformats.org/drawingml/2006/main">
            <a:off x="1009650" y="1562100"/>
            <a:ext cx="4000500" cy="4000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F5619-2FD6-4EA5-AA68-91097BF9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6B28"/>
                </a:solidFill>
              </a:defRPr>
            </a:pPr>
            <a:r>
              <a:rPr sz="2100" b="1" i="0">
                <a:solidFill>
                  <a:srgbClr val="006B28"/>
                </a:solidFill>
              </a:rPr>
              <a:t>Before modelling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AA6FD-7EF0-4776-B6DC-D66AF6A5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95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6B323-42C0-494C-B341-FDD9DD5E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0300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Remove records without coordinates.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BD9A5-6A6E-4864-B0FA-535EC988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9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0DB4D-6DA1-417B-871B-D376D91B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Check the study boundary.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BEE49-9BAC-440A-85DD-C1278821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CD223-F652-4D23-A6D3-1F221368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29000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Thin duplicate raster cells.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2B9BE-9ECD-4A0F-BAA5-4DFF72E1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99B0F-3E89-405B-803F-280D23DA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43350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Keep a clean backup for live teaching.</a:t>
            </a:r>
          </a:p>
        </p:txBody>
      </p:sp>
    </p:spTree>
    <p:extLst>
      <p:ext uri="{BB962C8B-B14F-4D97-AF65-F5344CB8AC3E}">
        <p14:creationId xmlns:p14="http://schemas.microsoft.com/office/powerpoint/2010/main" val="10939421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1F5ACC-41B1-4472-85A8-25C39820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132E"/>
                </a:solidFill>
              </a:defRPr>
            </a:pPr>
            <a:r>
              <a:rPr sz="2550" b="1" i="0">
                <a:solidFill>
                  <a:srgbClr val="00132E"/>
                </a:solidFill>
              </a:rPr>
              <a:t>Predictors define the environmental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B08B1-5194-4091-84B6-78DB5AC1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52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We keep four climate predictors so the first model is fast enough and interpretable enough for a 90-minute workshop.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8d05257204e0f"/>
          <a:stretch xmlns:a="http://schemas.openxmlformats.org/drawingml/2006/main"/>
        </p:blipFill>
        <p:spPr>
          <a:xfrm xmlns:a="http://schemas.openxmlformats.org/drawingml/2006/main">
            <a:off x="1143000" y="1571625"/>
            <a:ext cx="4000500" cy="4000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BC368-AEAA-4D74-BE52-4F3C1A36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28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6B28"/>
                </a:solidFill>
              </a:defRPr>
            </a:pPr>
            <a:r>
              <a:rPr sz="2100" b="1" i="0">
                <a:solidFill>
                  <a:srgbClr val="006B28"/>
                </a:solidFill>
              </a:rPr>
              <a:t>Workshop predictors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78579-A630-48F2-A2BC-AED52963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0196E-3988-4E9E-B789-FB62F836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38400"/>
            <a:ext cx="377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Annual mean temperature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BD6BC-5044-415E-B6ED-5710744B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C4B4A-5E13-4B40-9EA2-77DA1877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52750"/>
            <a:ext cx="377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Temperature seasonality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5EA8D-D96C-472D-90EA-58DA5ABF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62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076C1-20CB-41C3-ADBF-DECD2E59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67100"/>
            <a:ext cx="377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Annual precipitation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64FCF-3AF3-4B29-8DCA-1454F081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76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445D6-A95A-47C3-91CC-2ACAF2A3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81450"/>
            <a:ext cx="377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Precipitation seasonality</a:t>
            </a:r>
          </a:p>
        </p:txBody>
      </p:sp>
    </p:spTree>
    <p:extLst>
      <p:ext uri="{BB962C8B-B14F-4D97-AF65-F5344CB8AC3E}">
        <p14:creationId xmlns:p14="http://schemas.microsoft.com/office/powerpoint/2010/main" val="10939421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F12E1-906A-4826-BE06-4C0968B9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132E"/>
                </a:solidFill>
              </a:defRPr>
            </a:pPr>
            <a:r>
              <a:rPr sz="2550" b="1" i="0">
                <a:solidFill>
                  <a:srgbClr val="00132E"/>
                </a:solidFill>
              </a:rPr>
              <a:t>Presence-only data require pseudo-absences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AB3AA-7F3A-4E64-AA51-40B176F7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52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Pseudo-absences are comparison points. They are not confirmed absences.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DD9C3-2011-4FF1-876E-CBAD3153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06B28"/>
                </a:solidFill>
              </a:defRPr>
            </a:pPr>
            <a:r>
              <a:rPr sz="2175" b="1" i="0">
                <a:solidFill>
                  <a:srgbClr val="006B28"/>
                </a:solidFill>
              </a:rPr>
              <a:t>Presences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ECAF8-A64B-4E5B-86F0-1B3CDC4A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C6664"/>
                </a:solidFill>
              </a:defRPr>
            </a:pPr>
            <a:r>
              <a:rPr sz="1425" b="0" i="0">
                <a:solidFill>
                  <a:srgbClr val="5C6664"/>
                </a:solidFill>
              </a:rPr>
              <a:t>known occurrence records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ED333-C1D9-4E3C-A57C-67585DEA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28950"/>
            <a:ext cx="7143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A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A4677-DA37-4241-93C4-1A7CE259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06B28"/>
                </a:solidFill>
              </a:defRPr>
            </a:pPr>
            <a:r>
              <a:rPr sz="2175" b="1" i="0">
                <a:solidFill>
                  <a:srgbClr val="006B28"/>
                </a:solidFill>
              </a:rPr>
              <a:t>Pseudo-absences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079A3-DB6C-4CF3-B7F8-096B7319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19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C6664"/>
                </a:solidFill>
              </a:defRPr>
            </a:pPr>
            <a:r>
              <a:rPr sz="1425" b="0" i="0">
                <a:solidFill>
                  <a:srgbClr val="5C6664"/>
                </a:solidFill>
              </a:rPr>
              <a:t>background contrast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4FF6B-DDC2-40D2-861E-70AA239A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28950"/>
            <a:ext cx="7143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A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018EB-927B-485B-A5AF-69B0BE29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2415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06B28"/>
                </a:solidFill>
              </a:defRPr>
            </a:pPr>
            <a:r>
              <a:rPr sz="2175" b="1" i="0">
                <a:solidFill>
                  <a:srgbClr val="006B28"/>
                </a:solidFill>
              </a:rPr>
              <a:t>Formatted</a:t>
            </a:r>
          </a:p>
          <a:p xmlns:a="http://schemas.openxmlformats.org/drawingml/2006/main">
            <a:pPr algn="ctr">
              <a:defRPr sz="2175" b="1" i="0">
                <a:solidFill>
                  <a:srgbClr val="006B28"/>
                </a:solidFill>
              </a:defRPr>
            </a:pPr>
            <a:r>
              <a:rPr sz="2175" b="1" i="0">
                <a:solidFill>
                  <a:srgbClr val="006B28"/>
                </a:solidFill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3CE97-DC03-44B9-B7BC-DC7AD48A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052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C6664"/>
                </a:solidFill>
              </a:defRPr>
            </a:pPr>
            <a:r>
              <a:rPr sz="1425" b="0" i="0">
                <a:solidFill>
                  <a:srgbClr val="5C6664"/>
                </a:solidFill>
              </a:rPr>
              <a:t>ready for biomod2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C5ED8-4BCB-47D8-B5A0-7B1BDD03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62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6B173D"/>
                </a:solidFill>
              </a:defRPr>
            </a:pPr>
            <a:r>
              <a:rPr sz="1800" b="1" i="0">
                <a:solidFill>
                  <a:srgbClr val="6B173D"/>
                </a:solidFill>
              </a:rPr>
              <a:t>In the script: BIOMOD_FormatingData()</a:t>
            </a:r>
          </a:p>
        </p:txBody>
      </p:sp>
    </p:spTree>
    <p:extLst>
      <p:ext uri="{BB962C8B-B14F-4D97-AF65-F5344CB8AC3E}">
        <p14:creationId xmlns:p14="http://schemas.microsoft.com/office/powerpoint/2010/main" val="10939421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A6D59A-B68E-42D1-8A06-4ECEAE7D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132E"/>
                </a:solidFill>
              </a:defRPr>
            </a:pPr>
            <a:r>
              <a:rPr sz="2550" b="1" i="0">
                <a:solidFill>
                  <a:srgbClr val="00132E"/>
                </a:solidFill>
              </a:rPr>
              <a:t>Three algorithms, three modelling assumptions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49A3C-1749-4DC5-BD8D-8B0DAF70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52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We use multiple algorithms to make model behaviour visible.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DD9ED-1B04-4DD1-A705-80E7BDB7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006B28"/>
                </a:solidFill>
              </a:defRPr>
            </a:pPr>
            <a:r>
              <a:rPr sz="3300" b="1" i="0">
                <a:solidFill>
                  <a:srgbClr val="006B28"/>
                </a:solidFill>
              </a:rPr>
              <a:t>GLM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710E2-0307-4744-AC1B-524FB46E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003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A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86593-9EC1-4174-80A6-669909B4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transparent statistical trend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1C3D8-88B0-469B-B7D7-F3C40DF1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C6664"/>
                </a:solidFill>
              </a:defRPr>
            </a:pPr>
            <a:r>
              <a:rPr sz="1350" b="0" i="0">
                <a:solidFill>
                  <a:srgbClr val="5C6664"/>
                </a:solidFill>
              </a:rPr>
              <a:t>simpler shape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4D2EB-240E-460D-8ABB-F48F1CBA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006B28"/>
                </a:solidFill>
              </a:defRPr>
            </a:pPr>
            <a:r>
              <a:rPr sz="3300" b="1" i="0">
                <a:solidFill>
                  <a:srgbClr val="006B28"/>
                </a:solidFill>
              </a:rPr>
              <a:t>GBM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AFB9D-BB38-4638-B519-4A0BA475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A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94BB6-5217-4EA2-8666-7113F90D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boosted sequence of trees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D8A7A-9595-42EF-BC20-DB7D869D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C6664"/>
                </a:solidFill>
              </a:defRPr>
            </a:pPr>
            <a:r>
              <a:rPr sz="1350" b="0" i="0">
                <a:solidFill>
                  <a:srgbClr val="5C6664"/>
                </a:solidFill>
              </a:rPr>
              <a:t>flexible shape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189C4-F81D-4A7B-A9F1-8886F6EC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006B28"/>
                </a:solidFill>
              </a:defRPr>
            </a:pPr>
            <a:r>
              <a:rPr sz="3300" b="1" i="0">
                <a:solidFill>
                  <a:srgbClr val="006B28"/>
                </a:solidFill>
              </a:rPr>
              <a:t>RF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B9903-3AE7-499A-8CFC-45A421A4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A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0F281-3B70-4384-BDCD-0AACEBCC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many trees voting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A9288F-9C61-4677-9DF8-CAB65007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C6664"/>
                </a:solidFill>
              </a:defRPr>
            </a:pPr>
            <a:r>
              <a:rPr sz="1350" b="0" i="0">
                <a:solidFill>
                  <a:srgbClr val="5C6664"/>
                </a:solidFill>
              </a:rPr>
              <a:t>robust shape</a:t>
            </a:r>
          </a:p>
        </p:txBody>
      </p:sp>
    </p:spTree>
    <p:extLst>
      <p:ext uri="{BB962C8B-B14F-4D97-AF65-F5344CB8AC3E}">
        <p14:creationId xmlns:p14="http://schemas.microsoft.com/office/powerpoint/2010/main" val="10939421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7B951-7873-4979-BA06-3EC06CBF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132E"/>
                </a:solidFill>
              </a:defRPr>
            </a:pPr>
            <a:r>
              <a:rPr sz="2550" b="1" i="0">
                <a:solidFill>
                  <a:srgbClr val="00132E"/>
                </a:solidFill>
              </a:rPr>
              <a:t>Evaluation asks whether predictions generalise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A32DE-E522-4311-A99B-EA84B7AD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52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Good scores make the model worth inspecting. They do not make the map true.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85ED8-56D1-40B8-8646-5063086F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06B28"/>
                </a:solidFill>
              </a:defRPr>
            </a:pPr>
            <a:r>
              <a:rPr sz="1875" b="1" i="0">
                <a:solidFill>
                  <a:srgbClr val="006B28"/>
                </a:solidFill>
              </a:rPr>
              <a:t>Training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006C2-B787-46B4-A7CD-9FD53588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0030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A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B7672-CB4E-487D-9FA3-6D3B2DBB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1111"/>
                </a:solidFill>
              </a:defRPr>
            </a:pPr>
            <a:r>
              <a:rPr sz="1875" b="1" i="0">
                <a:solidFill>
                  <a:srgbClr val="111111"/>
                </a:solidFill>
              </a:rPr>
              <a:t>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0CCB1-974E-497F-8704-8C252ECB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A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8EEF9-06E5-45F9-AB57-6B4FDD7C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06B28"/>
                </a:solidFill>
              </a:defRPr>
            </a:pPr>
            <a:r>
              <a:rPr sz="1875" b="1" i="0">
                <a:solidFill>
                  <a:srgbClr val="006B28"/>
                </a:solidFill>
              </a:rPr>
              <a:t>Test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F80AF-B05F-4C85-AF10-38011D7A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10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6B173D"/>
                </a:solidFill>
              </a:defRPr>
            </a:pPr>
            <a:r>
              <a:rPr sz="3150" b="1" i="0">
                <a:solidFill>
                  <a:srgbClr val="6B173D"/>
                </a:solidFill>
              </a:rPr>
              <a:t>TSS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BBDF21-CFF8-490C-874E-84110CB5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C6664"/>
                </a:solidFill>
              </a:defRPr>
            </a:pPr>
            <a:r>
              <a:rPr sz="1500" b="0" i="0">
                <a:solidFill>
                  <a:srgbClr val="5C6664"/>
                </a:solidFill>
              </a:rPr>
              <a:t>threshold-based balance of sensitivity and specificity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03CD4-FD66-4C1F-8C46-4E0A86E0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10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6B173D"/>
                </a:solidFill>
              </a:defRPr>
            </a:pPr>
            <a:r>
              <a:rPr sz="3150" b="1" i="0">
                <a:solidFill>
                  <a:srgbClr val="6B173D"/>
                </a:solidFill>
              </a:rPr>
              <a:t>AUCroc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34C73-06C9-41C5-8030-53E69992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96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C6664"/>
                </a:solidFill>
              </a:defRPr>
            </a:pPr>
            <a:r>
              <a:rPr sz="1500" b="0" i="0">
                <a:solidFill>
                  <a:srgbClr val="5C6664"/>
                </a:solidFill>
              </a:rPr>
              <a:t>threshold-independent ranking of presences above absences</a:t>
            </a:r>
          </a:p>
        </p:txBody>
      </p:sp>
    </p:spTree>
    <p:extLst>
      <p:ext uri="{BB962C8B-B14F-4D97-AF65-F5344CB8AC3E}">
        <p14:creationId xmlns:p14="http://schemas.microsoft.com/office/powerpoint/2010/main" val="10939421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C1E54-D57F-46BC-826B-AB58764F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132E"/>
                </a:solidFill>
              </a:defRPr>
            </a:pPr>
            <a:r>
              <a:rPr sz="2550" b="1" i="0">
                <a:solidFill>
                  <a:srgbClr val="00132E"/>
                </a:solidFill>
              </a:rPr>
              <a:t>Variable importance: from output to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D734E-BC6C-40F7-93E1-6A295B7B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52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Importance is model sensitivity, not biological proof.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7757a49874b0f"/>
          <a:stretch xmlns:a="http://schemas.openxmlformats.org/drawingml/2006/main"/>
        </p:blipFill>
        <p:spPr>
          <a:xfrm xmlns:a="http://schemas.openxmlformats.org/drawingml/2006/main">
            <a:off x="704850" y="1571625"/>
            <a:ext cx="6400800" cy="4000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F6CA6-0469-46F7-81B2-11A69279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06B28"/>
                </a:solidFill>
              </a:defRPr>
            </a:pPr>
            <a:r>
              <a:rPr sz="2250" b="1" i="0">
                <a:solidFill>
                  <a:srgbClr val="006B28"/>
                </a:solidFill>
              </a:rPr>
              <a:t>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02441-9551-444F-AA64-70872624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959B6-0C3F-4217-8D1C-CC9D5B49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76500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Which predictors changed predictions most?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FC6E9-B01B-4DB1-A691-79D9ACAC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95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053B5-18A6-4683-BB3F-67B02152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00400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Do GLM, GBM, and RF agree?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FD3D8-1A93-4F89-8396-24CD07BC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9B1E6-7698-4B14-9F16-BFAA834C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24300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Could this be ecology, sampling, or correlation?</a:t>
            </a:r>
          </a:p>
        </p:txBody>
      </p:sp>
    </p:spTree>
    <p:extLst>
      <p:ext uri="{BB962C8B-B14F-4D97-AF65-F5344CB8AC3E}">
        <p14:creationId xmlns:p14="http://schemas.microsoft.com/office/powerpoint/2010/main" val="10939421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23BA4-6AEC-448C-B64D-53F50362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132E"/>
                </a:solidFill>
              </a:defRPr>
            </a:pPr>
            <a:r>
              <a:rPr sz="2550" b="1" i="0">
                <a:solidFill>
                  <a:srgbClr val="00132E"/>
                </a:solidFill>
              </a:rPr>
              <a:t>Ensembles and projections make choices visible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0CCBC-9890-4B73-BB56-3E4BF724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52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The map is a synthesis of model behaviour across Brazil.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b3cdbd63645ea"/>
          <a:stretch xmlns:a="http://schemas.openxmlformats.org/drawingml/2006/main"/>
        </p:blipFill>
        <p:spPr>
          <a:xfrm xmlns:a="http://schemas.openxmlformats.org/drawingml/2006/main">
            <a:off x="972911" y="1571625"/>
            <a:ext cx="4245429" cy="371475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0d97f007e40e6"/>
          <a:stretch xmlns:a="http://schemas.openxmlformats.org/drawingml/2006/main"/>
        </p:blipFill>
        <p:spPr>
          <a:xfrm xmlns:a="http://schemas.openxmlformats.org/drawingml/2006/main">
            <a:off x="6973661" y="1571625"/>
            <a:ext cx="4245429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ACE69-66E7-45EB-8A0F-5F7C807E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76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6B28"/>
                </a:solidFill>
              </a:defRPr>
            </a:pPr>
            <a:r>
              <a:rPr sz="1500" b="1" i="0">
                <a:solidFill>
                  <a:srgbClr val="006B28"/>
                </a:solidFill>
              </a:rPr>
              <a:t>individual model average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6096A-303C-4B38-AE9E-D0B12450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76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6B28"/>
                </a:solidFill>
              </a:defRPr>
            </a:pPr>
            <a:r>
              <a:rPr sz="1500" b="1" i="0">
                <a:solidFill>
                  <a:srgbClr val="006B28"/>
                </a:solidFill>
              </a:rPr>
              <a:t>ensemble projection</a:t>
            </a:r>
          </a:p>
        </p:txBody>
      </p:sp>
    </p:spTree>
    <p:extLst>
      <p:ext uri="{BB962C8B-B14F-4D97-AF65-F5344CB8AC3E}">
        <p14:creationId xmlns:p14="http://schemas.microsoft.com/office/powerpoint/2010/main" val="10939421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F2C41-CF2A-4D2C-8F12-9900759F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132E"/>
                </a:solidFill>
              </a:defRPr>
            </a:pPr>
            <a:r>
              <a:rPr sz="2550" b="1" i="0">
                <a:solidFill>
                  <a:srgbClr val="00132E"/>
                </a:solidFill>
              </a:rPr>
              <a:t>A good SDM should sharpen the next conversation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8AEBF-D247-488A-9AF4-6F4B8D3A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52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Now we build the model line by line in R.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53fa52add4813"/>
          <a:stretch xmlns:a="http://schemas.openxmlformats.org/drawingml/2006/main"/>
        </p:blipFill>
        <p:spPr>
          <a:xfrm xmlns:a="http://schemas.openxmlformats.org/drawingml/2006/main">
            <a:off x="762000" y="1718072"/>
            <a:ext cx="4095750" cy="358378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40229-A4EE-4242-8E89-73F74D26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06B28"/>
                </a:solidFill>
              </a:defRPr>
            </a:pPr>
            <a:r>
              <a:rPr sz="2175" b="1" i="0">
                <a:solidFill>
                  <a:srgbClr val="006B28"/>
                </a:solidFill>
              </a:rPr>
              <a:t>Before acting on a map, ask: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5E3AC-1160-4F17-B029-A8DC361B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95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6AA46-1659-43CC-A961-C7F8BFC5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Where is suitability high or low?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58DA8-2094-453F-825A-BFA29885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0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C8DC6-B9CF-4137-839E-59232B5C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95600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Where are the data thin?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BB08E-33B9-41A0-B9D9-DC9E7842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5CA48-E0CF-4111-A090-A3F05023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90900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What could be sampling bias?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E21AB-DB64-44F8-95C0-190850E7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BF2AE-E085-48A8-A7E6-00653358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86200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Which predictor story is plausible?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F393B-6BEE-40C9-87C0-22E1A3AD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4F733-EC14-4486-A057-50130F11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81500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What dengue surveillance data would you add?</a:t>
            </a:r>
          </a:p>
        </p:txBody>
      </p:sp>
    </p:spTree>
    <p:extLst>
      <p:ext uri="{BB962C8B-B14F-4D97-AF65-F5344CB8AC3E}">
        <p14:creationId xmlns:p14="http://schemas.microsoft.com/office/powerpoint/2010/main" val="1093942105"/>
      </p:ext>
    </p:extLst>
  </p:cSld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2026-07-28T06:31:30.4620000Z</dcterms:created>
  <dcterms:modified xsi:type="dcterms:W3CDTF">2026-07-28T06:31:30.4620000Z</dcterms:modified>
</coreProperties>
</file>