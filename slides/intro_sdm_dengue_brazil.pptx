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94ce4bbdda4b75" /><Relationship Type="http://schemas.openxmlformats.org/officeDocument/2006/relationships/extended-properties" Target="/docProps/app.xml" Id="Raf87dd3231b24a2b" /><Relationship Type="http://schemas.openxmlformats.org/officeDocument/2006/relationships/officeDocument" Target="/ppt/presentation.xml" Id="Raff8a9ef5b5940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20f11a815a42e2"/>
  </p:sldMasterIdLst>
  <p:notesMasterIdLst>
    <p:notesMasterId xmlns:r="http://schemas.openxmlformats.org/officeDocument/2006/relationships" r:id="Rc45378c345b24f2e"/>
  </p:notesMasterIdLst>
  <p:sldIdLst>
    <p:sldId xmlns:r="http://schemas.openxmlformats.org/officeDocument/2006/relationships" id="256" r:id="R1cf4656316434587"/>
    <p:sldId xmlns:r="http://schemas.openxmlformats.org/officeDocument/2006/relationships" id="257" r:id="Rb43db430432f4004"/>
    <p:sldId xmlns:r="http://schemas.openxmlformats.org/officeDocument/2006/relationships" id="258" r:id="R352fac5d68d44b2b"/>
    <p:sldId xmlns:r="http://schemas.openxmlformats.org/officeDocument/2006/relationships" id="259" r:id="Raf1ddf14679e434d"/>
    <p:sldId xmlns:r="http://schemas.openxmlformats.org/officeDocument/2006/relationships" id="260" r:id="Rb124a462f2fb4bbc"/>
    <p:sldId xmlns:r="http://schemas.openxmlformats.org/officeDocument/2006/relationships" id="261" r:id="R261ee69fcf454730"/>
    <p:sldId xmlns:r="http://schemas.openxmlformats.org/officeDocument/2006/relationships" id="262" r:id="R4fd5680c9fec4b18"/>
    <p:sldId xmlns:r="http://schemas.openxmlformats.org/officeDocument/2006/relationships" id="263" r:id="Rc7668fe10931492a"/>
    <p:sldId xmlns:r="http://schemas.openxmlformats.org/officeDocument/2006/relationships" id="264" r:id="Re813ab77bf8c4d11"/>
    <p:sldId xmlns:r="http://schemas.openxmlformats.org/officeDocument/2006/relationships" id="265" r:id="Rf542d20da2934bca"/>
    <p:sldId xmlns:r="http://schemas.openxmlformats.org/officeDocument/2006/relationships" id="266" r:id="Rbf06c5ec05de4cb6"/>
    <p:sldId xmlns:r="http://schemas.openxmlformats.org/officeDocument/2006/relationships" id="267" r:id="R5cef00b4b33e453c"/>
    <p:sldId xmlns:r="http://schemas.openxmlformats.org/officeDocument/2006/relationships" id="268" r:id="R4a851cb0cbd34430"/>
    <p:sldId xmlns:r="http://schemas.openxmlformats.org/officeDocument/2006/relationships" id="269" r:id="R9c655a974b434f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8b6b58f8654eb8" /><Relationship Type="http://schemas.openxmlformats.org/officeDocument/2006/relationships/slideMaster" Target="/ppt/slideMasters/slideMaster1.xml" Id="R2a20f11a815a42e2" /><Relationship Type="http://schemas.openxmlformats.org/officeDocument/2006/relationships/notesMaster" Target="/ppt/notesMasters/notesMaster1.xml" Id="Rc45378c345b24f2e" /><Relationship Type="http://schemas.openxmlformats.org/officeDocument/2006/relationships/presProps" Target="/ppt/presProps.xml" Id="R98f947149d7c4209" /><Relationship Type="http://schemas.openxmlformats.org/officeDocument/2006/relationships/tableStyles" Target="/ppt/tableStyles.xml" Id="R5191eafabf8e4216" /><Relationship Type="http://schemas.openxmlformats.org/officeDocument/2006/relationships/slide" Target="/ppt/slides/slide1.xml" Id="R1cf4656316434587" /><Relationship Type="http://schemas.openxmlformats.org/officeDocument/2006/relationships/slide" Target="/ppt/slides/slide2.xml" Id="Rb43db430432f4004" /><Relationship Type="http://schemas.openxmlformats.org/officeDocument/2006/relationships/slide" Target="/ppt/slides/slide3.xml" Id="R352fac5d68d44b2b" /><Relationship Type="http://schemas.openxmlformats.org/officeDocument/2006/relationships/slide" Target="/ppt/slides/slide4.xml" Id="Raf1ddf14679e434d" /><Relationship Type="http://schemas.openxmlformats.org/officeDocument/2006/relationships/slide" Target="/ppt/slides/slide5.xml" Id="Rb124a462f2fb4bbc" /><Relationship Type="http://schemas.openxmlformats.org/officeDocument/2006/relationships/slide" Target="/ppt/slides/slide6.xml" Id="R261ee69fcf454730" /><Relationship Type="http://schemas.openxmlformats.org/officeDocument/2006/relationships/slide" Target="/ppt/slides/slide7.xml" Id="R4fd5680c9fec4b18" /><Relationship Type="http://schemas.openxmlformats.org/officeDocument/2006/relationships/slide" Target="/ppt/slides/slide8.xml" Id="Rc7668fe10931492a" /><Relationship Type="http://schemas.openxmlformats.org/officeDocument/2006/relationships/slide" Target="/ppt/slides/slide9.xml" Id="Re813ab77bf8c4d11" /><Relationship Type="http://schemas.openxmlformats.org/officeDocument/2006/relationships/slide" Target="/ppt/slides/slide10.xml" Id="Rf542d20da2934bca" /><Relationship Type="http://schemas.openxmlformats.org/officeDocument/2006/relationships/slide" Target="/ppt/slides/slide11.xml" Id="Rbf06c5ec05de4cb6" /><Relationship Type="http://schemas.openxmlformats.org/officeDocument/2006/relationships/slide" Target="/ppt/slides/slide12.xml" Id="R5cef00b4b33e453c" /><Relationship Type="http://schemas.openxmlformats.org/officeDocument/2006/relationships/slide" Target="/ppt/slides/slide13.xml" Id="R4a851cb0cbd34430" /><Relationship Type="http://schemas.openxmlformats.org/officeDocument/2006/relationships/slide" Target="/ppt/slides/slide14.xml" Id="R9c655a974b434f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6d475cce3349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0a180b1bb24275" /><Relationship Type="http://schemas.openxmlformats.org/officeDocument/2006/relationships/notesMaster" Target="/ppt/notesMasters/notesMaster1.xml" Id="Rf0a34bc04aff47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6e771253ee432c" /><Relationship Type="http://schemas.openxmlformats.org/officeDocument/2006/relationships/notesMaster" Target="/ppt/notesMasters/notesMaster1.xml" Id="R939f4575293642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be7f55d45b4205" /><Relationship Type="http://schemas.openxmlformats.org/officeDocument/2006/relationships/notesMaster" Target="/ppt/notesMasters/notesMaster1.xml" Id="R4f6b8608591c40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9d6f273767479e" /><Relationship Type="http://schemas.openxmlformats.org/officeDocument/2006/relationships/notesMaster" Target="/ppt/notesMasters/notesMaster1.xml" Id="R884b155d7dd34e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c464a8ca824494" /><Relationship Type="http://schemas.openxmlformats.org/officeDocument/2006/relationships/notesMaster" Target="/ppt/notesMasters/notesMaster1.xml" Id="R2c0b9e9a9c7d4f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1787e7ff494896" /><Relationship Type="http://schemas.openxmlformats.org/officeDocument/2006/relationships/notesMaster" Target="/ppt/notesMasters/notesMaster1.xml" Id="R514e30323e3840d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237778dd314124" /><Relationship Type="http://schemas.openxmlformats.org/officeDocument/2006/relationships/notesMaster" Target="/ppt/notesMasters/notesMaster1.xml" Id="R82071eaffc5b4b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ff543cc1fc42c5" /><Relationship Type="http://schemas.openxmlformats.org/officeDocument/2006/relationships/notesMaster" Target="/ppt/notesMasters/notesMaster1.xml" Id="R66d7920895264f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f14de5a91a46c2" /><Relationship Type="http://schemas.openxmlformats.org/officeDocument/2006/relationships/notesMaster" Target="/ppt/notesMasters/notesMaster1.xml" Id="Rb3c2db6ce48d4fb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64a69a1a7b423f" /><Relationship Type="http://schemas.openxmlformats.org/officeDocument/2006/relationships/notesMaster" Target="/ppt/notesMasters/notesMaster1.xml" Id="Reb31aaba32744f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ec2a4822a44403" /><Relationship Type="http://schemas.openxmlformats.org/officeDocument/2006/relationships/notesMaster" Target="/ppt/notesMasters/notesMaster1.xml" Id="R83cb771c582b4a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5e87f973a54c8d" /><Relationship Type="http://schemas.openxmlformats.org/officeDocument/2006/relationships/notesMaster" Target="/ppt/notesMasters/notesMaster1.xml" Id="R18d9b131ddaf46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26a574fc9d4a67" /><Relationship Type="http://schemas.openxmlformats.org/officeDocument/2006/relationships/notesMaster" Target="/ppt/notesMasters/notesMaster1.xml" Id="R1635128cff2842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55a69eaec64140" /><Relationship Type="http://schemas.openxmlformats.org/officeDocument/2006/relationships/notesMaster" Target="/ppt/notesMasters/notesMaster1.xml" Id="R6dd6164895b641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set the frame for the workshop as an applied modelling workflow, not a full SDM theory course.</a:t>
            </a:r>
          </a:p>
          <a:p xmlns:a="http://schemas.openxmlformats.org/drawingml/2006/main">
            <a:r>
              <a:t>[Sources] Workshop-generated ensemble suitability map; reference structure informed by Lecture1_12Juin17.pdf.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distinguish environmental suitability for Aedes aegypti from dengue risk.</a:t>
            </a:r>
          </a:p>
          <a:p xmlns:a="http://schemas.openxmlformats.org/drawingml/2006/main">
            <a:r>
              <a:t>[Sources] Workshop scope and user-provided dengue vector focus.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link old lecture material on abiotic/biotic limits to the workshop's climate-focused model.</a:t>
            </a:r>
          </a:p>
          <a:p xmlns:a="http://schemas.openxmlformats.org/drawingml/2006/main">
            <a:r>
              <a:t>[Sources] Concept adapted from Lecture1_12Juin17.pdf pages 8-15.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preview the code path participants will run line by line.</a:t>
            </a:r>
          </a:p>
          <a:p xmlns:a="http://schemas.openxmlformats.org/drawingml/2006/main">
            <a:r>
              <a:t>[Sources] Workshop R script workflow; BIOMOD2 workflow structure inspired by Lecture1_12Juin17.pdf pages 110-115.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GBIF is powerful but participants should expect quality control.</a:t>
            </a:r>
          </a:p>
          <a:p xmlns:a="http://schemas.openxmlformats.org/drawingml/2006/main">
            <a:r>
              <a:t>[Sources] Workshop-generated occurrence map from GBIF cached data; GBIF data source documented in workshop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environmental predictors are the variables biomod2 uses to learn the relationship.</a:t>
            </a:r>
          </a:p>
          <a:p xmlns:a="http://schemas.openxmlformats.org/drawingml/2006/main">
            <a:r>
              <a:t>[Sources] Workshop-generated WorldClim-derived predictor map; WorldClim source documented in workshop materials.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explain pseudo-absences before participants see PA.nb.absences and PA.strategy in the script.</a:t>
            </a:r>
          </a:p>
          <a:p xmlns:a="http://schemas.openxmlformats.org/drawingml/2006/main">
            <a:r>
              <a:t>[Sources] Concept adapted from Lecture1_12Juin17.pdf pages 106-109; biomod2 formatting used in workshop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explain why GLM, GBM, and RF are used as examples in the workshop.</a:t>
            </a:r>
          </a:p>
          <a:p xmlns:a="http://schemas.openxmlformats.org/drawingml/2006/main">
            <a:r>
              <a:t>[Sources] Algorithm framing adapted from Lecture1_12Juin17.pdf pages 45-56; workshop script runs GLM, GBM, RF in biomod2.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participants will see CV.perc, metric.eval, TSS, and AUCroc in BIOMOD_Modeling.</a:t>
            </a:r>
          </a:p>
          <a:p xmlns:a="http://schemas.openxmlformats.org/drawingml/2006/main">
            <a:r>
              <a:t>[Sources] Evaluation concepts adapted from Lecture1_12Juin17.pdf pages 59-74; biomod2 workshop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show the new variable importance output and how to talk about it responsibly.</a:t>
            </a:r>
          </a:p>
          <a:p xmlns:a="http://schemas.openxmlformats.org/drawingml/2006/main">
            <a:r>
              <a:t>[Sources] Workshop-generated variable importance plot from biomod2 model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explain EMmean and EMwmean before participants see BIOMOD_EnsembleModeling.</a:t>
            </a:r>
          </a:p>
          <a:p xmlns:a="http://schemas.openxmlformats.org/drawingml/2006/main">
            <a:r>
              <a:t>[Sources] Ensemble concept adapted from Lecture1_12Juin17.pdf pages 79-84; workshop script uses EMmean and EMwmean.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connect BIOMOD_Projection and BIOMOD_EnsembleForecasting to the visible map outputs.</a:t>
            </a:r>
          </a:p>
          <a:p xmlns:a="http://schemas.openxmlformats.org/drawingml/2006/main">
            <a:r>
              <a:t>[Sources] Workshop-generated suitability and ensemble suitability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end the intro by moving from model output to interpretation and critique.</a:t>
            </a:r>
          </a:p>
          <a:p xmlns:a="http://schemas.openxmlformats.org/drawingml/2006/main">
            <a:r>
              <a:t>[Sources] Workshop-generated ensemble map; modelling cautions adapted from Lecture1_12Juin17.pdf pages 116-120.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point: transition from slides to live R script.</a:t>
            </a:r>
          </a:p>
          <a:p xmlns:a="http://schemas.openxmlformats.org/drawingml/2006/main">
            <a:r>
              <a:t>[Sources] Workshop facilitation goal and R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3d954c30e45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ae0c45677d4dd6" /><Relationship Type="http://schemas.openxmlformats.org/officeDocument/2006/relationships/slideLayout" Target="/ppt/slideLayouts/slideLayout1.xml" Id="Rf5ac61c616404b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c61c616404b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1bdc364844090" /><Relationship Type="http://schemas.openxmlformats.org/officeDocument/2006/relationships/image" Target="/ppt/media/image.png" Id="Raa84c0328ed54f11" /><Relationship Type="http://schemas.openxmlformats.org/officeDocument/2006/relationships/notesSlide" Target="/ppt/notesSlides/notesSlide1.xml" Id="R8a22c6eb393e45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b9fe007ce4915" /><Relationship Type="http://schemas.openxmlformats.org/officeDocument/2006/relationships/notesSlide" Target="/ppt/notesSlides/notesSlide2.xml" Id="R303623662e0e40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348da14a04a61" /><Relationship Type="http://schemas.openxmlformats.org/officeDocument/2006/relationships/notesSlide" Target="/ppt/notesSlides/notesSlide3.xml" Id="Rf071773700924c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7ed2d4b644e8b" /><Relationship Type="http://schemas.openxmlformats.org/officeDocument/2006/relationships/notesSlide" Target="/ppt/notesSlides/notesSlide4.xml" Id="R83398155a0024c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80839983241f4" /><Relationship Type="http://schemas.openxmlformats.org/officeDocument/2006/relationships/image" Target="/ppt/media/image2.png" Id="R1075354c075c4b70" /><Relationship Type="http://schemas.openxmlformats.org/officeDocument/2006/relationships/notesSlide" Target="/ppt/notesSlides/notesSlide5.xml" Id="R3f257396c9764e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850d718504bbc" /><Relationship Type="http://schemas.openxmlformats.org/officeDocument/2006/relationships/image" Target="/ppt/media/image3.png" Id="R82f15e9ec0e64504" /><Relationship Type="http://schemas.openxmlformats.org/officeDocument/2006/relationships/notesSlide" Target="/ppt/notesSlides/notesSlide6.xml" Id="R1a2ead65341e4b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41ac366214af7" /><Relationship Type="http://schemas.openxmlformats.org/officeDocument/2006/relationships/notesSlide" Target="/ppt/notesSlides/notesSlide7.xml" Id="Ra6438793923744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a382c55774b11" /><Relationship Type="http://schemas.openxmlformats.org/officeDocument/2006/relationships/notesSlide" Target="/ppt/notesSlides/notesSlide8.xml" Id="R52979406224f43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ad811daf140cf" /><Relationship Type="http://schemas.openxmlformats.org/officeDocument/2006/relationships/notesSlide" Target="/ppt/notesSlides/notesSlide9.xml" Id="R1d551ef8994746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2cae1fdb14061" /><Relationship Type="http://schemas.openxmlformats.org/officeDocument/2006/relationships/image" Target="/ppt/media/image4.png" Id="Rebe0cdb52eb94de0" /><Relationship Type="http://schemas.openxmlformats.org/officeDocument/2006/relationships/notesSlide" Target="/ppt/notesSlides/notesSlide10.xml" Id="R1d060664b869457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42fe2d60c401c" /><Relationship Type="http://schemas.openxmlformats.org/officeDocument/2006/relationships/notesSlide" Target="/ppt/notesSlides/notesSlide11.xml" Id="R0df5e2a7023e40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1206c56b049a8" /><Relationship Type="http://schemas.openxmlformats.org/officeDocument/2006/relationships/image" Target="/ppt/media/image5.png" Id="R4607dfb197344b94" /><Relationship Type="http://schemas.openxmlformats.org/officeDocument/2006/relationships/image" Target="/ppt/media/image6.png" Id="R94222bbac2d144bd" /><Relationship Type="http://schemas.openxmlformats.org/officeDocument/2006/relationships/notesSlide" Target="/ppt/notesSlides/notesSlide12.xml" Id="R6e5bcfe078b84b2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9055107514486" /><Relationship Type="http://schemas.openxmlformats.org/officeDocument/2006/relationships/image" Target="/ppt/media/image7.png" Id="R5488bf66766a4fe5" /><Relationship Type="http://schemas.openxmlformats.org/officeDocument/2006/relationships/notesSlide" Target="/ppt/notesSlides/notesSlide13.xml" Id="Rd9c7da6e2ed74c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41291c9e34534" /><Relationship Type="http://schemas.openxmlformats.org/officeDocument/2006/relationships/notesSlide" Target="/ppt/notesSlides/notesSlide14.xml" Id="R51ed1aff48bf4d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32150-A321-4298-9F8C-C2F4A63C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5FB8B7-8670-44BF-B562-76211D3B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42950"/>
            <a:ext cx="5715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302B"/>
                </a:solidFill>
              </a:defRPr>
            </a:pPr>
            <a:r>
              <a:rPr sz="3600" b="1">
                <a:solidFill>
                  <a:srgbClr val="16302B"/>
                </a:solidFill>
              </a:rPr>
              <a:t>Species distribution models for dengue vector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6B4C5-89C8-4354-BAA5-D90091CA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5334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F635E"/>
                </a:solidFill>
              </a:defRPr>
            </a:pPr>
            <a:r>
              <a:rPr sz="1650" b="0">
                <a:solidFill>
                  <a:srgbClr val="4F635E"/>
                </a:solidFill>
              </a:rPr>
              <a:t>A beginner-friendly R workshop using Aedes aegypti, GBIF, Brazil climate data, and biomod2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AF29A-052A-4354-9AA4-BC3F62F1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16A807-1C7D-4804-9437-519DF79C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671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302B"/>
                </a:solidFill>
              </a:defRPr>
            </a:pPr>
            <a:r>
              <a:rPr sz="1050" b="1">
                <a:solidFill>
                  <a:srgbClr val="16302B"/>
                </a:solidFill>
              </a:rPr>
              <a:t>90 min guided modelling tutorial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4c0328ed54f11"/>
          <a:stretch xmlns:a="http://schemas.openxmlformats.org/drawingml/2006/main"/>
        </p:blipFill>
        <p:spPr>
          <a:xfrm xmlns:a="http://schemas.openxmlformats.org/drawingml/2006/main">
            <a:off x="6715125" y="1306116"/>
            <a:ext cx="4286250" cy="37504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167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633657-3BA4-4E1D-9BC7-393EBDA2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2C772-D599-4B5F-945F-9C3D67A9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WHY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BD0E4-A6BD-43A1-97C3-32E014C5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The public health question is simple; the model question is narrower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F2519-4460-48AF-AAC5-0438EBF4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01B15-3E32-491F-9999-3B44AF1B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F48F1-DB76-4F05-AD9A-159F8AE3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87C92"/>
                </a:solidFill>
              </a:defRPr>
            </a:pPr>
            <a:r>
              <a:rPr sz="2025" b="1">
                <a:solidFill>
                  <a:srgbClr val="287C92"/>
                </a:solidFill>
              </a:rPr>
              <a:t>Where could environmental conditions support the vector?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E88AD-E5B3-4027-8087-9B5545E7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F8E2C-ECCB-417B-BD9B-B6F6DF12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302B"/>
                </a:solidFill>
              </a:defRPr>
            </a:pPr>
            <a:r>
              <a:rPr sz="1725" b="0">
                <a:solidFill>
                  <a:srgbClr val="16302B"/>
                </a:solidFill>
              </a:rPr>
              <a:t>Dengue transmission needs more than a mosquito.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39379-BBED-4FE3-A63A-E1BF7099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194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FCCA0-B685-43F4-BE1E-E9ECBBB6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302B"/>
                </a:solidFill>
              </a:defRPr>
            </a:pPr>
            <a:r>
              <a:rPr sz="1725" b="0">
                <a:solidFill>
                  <a:srgbClr val="16302B"/>
                </a:solidFill>
              </a:rPr>
              <a:t>A vector SDM estimates environmental suitability for occurrence.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50A204-88B4-44C5-AD49-AF3BCF0C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861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01E816-EBAB-46F8-8E35-25C9F11E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6302B"/>
                </a:solidFill>
              </a:defRPr>
            </a:pPr>
            <a:r>
              <a:rPr sz="1725" b="0">
                <a:solidFill>
                  <a:srgbClr val="16302B"/>
                </a:solidFill>
              </a:rPr>
              <a:t>The map is a hypothesis to inspect, not a final risk product.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2AA3B-9227-482D-9A68-C13A33B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24000"/>
            <a:ext cx="3429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97B2B-C75F-4670-8D16-646D2B52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526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02B"/>
                </a:solidFill>
              </a:defRPr>
            </a:pPr>
            <a:r>
              <a:rPr sz="1650" b="1">
                <a:solidFill>
                  <a:srgbClr val="16302B"/>
                </a:solidFill>
              </a:rPr>
              <a:t>Vector presence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93F47-1502-4110-9874-709A6485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955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F635E"/>
                </a:solidFill>
              </a:defRPr>
            </a:pPr>
            <a:r>
              <a:rPr sz="1275" b="0">
                <a:solidFill>
                  <a:srgbClr val="4F635E"/>
                </a:solidFill>
              </a:rPr>
              <a:t>Can the vector live here?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AADAD2-02BB-4D2E-A398-CB71935C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762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70B5DC-59C7-4706-8048-2BD5E02C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28950"/>
            <a:ext cx="3429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BEC93D-A05A-4B39-ADAF-03613CF7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57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02B"/>
                </a:solidFill>
              </a:defRPr>
            </a:pPr>
            <a:r>
              <a:rPr sz="1650" b="1">
                <a:solidFill>
                  <a:srgbClr val="16302B"/>
                </a:solidFill>
              </a:rPr>
              <a:t>Dengue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0A1228-27E3-4D8F-910E-9586E347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004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F635E"/>
                </a:solidFill>
              </a:defRPr>
            </a:pPr>
            <a:r>
              <a:rPr sz="1275" b="0">
                <a:solidFill>
                  <a:srgbClr val="4F635E"/>
                </a:solidFill>
              </a:rPr>
              <a:t>Also needs people, virus, immunity, surveillance, and interventions.</a:t>
            </a:r>
          </a:p>
        </p:txBody>
      </p:sp>
    </p:spTree>
    <p:extLst>
      <p:ext uri="{BB962C8B-B14F-4D97-AF65-F5344CB8AC3E}">
        <p14:creationId xmlns:p14="http://schemas.microsoft.com/office/powerpoint/2010/main" val="12179276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3A8703-8FE1-476F-B91C-AFD45498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01418-D71B-4453-A6DF-B9F82075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WHY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2BBEC-AC46-4CE6-AAB3-955C1260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A species distribution is shaped by more than climate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3F63F-E7BA-445C-9DE0-5854995F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1DF9E-F15E-4102-8ECA-200DEEC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849EC7-0224-44A7-A8E8-1D03F999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838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F635E"/>
                </a:solidFill>
              </a:defRPr>
            </a:pPr>
            <a:r>
              <a:rPr sz="1725" b="0">
                <a:solidFill>
                  <a:srgbClr val="4F635E"/>
                </a:solidFill>
              </a:rPr>
              <a:t>For Aedes aegypti, we usually observe a pattern and then ask which processes might explain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EDEE1-CD4B-4A53-97BB-5CDF1BE5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324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25CEA-93A9-46C6-8118-FBDCA117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Abiotic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6D144-1C2E-437A-B55C-798C3BBA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Temperature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Rainfall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Seasonality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Urban microclimate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465A8-7868-448C-A976-329458CA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57450"/>
            <a:ext cx="2324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95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0C92C-C005-4188-AA21-0600E97F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Biotic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93B5B-20E2-412F-8AFE-9BC8276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76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Humans as hosts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Larval habitats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Competitors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Predators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21E867-C5E1-4486-A7C9-439A95C3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2324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9F712F-E1B1-4B0C-B7A7-AA3E9E3D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Movement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BE40F-4004-4F02-9C41-3B42CDFC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Dispersal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Trade routes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Urban connectivity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Introductions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901138-85AD-4FC1-A2FF-1374B4D1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2324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C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F6F42-CDA7-49B1-B17C-30661935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241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Observation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4D2228-D22B-4404-8552-6E3D8D7A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7660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GBIF effort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Misidentification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Duplicate records</a:t>
            </a:r>
          </a:p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Coordinate errors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0AAE1-784D-450B-8B4E-F26C6A3C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81625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2796F"/>
                </a:solidFill>
              </a:defRPr>
            </a:pPr>
            <a:r>
              <a:rPr sz="1800" b="1">
                <a:solidFill>
                  <a:srgbClr val="52796F"/>
                </a:solidFill>
              </a:rPr>
              <a:t>SDMs are useful because they make one part of this story explicit: the association between known occurrences and environmental predictors.</a:t>
            </a:r>
          </a:p>
        </p:txBody>
      </p:sp>
    </p:spTree>
    <p:extLst>
      <p:ext uri="{BB962C8B-B14F-4D97-AF65-F5344CB8AC3E}">
        <p14:creationId xmlns:p14="http://schemas.microsoft.com/office/powerpoint/2010/main" val="1885501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65AA26-9805-4482-B17C-0D042C42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E9A63-EDA5-4221-995B-770BD4D8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9BAF63-2CB6-43C7-ADAD-B5509139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Today we turn observations into a map through one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5EBF1-22BE-49CA-B411-97D7E15D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A7F24-1566-4DEA-946A-464674AA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BC5EF-579F-4A94-95AD-6F8F19B9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89B58-9DA6-4CC8-B90A-041AABE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7C538-AA62-4DDC-ADE7-F13249A2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Download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GBIF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95D96-3F7A-4D71-B623-47AAAAD2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30319-F30C-4DA7-A2E9-B3D2B2C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F580D-DFAF-4FE5-BE3B-4FB33179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D2B8EC-53E3-439A-B306-8AD1E689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Clean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coordinates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8C366A-5951-44FC-9959-E73B5263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9733B-E23C-4ADF-B801-B9DD2CC6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17605E-4207-47C2-AAC5-F9CF0AB5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FD83F-7BC5-4BCF-A1BD-17993E48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Load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predictors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8D332D-C538-48D2-9708-50B8F2F8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F66D3-134E-45AC-B680-12466CFB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C7AA6-2AAE-4D78-9D57-0F4DBD88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7BC09C-AD2A-4662-92F2-76D8C67C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Create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pseudo-absences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0FEEFA-E42A-4F6F-9C55-1A791A1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8E4F5-77CD-4584-8DE5-CB654F3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75ED6D-5E9A-4449-A7DE-F68F2FE7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2E3862-7336-4D02-8A14-41C6F7AB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Fit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GLM, GBM, 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F84DBC-2883-4CD2-9957-685DD77D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394C4-8A2F-428B-A95D-A88A0EB1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2901E2-6CDA-47E9-973F-D94A3EAD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08C07C-EAE6-48E3-AA59-FD83C8F7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Evaluate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TSS + AUC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03C4CD-0EEF-4819-AD70-CC9E8ADE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7571AB-AB75-4008-997E-5CCDD77A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BECFD9-22E1-4EC5-9732-662EDA43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9F5DFA-F9EA-4652-A98B-C2FF0F209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Ensemble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models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C752C9-CD3B-4747-A740-86675B37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76550"/>
            <a:ext cx="2476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F88180-0DCB-4A99-BA2D-5EA2B9D7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495550"/>
            <a:ext cx="1066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solidFill>
              <a:srgbClr val="D9E2D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C09D68-DD59-494C-ACC1-AAB6FD6A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19375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96C2C"/>
                </a:solidFill>
              </a:defRPr>
            </a:pPr>
            <a:r>
              <a:rPr sz="1575" b="1">
                <a:solidFill>
                  <a:srgbClr val="D96C2C"/>
                </a:solidFill>
              </a:rPr>
              <a:t>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BFEB3F-D726-4065-99F5-A578BDAA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52750"/>
            <a:ext cx="76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Project</a:t>
            </a:r>
          </a:p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across Brazil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599CEC-4BA3-4C3C-AA82-DC799723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24375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2796F"/>
                </a:solidFill>
              </a:defRPr>
            </a:pPr>
            <a:r>
              <a:rPr sz="2100" b="1">
                <a:solidFill>
                  <a:srgbClr val="52796F"/>
                </a:solidFill>
              </a:rPr>
              <a:t>A good SDM workflow is less about one magic algorithm and more about explicit choices at every step.</a:t>
            </a:r>
          </a:p>
        </p:txBody>
      </p:sp>
    </p:spTree>
    <p:extLst>
      <p:ext uri="{BB962C8B-B14F-4D97-AF65-F5344CB8AC3E}">
        <p14:creationId xmlns:p14="http://schemas.microsoft.com/office/powerpoint/2010/main" val="17830199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01CA9D-71F6-4940-8AB7-0B464B7C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607BB-901D-454C-BA52-82EC8B0E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BDAA1-DAA9-4E2D-9E3E-A771D479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GBIF is a starting point, not a clean truth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80967-95A5-4DC6-B316-1F65C138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59B51F-ABF8-4D03-B7AC-A6B9FC1E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5354c075c4b70"/>
          <a:stretch xmlns:a="http://schemas.openxmlformats.org/drawingml/2006/main"/>
        </p:blipFill>
        <p:spPr>
          <a:xfrm xmlns:a="http://schemas.openxmlformats.org/drawingml/2006/main">
            <a:off x="6667500" y="1314450"/>
            <a:ext cx="4000500" cy="4000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5976E-DEE1-460F-B727-3FD21FEC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38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52796F"/>
                </a:solidFill>
              </a:defRPr>
            </a:pPr>
            <a:r>
              <a:rPr sz="2025" b="1">
                <a:solidFill>
                  <a:srgbClr val="52796F"/>
                </a:solidFill>
              </a:rPr>
              <a:t>Useful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99300-2A5D-4E37-B669-0FE39E01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002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9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EF898-711F-4AC4-BB4D-4BBD46E0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13360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Open biodiversity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795C4-0DD6-46D9-8F17-786B43C1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765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9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6DE73-C2AD-4210-8327-54473380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60985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Reusable for future species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5642B-DBBE-4012-863C-576D4F32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96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2AD59-3266-4CC9-AC39-B325B921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08610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Transparent data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14EB7-321D-4694-AA5B-1FD6A75F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94C4C"/>
                </a:solidFill>
              </a:defRPr>
            </a:pPr>
            <a:r>
              <a:rPr sz="2025" b="1">
                <a:solidFill>
                  <a:srgbClr val="C94C4C"/>
                </a:solidFill>
              </a:rPr>
              <a:t>Needs cleaning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08486-AC8E-4D80-B851-0DA71C2C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00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B8448-866A-4ED6-B147-DE30D9A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34340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Missing coordinates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7A7E3-E8F0-412B-8411-BD58A682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196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2A994-81D6-408F-93C4-8A34F7CE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752975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Duplicate points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D7170-84D8-4F37-97D8-09609023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292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A01F7-D5E7-4034-9667-E19F5B0B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162550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Points outside the study area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F6332-089F-490A-A285-D09271C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38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12A73B-E240-4DA9-B939-593A9245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572125"/>
            <a:ext cx="411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Sampling bias</a:t>
            </a:r>
          </a:p>
        </p:txBody>
      </p:sp>
    </p:spTree>
    <p:extLst>
      <p:ext uri="{BB962C8B-B14F-4D97-AF65-F5344CB8AC3E}">
        <p14:creationId xmlns:p14="http://schemas.microsoft.com/office/powerpoint/2010/main" val="13033514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E57493-67BC-4768-96B9-F3710441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9BB1E-D645-475F-AB9C-8DF783C9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D9005-74F4-4DAA-8ABB-F1485466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Predictors describe the environmental stage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D3E0D-EAF5-4653-89E0-5C368854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D980C-7398-462F-BBDF-BDF15E05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15e9ec0e64504"/>
          <a:stretch xmlns:a="http://schemas.openxmlformats.org/drawingml/2006/main"/>
        </p:blipFill>
        <p:spPr>
          <a:xfrm xmlns:a="http://schemas.openxmlformats.org/drawingml/2006/main">
            <a:off x="1019175" y="1390650"/>
            <a:ext cx="4000500" cy="4000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16DE4-3198-456D-9096-52E19615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906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F635E"/>
                </a:solidFill>
              </a:defRPr>
            </a:pPr>
            <a:r>
              <a:rPr sz="1800" b="0">
                <a:solidFill>
                  <a:srgbClr val="4F635E"/>
                </a:solidFill>
              </a:rPr>
              <a:t>In the workshop we keep four climate predictors so the model runs quickly and the interpretation stays readable.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A6CA3-139E-4BE8-A529-DBCFC104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6F487-C6E8-49A1-93C2-27F7876B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812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02B"/>
                </a:solidFill>
              </a:defRPr>
            </a:pPr>
            <a:r>
              <a:rPr sz="1500" b="1">
                <a:solidFill>
                  <a:srgbClr val="16302B"/>
                </a:solidFill>
              </a:rPr>
              <a:t>Annual mean temperature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8C7FC-D744-4A82-87DF-A167F2A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8135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4DBE2-D814-45F6-AEBF-BCAA7236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02B"/>
                </a:solidFill>
              </a:defRPr>
            </a:pPr>
            <a:r>
              <a:rPr sz="1500" b="1">
                <a:solidFill>
                  <a:srgbClr val="16302B"/>
                </a:solidFill>
              </a:rPr>
              <a:t>Temperature 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00FF0-F77F-4B40-B3A8-C2803708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0525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A00EE4-7E9E-460F-8174-76600DA1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290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02B"/>
                </a:solidFill>
              </a:defRPr>
            </a:pPr>
            <a:r>
              <a:rPr sz="1500" b="1">
                <a:solidFill>
                  <a:srgbClr val="16302B"/>
                </a:solidFill>
              </a:rPr>
              <a:t>Annual precipitation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94948-6635-4644-B9FE-96B97A11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054A7-5E06-4328-B4AC-F776ED57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529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02B"/>
                </a:solidFill>
              </a:defRPr>
            </a:pPr>
            <a:r>
              <a:rPr sz="1500" b="1">
                <a:solidFill>
                  <a:srgbClr val="16302B"/>
                </a:solidFill>
              </a:rPr>
              <a:t>Precipitation seasonality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5E9064-3D2B-4780-81F5-1211AD15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73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87C92"/>
                </a:solidFill>
              </a:defRPr>
            </a:pPr>
            <a:r>
              <a:rPr sz="1650" b="1">
                <a:solidFill>
                  <a:srgbClr val="287C92"/>
                </a:solidFill>
              </a:rPr>
              <a:t>Question for the room: which of these might matter most for a container-breeding mosquito?</a:t>
            </a:r>
          </a:p>
        </p:txBody>
      </p:sp>
    </p:spTree>
    <p:extLst>
      <p:ext uri="{BB962C8B-B14F-4D97-AF65-F5344CB8AC3E}">
        <p14:creationId xmlns:p14="http://schemas.microsoft.com/office/powerpoint/2010/main" val="1940925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C6223-7644-48AE-83BE-8BDF4A5F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AAB5F-DDEA-4519-B6F2-49408C31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4B39B-A87D-44AC-B2DA-BD0E7ED2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Presence-only data need a comparison set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D1F60-E1DB-4781-8724-88970EA1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913D1-A513-453C-A9F0-89B285F7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6905D-46BF-4304-A745-672E600B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F635E"/>
                </a:solidFill>
              </a:defRPr>
            </a:pPr>
            <a:r>
              <a:rPr sz="1875" b="0">
                <a:solidFill>
                  <a:srgbClr val="4F635E"/>
                </a:solidFill>
              </a:rPr>
              <a:t>BIOMOD_FormatingData() gathers the ingredients into one modelling object.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CD0A3-23DF-498C-8C06-2DB790AC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28463-043D-49BB-B692-F9E34D74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289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Presences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BDD3EF-D255-46BF-AC1B-B9B46D21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95625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Places where Aedes aegypti was recorded.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D8E1C-59F3-4070-A41D-198BF96A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81250"/>
            <a:ext cx="29337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57CC5-E189-4F6F-A2A5-6FE25D2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7175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02B"/>
                </a:solidFill>
              </a:defRPr>
            </a:pPr>
            <a:r>
              <a:rPr sz="1800" b="1">
                <a:solidFill>
                  <a:srgbClr val="16302B"/>
                </a:solidFill>
              </a:rPr>
              <a:t>Pseudo-</a:t>
            </a:r>
          </a:p>
          <a:p xmlns:a="http://schemas.openxmlformats.org/drawingml/2006/main">
            <a:pPr algn="ctr">
              <a:defRPr sz="1800" b="1">
                <a:solidFill>
                  <a:srgbClr val="16302B"/>
                </a:solidFill>
              </a:defRPr>
            </a:pPr>
            <a:r>
              <a:rPr sz="1800" b="1">
                <a:solidFill>
                  <a:srgbClr val="16302B"/>
                </a:solidFill>
              </a:rPr>
              <a:t>absences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C0A9C-27B8-479C-ABA3-F43835BF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Background locations used as a comparison.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2D2705-F587-43F2-9EBF-3263874C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81250"/>
            <a:ext cx="2571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95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CF80F-2EB5-4D77-8FF8-9B7A4B5D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289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302B"/>
                </a:solidFill>
              </a:defRPr>
            </a:pPr>
            <a:r>
              <a:rPr sz="1950" b="1">
                <a:solidFill>
                  <a:srgbClr val="16302B"/>
                </a:solidFill>
              </a:rPr>
              <a:t>Predictors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0D04C6-CD25-4422-B1FC-F3458D69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95625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Climate values extracted at those locations.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ACA5A-1EEC-4F01-890E-09C97497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981325"/>
            <a:ext cx="7239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7B40B-BD2A-4B9D-9E83-2F1624BE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81325"/>
            <a:ext cx="5715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16969-F498-4B49-9FA8-C04F1F31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0537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94C4C"/>
                </a:solidFill>
              </a:defRPr>
            </a:pPr>
            <a:r>
              <a:rPr sz="2025" b="1">
                <a:solidFill>
                  <a:srgbClr val="C94C4C"/>
                </a:solidFill>
              </a:rPr>
              <a:t>Pseudo-absences are modelling choices, not confirmed places where the mosquito is absent.</a:t>
            </a:r>
          </a:p>
        </p:txBody>
      </p:sp>
    </p:spTree>
    <p:extLst>
      <p:ext uri="{BB962C8B-B14F-4D97-AF65-F5344CB8AC3E}">
        <p14:creationId xmlns:p14="http://schemas.microsoft.com/office/powerpoint/2010/main" val="12395422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3E572-EFC2-4219-B522-D7002290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4D0B7-920F-490D-AD90-7BC50A53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FE87B-2940-4D3C-BFD9-C45AD62D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Different algorithms ask different shapes of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93A68-146D-4BAC-9D61-E6329329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05642-96A7-433E-A5D4-7F4432B8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2BAAC-BC56-4F7E-8CE9-79F530A8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2857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ADCB7-7DC2-489B-9326-B1AC9DD1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621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02B"/>
                </a:solidFill>
              </a:defRPr>
            </a:pPr>
            <a:r>
              <a:rPr sz="2850" b="1">
                <a:solidFill>
                  <a:srgbClr val="16302B"/>
                </a:solidFill>
              </a:rPr>
              <a:t>GLM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84E8C-0B7E-4DFF-9754-5DBF26F3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2247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Fits a simple statistical relationship; transparent and interpretable.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FC4682-3C49-44C1-B2D8-E7AA0133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796F"/>
                </a:solidFill>
              </a:defRPr>
            </a:pPr>
            <a:r>
              <a:rPr sz="1350" b="1">
                <a:solidFill>
                  <a:srgbClr val="52796F"/>
                </a:solidFill>
              </a:rPr>
              <a:t>smooth trend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45F81-7082-4244-BC96-9C453A63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2857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442A1-CD8A-4684-878C-0C13FE03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621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02B"/>
                </a:solidFill>
              </a:defRPr>
            </a:pPr>
            <a:r>
              <a:rPr sz="2850" b="1">
                <a:solidFill>
                  <a:srgbClr val="16302B"/>
                </a:solidFill>
              </a:rPr>
              <a:t>GBM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B16974-56E4-4A5F-AE56-B2B1A8E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9850"/>
            <a:ext cx="2247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Builds many small trees in sequence; flexible, often predictive.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3337D2-5346-41A2-BDF3-4AF1F6F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796F"/>
                </a:solidFill>
              </a:defRPr>
            </a:pPr>
            <a:r>
              <a:rPr sz="1350" b="1">
                <a:solidFill>
                  <a:srgbClr val="52796F"/>
                </a:solidFill>
              </a:rPr>
              <a:t>boosted trees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6C411D-4F05-4D91-B43D-07CB81F2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57350"/>
            <a:ext cx="2857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95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0BECF2-31DD-4409-8D17-6478C237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621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02B"/>
                </a:solidFill>
              </a:defRPr>
            </a:pPr>
            <a:r>
              <a:rPr sz="2850" b="1">
                <a:solidFill>
                  <a:srgbClr val="16302B"/>
                </a:solidFill>
              </a:rPr>
              <a:t>RF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3BE07-B81F-4648-A352-95DC1255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2247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02B"/>
                </a:solidFill>
              </a:defRPr>
            </a:pPr>
            <a:r>
              <a:rPr sz="1575" b="0">
                <a:solidFill>
                  <a:srgbClr val="16302B"/>
                </a:solidFill>
              </a:rPr>
              <a:t>Builds many trees on random subsets; robust, less transparent.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17CD6-DB05-4F1A-8EB8-DB19CAD2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796F"/>
                </a:solidFill>
              </a:defRPr>
            </a:pPr>
            <a:r>
              <a:rPr sz="1350" b="1">
                <a:solidFill>
                  <a:srgbClr val="52796F"/>
                </a:solidFill>
              </a:rPr>
              <a:t>many trees vote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73F68-4461-4D62-9AA5-61194B31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244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96C2C"/>
                </a:solidFill>
              </a:defRPr>
            </a:pPr>
            <a:r>
              <a:rPr sz="2250" b="1">
                <a:solidFill>
                  <a:srgbClr val="D96C2C"/>
                </a:solidFill>
              </a:rPr>
              <a:t>This is why we run more than one model: disagreement is information.</a:t>
            </a:r>
          </a:p>
        </p:txBody>
      </p:sp>
    </p:spTree>
    <p:extLst>
      <p:ext uri="{BB962C8B-B14F-4D97-AF65-F5344CB8AC3E}">
        <p14:creationId xmlns:p14="http://schemas.microsoft.com/office/powerpoint/2010/main" val="21188939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3D8EF-148C-4A73-A6B8-246D8C5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31C5C-84C2-49C0-A1C2-6FAF8288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F5071-BC19-4B9E-84C9-7823B1D3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Evaluation asks whether predictions generalise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AEBA3-CF72-4796-AF1D-10044190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DB568-6B43-49E2-AE0D-864F20A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4583B-29FF-4CD1-9585-2EAD929E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2571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95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89B5B-D706-4A6C-BEEB-AEFE5B67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02B"/>
                </a:solidFill>
              </a:defRPr>
            </a:pPr>
            <a:r>
              <a:rPr sz="1800" b="1">
                <a:solidFill>
                  <a:srgbClr val="16302B"/>
                </a:solidFill>
              </a:rPr>
              <a:t>Calibration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25F79-E1B0-409A-817A-DC5BF08A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62150"/>
            <a:ext cx="2571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2B29B-ED64-4427-863D-66B2EC74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62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302B"/>
                </a:solidFill>
              </a:defRPr>
            </a:pPr>
            <a:r>
              <a:rPr sz="225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73B0B-2C37-4621-88C9-165E8887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62150"/>
            <a:ext cx="2571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5C1F0-F6D4-4E31-82B2-D8E36AC5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622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02B"/>
                </a:solidFill>
              </a:defRPr>
            </a:pPr>
            <a:r>
              <a:rPr sz="1800" b="1">
                <a:solidFill>
                  <a:srgbClr val="16302B"/>
                </a:solidFill>
              </a:rPr>
              <a:t>Validation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7EA00-AA56-42A2-97C1-88C619D6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62200"/>
            <a:ext cx="6667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EE443A-CD66-4547-9896-2F45009D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6667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53C7E-2710-432E-8DE3-413E51B4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957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94C4C"/>
                </a:solidFill>
              </a:defRPr>
            </a:pPr>
            <a:r>
              <a:rPr sz="2250" b="1">
                <a:solidFill>
                  <a:srgbClr val="C94C4C"/>
                </a:solidFill>
              </a:rPr>
              <a:t>TSS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1C85D-A0D1-45E1-9700-9A46D49D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24375"/>
            <a:ext cx="295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Balances sensitivity and specificity after choosing a threshold.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0A673-061F-4BAC-8F00-640FBB9B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957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94C4C"/>
                </a:solidFill>
              </a:defRPr>
            </a:pPr>
            <a:r>
              <a:rPr sz="2250" b="1">
                <a:solidFill>
                  <a:srgbClr val="C94C4C"/>
                </a:solidFill>
              </a:rPr>
              <a:t>AUCroc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74A27-C3C0-4453-8034-7911EBC9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24375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Measures ranking ability across possible thresholds.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5B5E5-1F05-45CA-8494-2F2016BB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007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2796F"/>
                </a:solidFill>
              </a:defRPr>
            </a:pPr>
            <a:r>
              <a:rPr sz="1800" b="1">
                <a:solidFill>
                  <a:srgbClr val="52796F"/>
                </a:solidFill>
              </a:rPr>
              <a:t>A high score does not remove the need to inspect the map.</a:t>
            </a:r>
          </a:p>
        </p:txBody>
      </p:sp>
    </p:spTree>
    <p:extLst>
      <p:ext uri="{BB962C8B-B14F-4D97-AF65-F5344CB8AC3E}">
        <p14:creationId xmlns:p14="http://schemas.microsoft.com/office/powerpoint/2010/main" val="14552319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348260-60E7-43FD-A18F-BD4CA9C0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E64D0-296B-487B-ADA3-8CBB9088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C3625-3DC4-4818-B933-DDC86572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Variable importance helps explain what the models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9754B-4593-4DA4-87D0-29FF66DA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0CF49C-C0A7-498B-B590-984764A8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0cdb52eb94de0"/>
          <a:stretch xmlns:a="http://schemas.openxmlformats.org/drawingml/2006/main"/>
        </p:blipFill>
        <p:spPr>
          <a:xfrm xmlns:a="http://schemas.openxmlformats.org/drawingml/2006/main">
            <a:off x="923925" y="1381125"/>
            <a:ext cx="6400800" cy="4000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4EE7C-48B9-4B34-BB49-FE52BA17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764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96C2C"/>
                </a:solidFill>
              </a:defRPr>
            </a:pPr>
            <a:r>
              <a:rPr sz="2100" b="1">
                <a:solidFill>
                  <a:srgbClr val="D96C2C"/>
                </a:solidFill>
              </a:rPr>
              <a:t>Interpret with 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E3113-C867-4004-B41B-7980DD2B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53E62-4DE0-4EA9-ABFD-0D36984E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Importance is model sensitivity, not biological proof.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F3DAE2-7F67-4E4E-8488-DFCCE4CE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146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1DA12-95A8-47EF-94D1-6CC92C55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4800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Different algorithms may rank predictors differently.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19977-F5EA-4638-A749-DDAD1B46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957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544C0E-338E-43BD-A723-996A0E54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29050"/>
            <a:ext cx="2876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Use it to start questions about ecology and sampling.</a:t>
            </a:r>
          </a:p>
        </p:txBody>
      </p:sp>
    </p:spTree>
    <p:extLst>
      <p:ext uri="{BB962C8B-B14F-4D97-AF65-F5344CB8AC3E}">
        <p14:creationId xmlns:p14="http://schemas.microsoft.com/office/powerpoint/2010/main" val="1362760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63824-E0DA-4998-8029-6791DD5B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029CB-ECAD-443F-AB7E-C3A360DD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CF6E3-DBAE-46EB-8E91-032023C8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Ensemble modelling keeps the model disagreement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DC98D-F82F-4B67-9C9A-313E3FBE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F09F3-70A4-4F9D-9DCC-BDC7AABE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EB4512-EBB7-43FA-8400-CF86DE96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2875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94C4C"/>
                </a:solidFill>
              </a:defRPr>
            </a:pPr>
            <a:r>
              <a:rPr sz="2250" b="1">
                <a:solidFill>
                  <a:srgbClr val="C94C4C"/>
                </a:solidFill>
              </a:rPr>
              <a:t>We do not need to choose only one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76388-3EEB-43AD-9974-092B42F0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02B88-FAFA-45E9-B88C-FA2D0BC5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76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02B"/>
                </a:solidFill>
              </a:defRPr>
            </a:pPr>
            <a:r>
              <a:rPr sz="1875" b="1">
                <a:solidFill>
                  <a:srgbClr val="16302B"/>
                </a:solidFill>
              </a:rPr>
              <a:t>GLM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98243-0F20-4194-A380-E4EF0C1B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7A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A64A68-A92D-45F5-91AE-DC2B1AD3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02B"/>
                </a:solidFill>
              </a:defRPr>
            </a:pPr>
            <a:r>
              <a:rPr sz="1875" b="1">
                <a:solidFill>
                  <a:srgbClr val="16302B"/>
                </a:solidFill>
              </a:rPr>
              <a:t>GBM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B144A-3652-4462-B609-7D54713D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C95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A0EED-2FCA-4A64-8A75-BD1C0E64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02B"/>
                </a:solidFill>
              </a:defRPr>
            </a:pPr>
            <a:r>
              <a:rPr sz="1875" b="1">
                <a:solidFill>
                  <a:srgbClr val="16302B"/>
                </a:solidFill>
              </a:rPr>
              <a:t>RF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60F555-56F6-43D6-A020-A23EB2B2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00425"/>
            <a:ext cx="904875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3EDA2E-47AC-4459-8A03-60A2D97B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43200"/>
            <a:ext cx="2476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AAC2AF-DD0E-44E2-AE0F-D4903E65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302B"/>
                </a:solidFill>
              </a:defRPr>
            </a:pPr>
            <a:r>
              <a:rPr sz="2250" b="1">
                <a:solidFill>
                  <a:srgbClr val="16302B"/>
                </a:solidFill>
              </a:rPr>
              <a:t>EMmean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ACE0AA-CDA3-4051-A8FD-3F1E28A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5242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simple mean prediction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9A363-9F0F-4AD7-BC11-1A03D6E4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1432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7C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C7CB0-B638-4382-827E-AF40F227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302B"/>
                </a:solidFill>
              </a:defRPr>
            </a:pPr>
            <a:r>
              <a:rPr sz="2250" b="1">
                <a:solidFill>
                  <a:srgbClr val="16302B"/>
                </a:solidFill>
              </a:rPr>
              <a:t>EMwmean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9A9BF-2D04-40BD-83B5-A62F57EE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242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6302B"/>
                </a:solidFill>
              </a:defRPr>
            </a:pPr>
            <a:r>
              <a:rPr sz="1500" b="0">
                <a:solidFill>
                  <a:srgbClr val="16302B"/>
                </a:solidFill>
              </a:rPr>
              <a:t>weighted mean using model performance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7D99F8-D398-460E-951A-BD3F9DBA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76875"/>
            <a:ext cx="866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2796F"/>
                </a:solidFill>
              </a:defRPr>
            </a:pPr>
            <a:r>
              <a:rPr sz="2025" b="1">
                <a:solidFill>
                  <a:srgbClr val="52796F"/>
                </a:solidFill>
              </a:rPr>
              <a:t>The ensemble is a summary of model behaviour, not a guarantee of truth.</a:t>
            </a:r>
          </a:p>
        </p:txBody>
      </p:sp>
    </p:spTree>
    <p:extLst>
      <p:ext uri="{BB962C8B-B14F-4D97-AF65-F5344CB8AC3E}">
        <p14:creationId xmlns:p14="http://schemas.microsoft.com/office/powerpoint/2010/main" val="14848117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503FD-9F31-4C88-AB37-F99321E1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59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8F9B06-81F2-4365-8F84-DCE20B30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00949-E27E-4726-B57D-BA5F5CF7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Projection turns fitted models into Brazil maps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1AE1C-F8A1-4460-8030-FF04F2DF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EA47-7D07-4AA0-8BC0-B48B1109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7dfb197344b94"/>
          <a:stretch xmlns:a="http://schemas.openxmlformats.org/drawingml/2006/main"/>
        </p:blipFill>
        <p:spPr>
          <a:xfrm xmlns:a="http://schemas.openxmlformats.org/drawingml/2006/main">
            <a:off x="821871" y="1390650"/>
            <a:ext cx="4680857" cy="40957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22bbac2d144bd"/>
          <a:stretch xmlns:a="http://schemas.openxmlformats.org/drawingml/2006/main"/>
        </p:blipFill>
        <p:spPr>
          <a:xfrm xmlns:a="http://schemas.openxmlformats.org/drawingml/2006/main">
            <a:off x="6498771" y="1390650"/>
            <a:ext cx="4680857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A98663-B125-4097-B8DE-F9AD383E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638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302B"/>
                </a:solidFill>
              </a:defRPr>
            </a:pPr>
            <a:r>
              <a:rPr sz="1575" b="1">
                <a:solidFill>
                  <a:srgbClr val="16302B"/>
                </a:solidFill>
              </a:rPr>
              <a:t>Individual models averaged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E0279F-653E-486C-9472-37DC3770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56388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302B"/>
                </a:solidFill>
              </a:defRPr>
            </a:pPr>
            <a:r>
              <a:rPr sz="1575" b="1">
                <a:solidFill>
                  <a:srgbClr val="16302B"/>
                </a:solidFill>
              </a:rPr>
              <a:t>Ensemble projection</a:t>
            </a:r>
          </a:p>
        </p:txBody>
      </p:sp>
    </p:spTree>
    <p:extLst>
      <p:ext uri="{BB962C8B-B14F-4D97-AF65-F5344CB8AC3E}">
        <p14:creationId xmlns:p14="http://schemas.microsoft.com/office/powerpoint/2010/main" val="1304527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46F33-09A9-487C-95FE-E2993DE2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D2E2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D4BF1-AE71-4146-A1D7-F008A702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6302B"/>
                </a:solidFill>
              </a:defRPr>
            </a:pPr>
            <a:r>
              <a:rPr sz="900" b="1">
                <a:solidFill>
                  <a:srgbClr val="16302B"/>
                </a:solidFill>
              </a:rPr>
              <a:t>WHY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C5A3A-667D-4921-AD4B-32CD185C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302B"/>
                </a:solidFill>
              </a:defRPr>
            </a:pPr>
            <a:r>
              <a:rPr sz="2700" b="1">
                <a:solidFill>
                  <a:srgbClr val="16302B"/>
                </a:solidFill>
              </a:rPr>
              <a:t>Read the map as a hypothesis to interrogate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CBBF3-F3DB-4F50-9A37-E10BE07A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A4337-CDC1-43D5-A40E-4B344F3E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9A95"/>
                </a:solidFill>
              </a:defRPr>
            </a:pPr>
            <a:r>
              <a:rPr sz="825" b="0">
                <a:solidFill>
                  <a:srgbClr val="8A9A95"/>
                </a:solidFill>
              </a:rPr>
              <a:t>Dengue vector SDM workshop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8bf66766a4fe5"/>
          <a:stretch xmlns:a="http://schemas.openxmlformats.org/drawingml/2006/main"/>
        </p:blipFill>
        <p:spPr>
          <a:xfrm xmlns:a="http://schemas.openxmlformats.org/drawingml/2006/main">
            <a:off x="742950" y="1470422"/>
            <a:ext cx="4476750" cy="391715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9ABADE-AEA9-482E-AC07-D573B82E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002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96C2C"/>
                </a:solidFill>
              </a:defRPr>
            </a:pPr>
            <a:r>
              <a:rPr sz="2250" b="1">
                <a:solidFill>
                  <a:srgbClr val="D96C2C"/>
                </a:solidFill>
              </a:rPr>
              <a:t>Ask before acting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DCE1A-80DE-496B-8B48-FA8A9F9A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574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45238-E7E5-41FD-9C45-4B234712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90750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Where is suitability high?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8ACD3-FBD7-4EAC-8C1E-572D3D02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5981A-0CB9-4797-B0BD-149249AD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43200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Where are occurrence records sparse?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89E6AE-2061-4922-BF85-DF48C17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623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881AD-BACE-47BB-A138-8C72A93E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95650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What could be climate signal?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E57AE-F0A7-4612-B464-7C6C0481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14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995BD-563F-4A8E-AFB8-E90253CA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48100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What could be sampling bias?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3EFC5-B1ED-4D1E-AF1D-A133FCC6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672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55DD9-8D06-4934-9EF9-1FC74C03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00550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02B"/>
                </a:solidFill>
              </a:defRPr>
            </a:pPr>
            <a:r>
              <a:rPr sz="1650" b="0">
                <a:solidFill>
                  <a:srgbClr val="16302B"/>
                </a:solidFill>
              </a:rPr>
              <a:t>What dengue data would change the interpretation?</a:t>
            </a:r>
          </a:p>
        </p:txBody>
      </p:sp>
    </p:spTree>
    <p:extLst>
      <p:ext uri="{BB962C8B-B14F-4D97-AF65-F5344CB8AC3E}">
        <p14:creationId xmlns:p14="http://schemas.microsoft.com/office/powerpoint/2010/main" val="16709733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3B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B5B22-A534-45E3-A23A-4D1791BB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144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Your job today is not to become an SDM expert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C3794-A69C-4B5C-B482-72629C33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7E7E1"/>
                </a:solidFill>
              </a:defRPr>
            </a:pPr>
            <a:r>
              <a:rPr sz="1875" b="0">
                <a:solidFill>
                  <a:srgbClr val="D7E7E1"/>
                </a:solidFill>
              </a:rPr>
              <a:t>It is to leave with a working R script, a reusable modelling workflow, and sharper questions for infectious disease applications.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1CFC8-594B-4EA2-A83C-FEB72875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76600"/>
            <a:ext cx="219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94D2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F1FF84-6489-4166-B888-D36800A5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Run the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C8688-A8C3-4E10-BD76-D5AFD35E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76600"/>
            <a:ext cx="219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8E7A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12EBB-444E-49F6-821E-70DB6A2A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9090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Inspect choices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E2EB2-FDB5-493A-9631-69DC0ADD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21907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4C7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2F9BD-6727-484F-A8C4-BE4A475A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90900"/>
            <a:ext cx="1962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302B"/>
                </a:solidFill>
              </a:defRPr>
            </a:pPr>
            <a:r>
              <a:rPr sz="1200" b="1">
                <a:solidFill>
                  <a:srgbClr val="16302B"/>
                </a:solidFill>
              </a:rPr>
              <a:t>Question maps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2A84E-E30C-4333-A1A2-ED98ADCD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0540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9C74F"/>
                </a:solidFill>
              </a:defRPr>
            </a:pPr>
            <a:r>
              <a:rPr sz="2700" b="1">
                <a:solidFill>
                  <a:srgbClr val="F9C74F"/>
                </a:solidFill>
              </a:rPr>
              <a:t>Now let us build the model line by line.</a:t>
            </a:r>
          </a:p>
        </p:txBody>
      </p:sp>
    </p:spTree>
    <p:extLst>
      <p:ext uri="{BB962C8B-B14F-4D97-AF65-F5344CB8AC3E}">
        <p14:creationId xmlns:p14="http://schemas.microsoft.com/office/powerpoint/2010/main" val="785171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2026-07-27T12:23:18.3700000Z</dcterms:created>
  <dcterms:modified xsi:type="dcterms:W3CDTF">2026-07-27T12:23:18.3700000Z</dcterms:modified>
</coreProperties>
</file>